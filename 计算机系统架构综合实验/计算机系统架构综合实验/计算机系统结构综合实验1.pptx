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409" r:id="rId3"/>
    <p:sldId id="512" r:id="rId4"/>
    <p:sldId id="410" r:id="rId5"/>
    <p:sldId id="460" r:id="rId6"/>
    <p:sldId id="461" r:id="rId7"/>
    <p:sldId id="564" r:id="rId8"/>
    <p:sldId id="462" r:id="rId9"/>
    <p:sldId id="471" r:id="rId10"/>
    <p:sldId id="499" r:id="rId11"/>
    <p:sldId id="500" r:id="rId12"/>
    <p:sldId id="502" r:id="rId13"/>
    <p:sldId id="501" r:id="rId14"/>
    <p:sldId id="614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582"/>
      </p:cViewPr>
      <p:guideLst>
        <p:guide orient="horz" pos="2245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1.png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15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3.xml"/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36.xml"/><Relationship Id="rId6" Type="http://schemas.openxmlformats.org/officeDocument/2006/relationships/tags" Target="../tags/tag35.xml"/><Relationship Id="rId5" Type="http://schemas.openxmlformats.org/officeDocument/2006/relationships/tags" Target="../tags/tag34.xml"/><Relationship Id="rId4" Type="http://schemas.openxmlformats.org/officeDocument/2006/relationships/tags" Target="../tags/tag33.xml"/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0.xml"/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marR="0" lvl="1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914400" marR="0" lvl="2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371600" marR="0" lvl="3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828800" marR="0" lvl="4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975340" y="88900"/>
            <a:ext cx="1043940" cy="1010285"/>
          </a:xfrm>
          <a:prstGeom prst="rect">
            <a:avLst/>
          </a:prstGeom>
        </p:spPr>
      </p:pic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>
              <a:lnSpc>
                <a:spcPct val="130000"/>
              </a:lnSpc>
              <a:buFont typeface="Wingdings" panose="05000000000000000000" pitchFamily="2" charset="2"/>
              <a:buChar char="l"/>
              <a:defRPr sz="1600" spc="15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>
              <a:lnSpc>
                <a:spcPct val="130000"/>
              </a:lnSpc>
              <a:buFont typeface="Wingdings" panose="05000000000000000000" pitchFamily="2" charset="2"/>
              <a:buChar char="l"/>
              <a:defRPr sz="1600" spc="15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30000"/>
              </a:lnSpc>
              <a:buFont typeface="Wingdings" panose="05000000000000000000" pitchFamily="2" charset="2"/>
              <a:buChar char="l"/>
              <a:defRPr sz="1600" spc="15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30000"/>
              </a:lnSpc>
              <a:buFont typeface="Wingdings" panose="05000000000000000000" pitchFamily="2" charset="2"/>
              <a:buChar char="l"/>
              <a:defRPr sz="1600" spc="15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lnSpc>
                <a:spcPct val="13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1264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单击此处编辑文本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6858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11430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16002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20574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tags" Target="../tags/tag54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/>
            </a:gs>
            <a:gs pos="100000">
              <a:schemeClr val="bg2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648000"/>
          </a:xfrm>
          <a:prstGeom prst="rect">
            <a:avLst/>
          </a:prstGeom>
        </p:spPr>
        <p:txBody>
          <a:bodyPr vert="horz" lIns="101600" tIns="38100" rIns="76200" bIns="3810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515600"/>
            <a:ext cx="10969200" cy="473688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KSO_TEMPLATE" hidden="1"/>
          <p:cNvSpPr/>
          <p:nvPr>
            <p:custDataLst>
              <p:tags r:id="rId15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0.xml"/><Relationship Id="rId3" Type="http://schemas.openxmlformats.org/officeDocument/2006/relationships/image" Target="../media/image2.png"/><Relationship Id="rId2" Type="http://schemas.openxmlformats.org/officeDocument/2006/relationships/tags" Target="../tags/tag59.xml"/><Relationship Id="rId1" Type="http://schemas.openxmlformats.org/officeDocument/2006/relationships/tags" Target="../tags/tag5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62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tags" Target="../tags/tag6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247650"/>
            <a:ext cx="9799200" cy="2570400"/>
          </a:xfrm>
        </p:spPr>
        <p:txBody>
          <a:bodyPr/>
          <a:p>
            <a:r>
              <a:rPr lang="zh-CN" altLang="zh-CN"/>
              <a:t>计算机系统结构综合实验</a:t>
            </a:r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4074750"/>
            <a:ext cx="9799200" cy="1472400"/>
          </a:xfrm>
        </p:spPr>
        <p:txBody>
          <a:bodyPr/>
          <a:p>
            <a:r>
              <a:rPr lang="zh-CN" altLang="en-US" sz="3200"/>
              <a:t>国家级计算机实验教学示范中心</a:t>
            </a:r>
            <a:endParaRPr lang="zh-CN" altLang="en-US" sz="3200"/>
          </a:p>
          <a:p>
            <a:endParaRPr lang="zh-CN" altLang="en-US" sz="320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6340" y="929640"/>
            <a:ext cx="9799320" cy="1189990"/>
          </a:xfrm>
        </p:spPr>
        <p:txBody>
          <a:bodyPr>
            <a:normAutofit/>
          </a:bodyPr>
          <a:p>
            <a:r>
              <a:rPr lang="zh-CN" altLang="en-US"/>
              <a:t>实验须知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918845" y="1706245"/>
            <a:ext cx="10581640" cy="4547870"/>
          </a:xfrm>
        </p:spPr>
        <p:txBody>
          <a:bodyPr>
            <a:noAutofit/>
          </a:bodyPr>
          <a:p>
            <a:pPr algn="l"/>
            <a:endParaRPr lang="en-US" altLang="zh-CN" sz="3600" b="1">
              <a:solidFill>
                <a:srgbClr val="7030A0"/>
              </a:solidFill>
            </a:endParaRPr>
          </a:p>
          <a:p>
            <a:pPr algn="l"/>
            <a:r>
              <a:rPr lang="en-US" altLang="zh-CN" sz="3600" b="1">
                <a:solidFill>
                  <a:srgbClr val="7030A0"/>
                </a:solidFill>
              </a:rPr>
              <a:t>1</a:t>
            </a:r>
            <a:r>
              <a:rPr lang="zh-CN" altLang="en-US" sz="3600" b="1">
                <a:solidFill>
                  <a:srgbClr val="7030A0"/>
                </a:solidFill>
              </a:rPr>
              <a:t>、课件下载地址为</a:t>
            </a:r>
            <a:r>
              <a:rPr lang="en-US" altLang="zh-CN" sz="3600" b="1">
                <a:solidFill>
                  <a:srgbClr val="FF0000"/>
                </a:solidFill>
              </a:rPr>
              <a:t>http://192.168.101.127</a:t>
            </a:r>
            <a:endParaRPr lang="zh-CN" altLang="en-US" sz="3600" b="1">
              <a:solidFill>
                <a:srgbClr val="7030A0"/>
              </a:solidFill>
            </a:endParaRPr>
          </a:p>
          <a:p>
            <a:pPr algn="l"/>
            <a:r>
              <a:rPr lang="en-US" altLang="zh-CN" sz="3600" b="1">
                <a:solidFill>
                  <a:srgbClr val="7030A0"/>
                </a:solidFill>
              </a:rPr>
              <a:t>2</a:t>
            </a:r>
            <a:r>
              <a:rPr lang="zh-CN" altLang="en-US" sz="3600" b="1">
                <a:solidFill>
                  <a:srgbClr val="7030A0"/>
                </a:solidFill>
              </a:rPr>
              <a:t>、本次课程</a:t>
            </a:r>
            <a:r>
              <a:rPr lang="en-US" altLang="zh-CN" sz="3600" b="1">
                <a:solidFill>
                  <a:srgbClr val="7030A0"/>
                </a:solidFill>
              </a:rPr>
              <a:t>QQ</a:t>
            </a:r>
            <a:r>
              <a:rPr lang="zh-CN" altLang="en-US" sz="3600" b="1">
                <a:solidFill>
                  <a:srgbClr val="7030A0"/>
                </a:solidFill>
              </a:rPr>
              <a:t>群为</a:t>
            </a:r>
            <a:r>
              <a:rPr lang="en-US" altLang="zh-CN" sz="3600" b="1">
                <a:solidFill>
                  <a:srgbClr val="FF0000"/>
                </a:solidFill>
              </a:rPr>
              <a:t>1039824030</a:t>
            </a:r>
            <a:endParaRPr lang="en-US" altLang="zh-CN" sz="3600" b="1">
              <a:solidFill>
                <a:srgbClr val="FF0000"/>
              </a:solidFill>
            </a:endParaRPr>
          </a:p>
          <a:p>
            <a:pPr algn="l"/>
            <a:r>
              <a:rPr lang="zh-CN" altLang="en-US" sz="3600" b="1">
                <a:solidFill>
                  <a:srgbClr val="FF0000"/>
                </a:solidFill>
              </a:rPr>
              <a:t>请同学们修改群名片：学号</a:t>
            </a:r>
            <a:r>
              <a:rPr lang="en-US" altLang="zh-CN" sz="3600" b="1">
                <a:solidFill>
                  <a:srgbClr val="FF0000"/>
                </a:solidFill>
              </a:rPr>
              <a:t>_</a:t>
            </a:r>
            <a:r>
              <a:rPr lang="zh-CN" altLang="en-US" sz="3600" b="1">
                <a:solidFill>
                  <a:srgbClr val="FF0000"/>
                </a:solidFill>
              </a:rPr>
              <a:t>姓名</a:t>
            </a:r>
            <a:endParaRPr lang="en-US" altLang="zh-CN" sz="3600" b="1">
              <a:solidFill>
                <a:srgbClr val="7030A0"/>
              </a:solidFill>
            </a:endParaRPr>
          </a:p>
          <a:p>
            <a:pPr algn="l"/>
            <a:r>
              <a:rPr lang="en-US" altLang="zh-CN" sz="3600" b="1">
                <a:solidFill>
                  <a:srgbClr val="7030A0"/>
                </a:solidFill>
              </a:rPr>
              <a:t>3</a:t>
            </a:r>
            <a:r>
              <a:rPr lang="zh-CN" altLang="en-US" sz="3600" b="1">
                <a:solidFill>
                  <a:srgbClr val="7030A0"/>
                </a:solidFill>
              </a:rPr>
              <a:t>、请大家及时完成每次的实验报告</a:t>
            </a:r>
            <a:endParaRPr lang="zh-CN" altLang="en-US" sz="3600" b="1">
              <a:solidFill>
                <a:srgbClr val="7030A0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815" y="3260090"/>
            <a:ext cx="2362200" cy="234315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255975"/>
            <a:ext cx="10969200" cy="705600"/>
          </a:xfrm>
        </p:spPr>
        <p:txBody>
          <a:bodyPr/>
          <a:p>
            <a:r>
              <a:rPr lang="zh-CN" altLang="en-US"/>
              <a:t>实验一 单周期</a:t>
            </a:r>
            <a:r>
              <a:t>CPU代码分析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1112520"/>
            <a:ext cx="10968990" cy="4617720"/>
          </a:xfrm>
        </p:spPr>
        <p:txBody>
          <a:bodyPr>
            <a:noAutofit/>
          </a:bodyPr>
          <a:p>
            <a:r>
              <a:rPr lang="zh-CN" altLang="en-US" sz="2000" b="1">
                <a:solidFill>
                  <a:srgbClr val="FF0000"/>
                </a:solidFill>
              </a:rPr>
              <a:t>实验内容：</a:t>
            </a:r>
            <a:endParaRPr lang="zh-CN" altLang="en-US" sz="2000" b="1">
              <a:solidFill>
                <a:srgbClr val="FF0000"/>
              </a:solidFill>
            </a:endParaRPr>
          </a:p>
          <a:p>
            <a:r>
              <a:rPr sz="2000" b="1"/>
              <a:t>1. 认真阅读并分析所给的单周期CPU代码，掌握单周期CPU电路结构中各模块的工作原理；</a:t>
            </a:r>
            <a:endParaRPr sz="2000" b="1"/>
          </a:p>
          <a:p>
            <a:r>
              <a:rPr lang="en-US" altLang="zh-CN" sz="2000" b="1"/>
              <a:t>2. </a:t>
            </a:r>
            <a:r>
              <a:rPr sz="2000" b="1"/>
              <a:t>对单周期CPU中两个模块进行仿真：1）IF_STAGE（取指阶段）2）Control_Unit（控制单元），分析并理解仿真结果，验证模块逻辑功能；</a:t>
            </a:r>
            <a:endParaRPr sz="2000" b="1"/>
          </a:p>
          <a:p>
            <a:r>
              <a:rPr lang="en-US" altLang="zh-CN" sz="2000" b="1"/>
              <a:t>3</a:t>
            </a:r>
            <a:r>
              <a:rPr sz="2000" b="1"/>
              <a:t>. </a:t>
            </a:r>
            <a:r>
              <a:rPr sz="2000" b="1">
                <a:solidFill>
                  <a:srgbClr val="002060"/>
                </a:solidFill>
              </a:rPr>
              <a:t>自行设计一个指令序列</a:t>
            </a:r>
            <a:r>
              <a:rPr sz="2000" b="1"/>
              <a:t>（要求</a:t>
            </a:r>
            <a:r>
              <a:rPr sz="2000" b="1">
                <a:solidFill>
                  <a:srgbClr val="002060"/>
                </a:solidFill>
              </a:rPr>
              <a:t>涵盖CPU指令集中所有类型的指令</a:t>
            </a:r>
            <a:r>
              <a:rPr sz="2000" b="1"/>
              <a:t>，每类指令至少一条）。将指令序列写入指令存储器inst_mem中，使用该指令序列对SCCPU（单周期CPU完整电路模块）进行仿真（重点分析时序逻辑电路模块），分析理解仿真结果，掌握单周期CPU的工作原理。</a:t>
            </a:r>
            <a:endParaRPr sz="2000" b="1"/>
          </a:p>
          <a:p>
            <a:r>
              <a:rPr sz="2000" b="1">
                <a:solidFill>
                  <a:srgbClr val="FF0000"/>
                </a:solidFill>
              </a:rPr>
              <a:t>实验目的：</a:t>
            </a:r>
            <a:endParaRPr sz="2000" b="1">
              <a:solidFill>
                <a:srgbClr val="FF0000"/>
              </a:solidFill>
            </a:endParaRPr>
          </a:p>
          <a:p>
            <a:r>
              <a:rPr lang="en-US" altLang="zh-CN" sz="2000" b="1"/>
              <a:t>1. </a:t>
            </a:r>
            <a:r>
              <a:rPr sz="2000" b="1"/>
              <a:t>掌握单周期</a:t>
            </a:r>
            <a:r>
              <a:rPr lang="en-US" altLang="zh-CN" sz="2000" b="1"/>
              <a:t>CPU</a:t>
            </a:r>
            <a:r>
              <a:rPr sz="2000" b="1"/>
              <a:t>的特点；</a:t>
            </a:r>
            <a:endParaRPr sz="2000" b="1"/>
          </a:p>
          <a:p>
            <a:r>
              <a:rPr lang="en-US" altLang="zh-CN" sz="2000" b="1"/>
              <a:t>2. </a:t>
            </a:r>
            <a:r>
              <a:rPr sz="2000" b="1"/>
              <a:t>熟悉</a:t>
            </a:r>
            <a:r>
              <a:rPr lang="en-US" altLang="zh-CN" sz="2000" b="1"/>
              <a:t>Verilog HDL</a:t>
            </a:r>
            <a:r>
              <a:rPr sz="2000" b="1"/>
              <a:t>硬件设计语言；</a:t>
            </a:r>
            <a:endParaRPr sz="2000" b="1"/>
          </a:p>
          <a:p>
            <a:r>
              <a:rPr lang="en-US" altLang="zh-CN" sz="2000" b="1"/>
              <a:t>3. </a:t>
            </a:r>
            <a:r>
              <a:rPr sz="2000" b="1"/>
              <a:t>熟悉Xilinx ISE Design Suite 14.7集成开发环境。</a:t>
            </a:r>
            <a:endParaRPr sz="2000" b="1"/>
          </a:p>
          <a:p>
            <a:endParaRPr sz="2000" b="1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255975"/>
            <a:ext cx="10969200" cy="705600"/>
          </a:xfrm>
        </p:spPr>
        <p:txBody>
          <a:bodyPr/>
          <a:p>
            <a:r>
              <a:t>必备前驱知识一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080825"/>
            <a:ext cx="10969200" cy="4759200"/>
          </a:xfrm>
        </p:spPr>
        <p:txBody>
          <a:bodyPr/>
          <a:p>
            <a:r>
              <a:rPr lang="zh-CN" altLang="en-US" sz="2400" b="1">
                <a:solidFill>
                  <a:srgbClr val="FF0000"/>
                </a:solidFill>
              </a:rPr>
              <a:t>单周期</a:t>
            </a:r>
            <a:r>
              <a:rPr lang="en-US" altLang="zh-CN" sz="2400" b="1">
                <a:solidFill>
                  <a:srgbClr val="FF0000"/>
                </a:solidFill>
              </a:rPr>
              <a:t>CPU</a:t>
            </a:r>
            <a:r>
              <a:rPr sz="2400" b="1"/>
              <a:t>是</a:t>
            </a:r>
            <a:r>
              <a:rPr lang="zh-CN" altLang="en-US" sz="2400" b="1"/>
              <a:t>在一条指令的所有操作全部完成后，才开始下一条指令的执行；</a:t>
            </a:r>
            <a:endParaRPr lang="zh-CN" altLang="en-US" sz="2400" b="1"/>
          </a:p>
          <a:p>
            <a:r>
              <a:rPr sz="2400" b="1">
                <a:solidFill>
                  <a:srgbClr val="0070C0"/>
                </a:solidFill>
              </a:rPr>
              <a:t>执行一条指令需要的硬件部件：</a:t>
            </a:r>
            <a:endParaRPr sz="2400" b="1">
              <a:solidFill>
                <a:srgbClr val="0070C0"/>
              </a:solidFill>
            </a:endParaRPr>
          </a:p>
          <a:p>
            <a:r>
              <a:rPr lang="en-US" altLang="zh-CN" sz="2400" b="1"/>
              <a:t>1. </a:t>
            </a:r>
            <a:r>
              <a:rPr sz="2400" b="1"/>
              <a:t>与取指令有关的电路：指令存储器、程序计数器</a:t>
            </a:r>
            <a:r>
              <a:rPr lang="en-US" altLang="zh-CN" sz="2400" b="1"/>
              <a:t>PC</a:t>
            </a:r>
            <a:r>
              <a:rPr sz="2400" b="1"/>
              <a:t>、修改</a:t>
            </a:r>
            <a:r>
              <a:rPr lang="en-US" altLang="zh-CN" sz="2400" b="1"/>
              <a:t>PC</a:t>
            </a:r>
            <a:r>
              <a:rPr sz="2400" b="1"/>
              <a:t>值的加法器、选择不同</a:t>
            </a:r>
            <a:r>
              <a:rPr lang="en-US" altLang="zh-CN" sz="2400" b="1"/>
              <a:t>PC</a:t>
            </a:r>
            <a:r>
              <a:rPr sz="2400" b="1"/>
              <a:t>值的多路选择器。。。</a:t>
            </a:r>
            <a:endParaRPr sz="2400" b="1"/>
          </a:p>
          <a:p>
            <a:endParaRPr lang="en-US" altLang="zh-CN" sz="2400" b="1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855" y="3531235"/>
            <a:ext cx="954405" cy="203327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085" y="3740785"/>
            <a:ext cx="2326005" cy="13239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3380" y="3397885"/>
            <a:ext cx="1840230" cy="257683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rcRect r="7692"/>
          <a:stretch>
            <a:fillRect/>
          </a:stretch>
        </p:blipFill>
        <p:spPr>
          <a:xfrm>
            <a:off x="8250555" y="3397885"/>
            <a:ext cx="1039495" cy="303339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617220"/>
            <a:ext cx="10968990" cy="5656580"/>
          </a:xfrm>
        </p:spPr>
        <p:txBody>
          <a:bodyPr/>
          <a:p>
            <a:r>
              <a:rPr lang="en-US" altLang="zh-CN" sz="2400" b="1"/>
              <a:t>2. </a:t>
            </a:r>
            <a:r>
              <a:rPr sz="2400" b="1"/>
              <a:t>与数据处理有关的电路：</a:t>
            </a:r>
            <a:endParaRPr sz="2400" b="1"/>
          </a:p>
          <a:p>
            <a:r>
              <a:rPr lang="en-US" altLang="zh-CN" sz="2400" b="1"/>
              <a:t>1. </a:t>
            </a:r>
            <a:r>
              <a:rPr sz="2400" b="1"/>
              <a:t>算术逻辑运算部件：</a:t>
            </a:r>
            <a:r>
              <a:rPr lang="en-US" altLang="zh-CN" sz="2400" b="1"/>
              <a:t>ALU	4. 与处理方式有关：多路选择器</a:t>
            </a:r>
            <a:endParaRPr lang="en-US" altLang="zh-CN" sz="2400" b="1"/>
          </a:p>
          <a:p>
            <a:r>
              <a:rPr lang="en-US" altLang="zh-CN" sz="2400" b="1"/>
              <a:t>2. </a:t>
            </a:r>
            <a:r>
              <a:rPr sz="2400" b="1"/>
              <a:t>与寄存器有关：寄存器堆</a:t>
            </a:r>
            <a:r>
              <a:rPr lang="en-US" altLang="zh-CN" sz="2400" b="1"/>
              <a:t>	5. 与立即数处理有关：数据扩展器、移位器等</a:t>
            </a:r>
            <a:endParaRPr lang="en-US" altLang="zh-CN" sz="2400" b="1"/>
          </a:p>
          <a:p>
            <a:r>
              <a:rPr lang="en-US" altLang="zh-CN" sz="2400" b="1"/>
              <a:t>3. </a:t>
            </a:r>
            <a:r>
              <a:rPr sz="2400" b="1"/>
              <a:t>与存储器有关：数据存储器</a:t>
            </a:r>
            <a:endParaRPr sz="2400" b="1"/>
          </a:p>
          <a:p>
            <a:endParaRPr sz="2400" b="1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315" y="3714115"/>
            <a:ext cx="1571625" cy="23812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290" y="3314065"/>
            <a:ext cx="1181100" cy="318135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5590" y="3656965"/>
            <a:ext cx="2115820" cy="26454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9230" y="4142105"/>
            <a:ext cx="1012190" cy="152463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5320" y="3506470"/>
            <a:ext cx="1594485" cy="104902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9265" y="5138420"/>
            <a:ext cx="1967230" cy="868045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 bwMode="auto">
          <a:xfrm>
            <a:off x="2654300" y="5464175"/>
            <a:ext cx="1163320" cy="883920"/>
          </a:xfrm>
          <a:prstGeom prst="roundRect">
            <a:avLst/>
          </a:prstGeom>
          <a:solidFill>
            <a:srgbClr val="FFFFFF">
              <a:lumMod val="75000"/>
            </a:srgbClr>
          </a:solidFill>
          <a:ln w="38100" cap="sq" cmpd="sng" algn="ctr">
            <a:solidFill>
              <a:srgbClr val="00FFFF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wrap="none"/>
          <a:lstStyle/>
          <a:p>
            <a:pPr marL="0" marR="0" lvl="0" indent="0" algn="ctr" defTabSz="914400" rtl="0" eaLnBrk="1" fontAlgn="base" latinLnBrk="0" hangingPunct="1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charset="-122"/>
                <a:ea typeface="黑体" panose="02010609060101010101" charset="-122"/>
                <a:cs typeface="+mn-ea"/>
              </a:rPr>
              <a:t>控制</a:t>
            </a:r>
            <a:endParaRPr kumimoji="1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charset="-122"/>
              <a:ea typeface="黑体" panose="02010609060101010101" charset="-122"/>
              <a:cs typeface="+mn-ea"/>
            </a:endParaRPr>
          </a:p>
          <a:p>
            <a:pPr marL="0" marR="0" lvl="0" indent="0" algn="ctr" defTabSz="914400" rtl="0" eaLnBrk="1" fontAlgn="base" latinLnBrk="0" hangingPunct="1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charset="-122"/>
                <a:ea typeface="黑体" panose="02010609060101010101" charset="-122"/>
                <a:cs typeface="+mn-ea"/>
              </a:rPr>
              <a:t>系统</a:t>
            </a:r>
            <a:endParaRPr kumimoji="1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charset="-122"/>
              <a:ea typeface="黑体" panose="02010609060101010101" charset="-122"/>
              <a:cs typeface="+mn-ea"/>
            </a:endParaRPr>
          </a:p>
        </p:txBody>
      </p:sp>
      <p:grpSp>
        <p:nvGrpSpPr>
          <p:cNvPr id="5" name="组合 229"/>
          <p:cNvGrpSpPr/>
          <p:nvPr/>
        </p:nvGrpSpPr>
        <p:grpSpPr>
          <a:xfrm rot="0">
            <a:off x="3843655" y="5282565"/>
            <a:ext cx="1137920" cy="368300"/>
            <a:chOff x="2169554" y="5337072"/>
            <a:chExt cx="1188000" cy="386987"/>
          </a:xfrm>
        </p:grpSpPr>
        <p:sp>
          <p:nvSpPr>
            <p:cNvPr id="22" name="TextBox 176"/>
            <p:cNvSpPr txBox="1">
              <a:spLocks noChangeArrowheads="1"/>
            </p:cNvSpPr>
            <p:nvPr/>
          </p:nvSpPr>
          <p:spPr bwMode="auto">
            <a:xfrm>
              <a:off x="2452260" y="5337072"/>
              <a:ext cx="890999" cy="386987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marR="0" defTabSz="914400">
                <a:buClrTx/>
                <a:buSzTx/>
                <a:buFontTx/>
                <a:defRPr/>
              </a:pPr>
              <a:r>
                <a:rPr kumimoji="1" lang="en-US" altLang="zh-CN" sz="1800" b="1" kern="1200" cap="none" spc="0" normalizeH="0" baseline="0" noProof="0" dirty="0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op[5:0]</a:t>
              </a:r>
              <a:endParaRPr kumimoji="1" lang="en-US" altLang="zh-CN" sz="1800" b="1" kern="1200" cap="none" spc="0" normalizeH="0" baseline="0" noProof="0" dirty="0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+mn-ea"/>
              </a:endParaRPr>
            </a:p>
          </p:txBody>
        </p:sp>
        <p:cxnSp>
          <p:nvCxnSpPr>
            <p:cNvPr id="29875" name="直接箭头连接符 186"/>
            <p:cNvCxnSpPr/>
            <p:nvPr/>
          </p:nvCxnSpPr>
          <p:spPr>
            <a:xfrm rot="10800000">
              <a:off x="2169554" y="5713428"/>
              <a:ext cx="1188000" cy="1588"/>
            </a:xfrm>
            <a:prstGeom prst="straightConnector1">
              <a:avLst/>
            </a:prstGeom>
            <a:ln>
              <a:headEnd type="oval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组合 231"/>
          <p:cNvGrpSpPr/>
          <p:nvPr/>
        </p:nvGrpSpPr>
        <p:grpSpPr>
          <a:xfrm rot="0">
            <a:off x="2898775" y="4987925"/>
            <a:ext cx="715010" cy="462280"/>
            <a:chOff x="1184434" y="4929198"/>
            <a:chExt cx="745948" cy="485076"/>
          </a:xfrm>
        </p:grpSpPr>
        <p:cxnSp>
          <p:nvCxnSpPr>
            <p:cNvPr id="29871" name="直接箭头连接符 187"/>
            <p:cNvCxnSpPr/>
            <p:nvPr/>
          </p:nvCxnSpPr>
          <p:spPr>
            <a:xfrm rot="-5400000">
              <a:off x="1041228" y="5269480"/>
              <a:ext cx="288000" cy="1588"/>
            </a:xfrm>
            <a:prstGeom prst="straightConnector1">
              <a:avLst/>
            </a:prstGeom>
            <a:ln>
              <a:headEnd type="none" w="sm" len="sm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872" name="直接箭头连接符 188"/>
            <p:cNvCxnSpPr/>
            <p:nvPr/>
          </p:nvCxnSpPr>
          <p:spPr>
            <a:xfrm rot="-5400000">
              <a:off x="1785588" y="5269480"/>
              <a:ext cx="288000" cy="1588"/>
            </a:xfrm>
            <a:prstGeom prst="straightConnector1">
              <a:avLst/>
            </a:prstGeom>
            <a:ln>
              <a:headEnd type="none" w="sm" len="sm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873" name="TextBox 189"/>
            <p:cNvSpPr txBox="1"/>
            <p:nvPr/>
          </p:nvSpPr>
          <p:spPr>
            <a:xfrm>
              <a:off x="1349923" y="4929198"/>
              <a:ext cx="492443" cy="48307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…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组合 230"/>
          <p:cNvGrpSpPr/>
          <p:nvPr/>
        </p:nvGrpSpPr>
        <p:grpSpPr>
          <a:xfrm rot="0">
            <a:off x="1752600" y="5558155"/>
            <a:ext cx="910590" cy="460375"/>
            <a:chOff x="-12165" y="5384400"/>
            <a:chExt cx="951116" cy="484936"/>
          </a:xfrm>
        </p:grpSpPr>
        <p:cxnSp>
          <p:nvCxnSpPr>
            <p:cNvPr id="29869" name="直接箭头连接符 175"/>
            <p:cNvCxnSpPr/>
            <p:nvPr/>
          </p:nvCxnSpPr>
          <p:spPr>
            <a:xfrm>
              <a:off x="214376" y="5827908"/>
              <a:ext cx="720640" cy="1588"/>
            </a:xfrm>
            <a:prstGeom prst="straightConnector1">
              <a:avLst/>
            </a:prstGeom>
            <a:ln w="28575" cap="sq" cmpd="sng">
              <a:solidFill>
                <a:srgbClr val="000000"/>
              </a:solidFill>
              <a:prstDash val="solid"/>
              <a:headEnd type="none" w="sm" len="sm"/>
              <a:tailEnd type="arrow" w="med" len="med"/>
            </a:ln>
          </p:spPr>
        </p:cxnSp>
        <p:sp>
          <p:nvSpPr>
            <p:cNvPr id="29870" name="TextBox 190"/>
            <p:cNvSpPr txBox="1"/>
            <p:nvPr/>
          </p:nvSpPr>
          <p:spPr>
            <a:xfrm>
              <a:off x="-12165" y="5384400"/>
              <a:ext cx="951116" cy="4849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clk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93" name="TextBox 192"/>
          <p:cNvSpPr txBox="1"/>
          <p:nvPr/>
        </p:nvSpPr>
        <p:spPr>
          <a:xfrm>
            <a:off x="2663190" y="4761865"/>
            <a:ext cx="119697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zh-CN" altLang="en-US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黑体" panose="02010609060101010101" charset="-122"/>
                <a:cs typeface="+mn-ea"/>
              </a:rPr>
              <a:t>控制信号</a:t>
            </a:r>
            <a:endParaRPr kumimoji="1" lang="zh-CN" altLang="en-US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黑体" panose="02010609060101010101" charset="-122"/>
              <a:cs typeface="+mn-ea"/>
            </a:endParaRPr>
          </a:p>
        </p:txBody>
      </p:sp>
      <p:grpSp>
        <p:nvGrpSpPr>
          <p:cNvPr id="20" name="组合 228"/>
          <p:cNvGrpSpPr/>
          <p:nvPr/>
        </p:nvGrpSpPr>
        <p:grpSpPr>
          <a:xfrm rot="0">
            <a:off x="3843655" y="6101715"/>
            <a:ext cx="1463040" cy="394335"/>
            <a:chOff x="2169554" y="5955652"/>
            <a:chExt cx="1527429" cy="414338"/>
          </a:xfrm>
        </p:grpSpPr>
        <p:cxnSp>
          <p:nvCxnSpPr>
            <p:cNvPr id="29867" name="直接箭头连接符 198"/>
            <p:cNvCxnSpPr/>
            <p:nvPr/>
          </p:nvCxnSpPr>
          <p:spPr>
            <a:xfrm rot="10800000">
              <a:off x="2169554" y="6073630"/>
              <a:ext cx="1188000" cy="1588"/>
            </a:xfrm>
            <a:prstGeom prst="straightConnector1">
              <a:avLst/>
            </a:prstGeom>
            <a:ln>
              <a:headEnd type="none" w="sm" len="sm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1" name="矩形 200"/>
            <p:cNvSpPr/>
            <p:nvPr/>
          </p:nvSpPr>
          <p:spPr bwMode="auto">
            <a:xfrm>
              <a:off x="2595166" y="5955652"/>
              <a:ext cx="1101817" cy="414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72000" tIns="0" rIns="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rsrtequ</a:t>
              </a:r>
              <a:endParaRPr kumimoji="1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宋体" panose="02010600030101010101" pitchFamily="2" charset="-122"/>
                <a:cs typeface="+mn-ea"/>
              </a:endParaRPr>
            </a:p>
          </p:txBody>
        </p:sp>
      </p:grpSp>
      <p:grpSp>
        <p:nvGrpSpPr>
          <p:cNvPr id="21" name="组合 175"/>
          <p:cNvGrpSpPr/>
          <p:nvPr/>
        </p:nvGrpSpPr>
        <p:grpSpPr>
          <a:xfrm rot="0">
            <a:off x="2663825" y="252774"/>
            <a:ext cx="7909916" cy="6258509"/>
            <a:chOff x="929538" y="-197239"/>
            <a:chExt cx="8255259" cy="6573711"/>
          </a:xfrm>
        </p:grpSpPr>
        <p:grpSp>
          <p:nvGrpSpPr>
            <p:cNvPr id="29711" name="组合 201"/>
            <p:cNvGrpSpPr/>
            <p:nvPr/>
          </p:nvGrpSpPr>
          <p:grpSpPr>
            <a:xfrm>
              <a:off x="929538" y="155907"/>
              <a:ext cx="7857275" cy="6051218"/>
              <a:chOff x="929701" y="155884"/>
              <a:chExt cx="7857141" cy="6051218"/>
            </a:xfrm>
          </p:grpSpPr>
          <p:sp>
            <p:nvSpPr>
              <p:cNvPr id="6" name="矩形 5"/>
              <p:cNvSpPr/>
              <p:nvPr/>
            </p:nvSpPr>
            <p:spPr bwMode="auto">
              <a:xfrm>
                <a:off x="7600999" y="4152877"/>
                <a:ext cx="1173143" cy="1346200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en-US" altLang="zh-CN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7" name="矩形 6"/>
              <p:cNvSpPr/>
              <p:nvPr/>
            </p:nvSpPr>
            <p:spPr bwMode="auto">
              <a:xfrm>
                <a:off x="1779736" y="2863827"/>
                <a:ext cx="1350939" cy="1366838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8" name="矩形 7"/>
              <p:cNvSpPr/>
              <p:nvPr/>
            </p:nvSpPr>
            <p:spPr bwMode="auto">
              <a:xfrm>
                <a:off x="3949811" y="3468665"/>
                <a:ext cx="1366815" cy="127317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9" name="矩形 8"/>
              <p:cNvSpPr/>
              <p:nvPr/>
            </p:nvSpPr>
            <p:spPr bwMode="auto">
              <a:xfrm>
                <a:off x="3807858" y="3340049"/>
                <a:ext cx="1485802" cy="416196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rna  rnb  wn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0" name="流程图: 终止 9"/>
              <p:cNvSpPr/>
              <p:nvPr/>
            </p:nvSpPr>
            <p:spPr bwMode="auto">
              <a:xfrm flipH="1">
                <a:off x="4589564" y="2736827"/>
                <a:ext cx="788974" cy="298450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0     1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1" name="直接箭头连接符 10"/>
              <p:cNvCxnSpPr/>
              <p:nvPr/>
            </p:nvCxnSpPr>
            <p:spPr bwMode="auto">
              <a:xfrm>
                <a:off x="5183278" y="2101827"/>
                <a:ext cx="0" cy="647700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/>
              <p:cNvCxnSpPr/>
              <p:nvPr/>
            </p:nvCxnSpPr>
            <p:spPr bwMode="auto">
              <a:xfrm>
                <a:off x="4965794" y="3035277"/>
                <a:ext cx="0" cy="4318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13" name="直接箭头连接符 12"/>
              <p:cNvCxnSpPr/>
              <p:nvPr/>
            </p:nvCxnSpPr>
            <p:spPr bwMode="auto">
              <a:xfrm>
                <a:off x="4786410" y="2268515"/>
                <a:ext cx="0" cy="468312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矩形 13"/>
              <p:cNvSpPr/>
              <p:nvPr/>
            </p:nvSpPr>
            <p:spPr bwMode="auto">
              <a:xfrm>
                <a:off x="2522674" y="3238477"/>
                <a:ext cx="573077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Data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5" name="直接连接符 14"/>
              <p:cNvCxnSpPr/>
              <p:nvPr/>
            </p:nvCxnSpPr>
            <p:spPr bwMode="auto">
              <a:xfrm>
                <a:off x="4511777" y="2254227"/>
                <a:ext cx="287333" cy="0"/>
              </a:xfrm>
              <a:prstGeom prst="line">
                <a:avLst/>
              </a:prstGeom>
              <a:ln>
                <a:headEnd type="oval" w="med" len="med"/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362"/>
              <p:cNvCxnSpPr/>
              <p:nvPr/>
            </p:nvCxnSpPr>
            <p:spPr bwMode="auto">
              <a:xfrm flipV="1">
                <a:off x="3130675" y="2098652"/>
                <a:ext cx="3492441" cy="1366838"/>
              </a:xfrm>
              <a:prstGeom prst="bentConnector3">
                <a:avLst>
                  <a:gd name="adj1" fmla="val 6391"/>
                </a:avLst>
              </a:prstGeom>
              <a:ln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/>
              <p:cNvCxnSpPr/>
              <p:nvPr/>
            </p:nvCxnSpPr>
            <p:spPr bwMode="auto">
              <a:xfrm>
                <a:off x="4511777" y="2101827"/>
                <a:ext cx="0" cy="1368425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/>
              <p:cNvCxnSpPr/>
              <p:nvPr/>
            </p:nvCxnSpPr>
            <p:spPr bwMode="auto">
              <a:xfrm>
                <a:off x="4105384" y="2098652"/>
                <a:ext cx="0" cy="1366838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9751" name="组合 384"/>
              <p:cNvGrpSpPr/>
              <p:nvPr/>
            </p:nvGrpSpPr>
            <p:grpSpPr>
              <a:xfrm>
                <a:off x="6510367" y="3516289"/>
                <a:ext cx="692177" cy="1371600"/>
                <a:chOff x="6732240" y="3412397"/>
                <a:chExt cx="692902" cy="1372042"/>
              </a:xfrm>
            </p:grpSpPr>
            <p:grpSp>
              <p:nvGrpSpPr>
                <p:cNvPr id="29858" name="Group 27"/>
                <p:cNvGrpSpPr/>
                <p:nvPr/>
              </p:nvGrpSpPr>
              <p:grpSpPr>
                <a:xfrm>
                  <a:off x="6732240" y="3412397"/>
                  <a:ext cx="648072" cy="1372042"/>
                  <a:chOff x="2400" y="2496"/>
                  <a:chExt cx="288" cy="672"/>
                </a:xfrm>
              </p:grpSpPr>
              <p:sp>
                <p:nvSpPr>
                  <p:cNvPr id="29860" name="Line 28"/>
                  <p:cNvSpPr/>
                  <p:nvPr/>
                </p:nvSpPr>
                <p:spPr>
                  <a:xfrm>
                    <a:off x="2400" y="2496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1" name="Line 29"/>
                  <p:cNvSpPr/>
                  <p:nvPr/>
                </p:nvSpPr>
                <p:spPr>
                  <a:xfrm>
                    <a:off x="2400" y="2784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2" name="Line 30"/>
                  <p:cNvSpPr/>
                  <p:nvPr/>
                </p:nvSpPr>
                <p:spPr>
                  <a:xfrm flipH="1">
                    <a:off x="2400" y="2832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3" name="Line 31"/>
                  <p:cNvSpPr/>
                  <p:nvPr/>
                </p:nvSpPr>
                <p:spPr>
                  <a:xfrm>
                    <a:off x="2400" y="2880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4" name="Line 32"/>
                  <p:cNvSpPr/>
                  <p:nvPr/>
                </p:nvSpPr>
                <p:spPr>
                  <a:xfrm>
                    <a:off x="2400" y="2496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5" name="Line 33"/>
                  <p:cNvSpPr/>
                  <p:nvPr/>
                </p:nvSpPr>
                <p:spPr>
                  <a:xfrm flipV="1">
                    <a:off x="2400" y="3024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6" name="Line 34"/>
                  <p:cNvSpPr/>
                  <p:nvPr/>
                </p:nvSpPr>
                <p:spPr>
                  <a:xfrm>
                    <a:off x="2688" y="2640"/>
                    <a:ext cx="0" cy="38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</p:grpSp>
            <p:sp>
              <p:nvSpPr>
                <p:cNvPr id="24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6776775" y="3923738"/>
                  <a:ext cx="648367" cy="32292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pPr marR="0" algn="ctr" defTabSz="914400" latinLnBrk="1">
                    <a:buClrTx/>
                    <a:buSzTx/>
                    <a:buFontTx/>
                    <a:defRPr/>
                  </a:pPr>
                  <a:r>
                    <a:rPr kumimoji="1" lang="en-US" altLang="zh-CN" sz="2000" b="1" kern="1200" cap="none" spc="0" normalizeH="0" baseline="0" noProof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rPr>
                    <a:t>ALU</a:t>
                  </a:r>
                  <a:endParaRPr kumimoji="1" lang="en-US" altLang="zh-CN" sz="2000" b="1" kern="1200" cap="none" spc="0" normalizeH="0" baseline="0" noProof="0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Times New Roman" panose="02020603050405020304" charset="0"/>
                    <a:ea typeface="宋体" panose="02010600030101010101" pitchFamily="2" charset="-122"/>
                    <a:cs typeface="+mn-ea"/>
                  </a:endParaRPr>
                </a:p>
              </p:txBody>
            </p:sp>
          </p:grpSp>
          <p:sp>
            <p:nvSpPr>
              <p:cNvPr id="27" name="流程图: 终止 26"/>
              <p:cNvSpPr/>
              <p:nvPr/>
            </p:nvSpPr>
            <p:spPr bwMode="auto">
              <a:xfrm rot="16200000" flipH="1">
                <a:off x="5756350" y="4449741"/>
                <a:ext cx="728662" cy="265108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vert="eaVert" lIns="0" tIns="0" rIns="0" bIns="0" anchor="ctr"/>
              <a:lstStyle>
                <a:lvl1pPr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smtClean="0">
                    <a:ln>
                      <a:noFill/>
                    </a:ln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0</a:t>
                </a:r>
                <a:endParaRPr kumimoji="1" lang="en-US" altLang="zh-CN" sz="1800" b="1" i="0" u="none" strike="noStrike" kern="1200" cap="none" spc="0" normalizeH="0" baseline="0" noProof="0" smtClean="0">
                  <a:ln>
                    <a:noFill/>
                  </a:ln>
                  <a:solidFill>
                    <a:schemeClr val="bg2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smtClean="0">
                    <a:ln>
                      <a:noFill/>
                    </a:ln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1</a:t>
                </a:r>
                <a:endParaRPr kumimoji="1" lang="en-US" altLang="zh-CN" sz="1800" b="1" i="0" u="none" strike="noStrike" kern="1200" cap="none" spc="0" normalizeH="0" baseline="0" noProof="0" smtClean="0">
                  <a:ln>
                    <a:noFill/>
                  </a:ln>
                  <a:solidFill>
                    <a:schemeClr val="bg2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8" name="直接箭头连接符 27"/>
              <p:cNvCxnSpPr/>
              <p:nvPr/>
            </p:nvCxnSpPr>
            <p:spPr bwMode="auto">
              <a:xfrm>
                <a:off x="5750006" y="5187927"/>
                <a:ext cx="1836707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/>
              <p:cNvCxnSpPr/>
              <p:nvPr/>
            </p:nvCxnSpPr>
            <p:spPr bwMode="auto">
              <a:xfrm>
                <a:off x="5316626" y="3786165"/>
                <a:ext cx="1189017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矩形 29"/>
              <p:cNvSpPr/>
              <p:nvPr/>
            </p:nvSpPr>
            <p:spPr bwMode="auto">
              <a:xfrm>
                <a:off x="7561313" y="5000602"/>
                <a:ext cx="671501" cy="414338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WD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31" name="直接箭头连接符 30"/>
              <p:cNvCxnSpPr/>
              <p:nvPr/>
            </p:nvCxnSpPr>
            <p:spPr bwMode="auto">
              <a:xfrm>
                <a:off x="5756356" y="4476727"/>
                <a:ext cx="0" cy="720725"/>
              </a:xfrm>
              <a:prstGeom prst="straightConnector1">
                <a:avLst/>
              </a:prstGeom>
              <a:ln>
                <a:headEnd type="oval" w="med" len="med"/>
                <a:tailEnd type="non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直接箭头连接符 31"/>
              <p:cNvCxnSpPr/>
              <p:nvPr/>
            </p:nvCxnSpPr>
            <p:spPr bwMode="auto">
              <a:xfrm>
                <a:off x="5315038" y="4476727"/>
                <a:ext cx="684201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" name="梯形 24"/>
              <p:cNvSpPr/>
              <p:nvPr/>
            </p:nvSpPr>
            <p:spPr bwMode="auto">
              <a:xfrm rot="5400000">
                <a:off x="4227454" y="5233512"/>
                <a:ext cx="540000" cy="360000"/>
              </a:xfrm>
              <a:prstGeom prst="trapezoid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vert="vert270"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E</a:t>
                </a:r>
                <a:endParaRPr kumimoji="1" lang="en-US" altLang="zh-CN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 bwMode="auto">
              <a:xfrm>
                <a:off x="7586712" y="4484665"/>
                <a:ext cx="690550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addr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35" name="矩形 34"/>
              <p:cNvSpPr/>
              <p:nvPr/>
            </p:nvSpPr>
            <p:spPr bwMode="auto">
              <a:xfrm>
                <a:off x="8189952" y="4637065"/>
                <a:ext cx="596890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72000" bIns="0" anchor="ctr"/>
              <a:lstStyle/>
              <a:p>
                <a:pPr marL="0" marR="0" lvl="0" indent="0" algn="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RD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6" name="直接箭头连接符 400"/>
              <p:cNvCxnSpPr/>
              <p:nvPr/>
            </p:nvCxnSpPr>
            <p:spPr bwMode="auto">
              <a:xfrm flipV="1">
                <a:off x="4689574" y="2381227"/>
                <a:ext cx="2520907" cy="3024188"/>
              </a:xfrm>
              <a:prstGeom prst="bentConnector3">
                <a:avLst>
                  <a:gd name="adj1" fmla="val 33873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grpSp>
            <p:nvGrpSpPr>
              <p:cNvPr id="29762" name="组合 432"/>
              <p:cNvGrpSpPr/>
              <p:nvPr/>
            </p:nvGrpSpPr>
            <p:grpSpPr>
              <a:xfrm>
                <a:off x="7218392" y="1330302"/>
                <a:ext cx="474662" cy="1273175"/>
                <a:chOff x="6910454" y="2157870"/>
                <a:chExt cx="475687" cy="1055106"/>
              </a:xfrm>
            </p:grpSpPr>
            <p:grpSp>
              <p:nvGrpSpPr>
                <p:cNvPr id="29849" name="Group 27"/>
                <p:cNvGrpSpPr/>
                <p:nvPr/>
              </p:nvGrpSpPr>
              <p:grpSpPr>
                <a:xfrm>
                  <a:off x="6910454" y="2157870"/>
                  <a:ext cx="475687" cy="1055106"/>
                  <a:chOff x="2400" y="2496"/>
                  <a:chExt cx="288" cy="672"/>
                </a:xfrm>
              </p:grpSpPr>
              <p:sp>
                <p:nvSpPr>
                  <p:cNvPr id="29851" name="Line 28"/>
                  <p:cNvSpPr/>
                  <p:nvPr/>
                </p:nvSpPr>
                <p:spPr>
                  <a:xfrm>
                    <a:off x="2400" y="2496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2" name="Line 29"/>
                  <p:cNvSpPr/>
                  <p:nvPr/>
                </p:nvSpPr>
                <p:spPr>
                  <a:xfrm>
                    <a:off x="2400" y="2784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3" name="Line 30"/>
                  <p:cNvSpPr/>
                  <p:nvPr/>
                </p:nvSpPr>
                <p:spPr>
                  <a:xfrm flipH="1">
                    <a:off x="2400" y="2832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4" name="Line 31"/>
                  <p:cNvSpPr/>
                  <p:nvPr/>
                </p:nvSpPr>
                <p:spPr>
                  <a:xfrm>
                    <a:off x="2400" y="2880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5" name="Line 32"/>
                  <p:cNvSpPr/>
                  <p:nvPr/>
                </p:nvSpPr>
                <p:spPr>
                  <a:xfrm>
                    <a:off x="2400" y="2496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6" name="Line 33"/>
                  <p:cNvSpPr/>
                  <p:nvPr/>
                </p:nvSpPr>
                <p:spPr>
                  <a:xfrm flipV="1">
                    <a:off x="2400" y="3024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7" name="Line 34"/>
                  <p:cNvSpPr/>
                  <p:nvPr/>
                </p:nvSpPr>
                <p:spPr>
                  <a:xfrm>
                    <a:off x="2688" y="2640"/>
                    <a:ext cx="0" cy="38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</p:grpSp>
            <p:sp>
              <p:nvSpPr>
                <p:cNvPr id="29850" name="Text Box 12"/>
                <p:cNvSpPr txBox="1"/>
                <p:nvPr/>
              </p:nvSpPr>
              <p:spPr>
                <a:xfrm rot="-5400000">
                  <a:off x="6803244" y="2495540"/>
                  <a:ext cx="731470" cy="393173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lIns="99092" tIns="49545" rIns="99092" bIns="49545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3366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32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90000"/>
                    <a:buChar char="–"/>
                    <a:defRPr kumimoji="1" sz="28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FFFF"/>
                    </a:buClr>
                    <a:buSzPct val="60000"/>
                    <a:buFont typeface="Wingdings" panose="05000000000000000000" pitchFamily="2" charset="2"/>
                    <a:buChar char="l"/>
                    <a:defRPr kumimoji="1" sz="24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00"/>
                    </a:buClr>
                    <a:buChar char="–"/>
                    <a:defRPr kumimoji="1" sz="20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FFFF"/>
                    </a:buClr>
                    <a:buChar char="•"/>
                    <a:defRPr kumimoji="1" sz="20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5pPr>
                </a:lstStyle>
                <a:p>
                  <a:pPr marL="0" lvl="0" indent="0" algn="ctr" eaLnBrk="1" latin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1800" b="1" dirty="0">
                      <a:solidFill>
                        <a:schemeClr val="tx1"/>
                      </a:solidFill>
                    </a:rPr>
                    <a:t>ADD</a:t>
                  </a:r>
                  <a:endParaRPr lang="en-US" altLang="zh-CN" sz="1800" b="1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33" name="直接箭头连接符 32"/>
              <p:cNvCxnSpPr/>
              <p:nvPr/>
            </p:nvCxnSpPr>
            <p:spPr bwMode="auto">
              <a:xfrm>
                <a:off x="7693073" y="1955777"/>
                <a:ext cx="252409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2" name="直接箭头连接符 51"/>
              <p:cNvCxnSpPr/>
              <p:nvPr/>
            </p:nvCxnSpPr>
            <p:spPr bwMode="auto">
              <a:xfrm>
                <a:off x="3130675" y="1628752"/>
                <a:ext cx="4067106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53" name="直接箭头连接符 52"/>
              <p:cNvCxnSpPr/>
              <p:nvPr/>
            </p:nvCxnSpPr>
            <p:spPr bwMode="auto">
              <a:xfrm flipV="1">
                <a:off x="3805352" y="901677"/>
                <a:ext cx="0" cy="720725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oval"/>
                <a:tailEnd type="none" w="med" len="lg"/>
              </a:ln>
              <a:effectLst/>
            </p:spPr>
          </p:cxnSp>
          <p:cxnSp>
            <p:nvCxnSpPr>
              <p:cNvPr id="54" name="直接箭头连接符 53"/>
              <p:cNvCxnSpPr/>
              <p:nvPr/>
            </p:nvCxnSpPr>
            <p:spPr bwMode="auto">
              <a:xfrm flipH="1">
                <a:off x="3518019" y="887390"/>
                <a:ext cx="287333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  <a:effectLst/>
            </p:spPr>
          </p:cxnSp>
          <p:sp>
            <p:nvSpPr>
              <p:cNvPr id="55" name="矩形 54"/>
              <p:cNvSpPr/>
              <p:nvPr/>
            </p:nvSpPr>
            <p:spPr bwMode="auto">
              <a:xfrm>
                <a:off x="3900600" y="4017940"/>
                <a:ext cx="619114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d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56" name="直接箭头连接符 400"/>
              <p:cNvCxnSpPr/>
              <p:nvPr/>
            </p:nvCxnSpPr>
            <p:spPr bwMode="auto">
              <a:xfrm flipH="1" flipV="1">
                <a:off x="3960924" y="4224315"/>
                <a:ext cx="4822743" cy="611187"/>
              </a:xfrm>
              <a:prstGeom prst="bentConnector5">
                <a:avLst>
                  <a:gd name="adj1" fmla="val -3528"/>
                  <a:gd name="adj2" fmla="val -152381"/>
                  <a:gd name="adj3" fmla="val 105053"/>
                </a:avLst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直接箭头连接符 56"/>
              <p:cNvCxnSpPr/>
              <p:nvPr/>
            </p:nvCxnSpPr>
            <p:spPr bwMode="auto">
              <a:xfrm>
                <a:off x="3568818" y="5416527"/>
                <a:ext cx="755637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直接箭头连接符 57"/>
              <p:cNvCxnSpPr/>
              <p:nvPr/>
            </p:nvCxnSpPr>
            <p:spPr bwMode="auto">
              <a:xfrm flipV="1">
                <a:off x="3576756" y="2101827"/>
                <a:ext cx="0" cy="3311525"/>
              </a:xfrm>
              <a:prstGeom prst="straightConnector1">
                <a:avLst/>
              </a:prstGeom>
              <a:ln>
                <a:headEnd type="none" w="med" len="med"/>
                <a:tailEnd type="oval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9771" name="组合 456"/>
              <p:cNvGrpSpPr/>
              <p:nvPr/>
            </p:nvGrpSpPr>
            <p:grpSpPr>
              <a:xfrm>
                <a:off x="2654329" y="1104877"/>
                <a:ext cx="476250" cy="1055687"/>
                <a:chOff x="6910454" y="2157870"/>
                <a:chExt cx="475687" cy="1055106"/>
              </a:xfrm>
            </p:grpSpPr>
            <p:grpSp>
              <p:nvGrpSpPr>
                <p:cNvPr id="29840" name="Group 27"/>
                <p:cNvGrpSpPr/>
                <p:nvPr/>
              </p:nvGrpSpPr>
              <p:grpSpPr>
                <a:xfrm>
                  <a:off x="6910454" y="2157870"/>
                  <a:ext cx="475687" cy="1055106"/>
                  <a:chOff x="2400" y="2496"/>
                  <a:chExt cx="288" cy="672"/>
                </a:xfrm>
              </p:grpSpPr>
              <p:sp>
                <p:nvSpPr>
                  <p:cNvPr id="29842" name="Line 28"/>
                  <p:cNvSpPr/>
                  <p:nvPr/>
                </p:nvSpPr>
                <p:spPr>
                  <a:xfrm>
                    <a:off x="2400" y="2496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3" name="Line 29"/>
                  <p:cNvSpPr/>
                  <p:nvPr/>
                </p:nvSpPr>
                <p:spPr>
                  <a:xfrm>
                    <a:off x="2400" y="2784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4" name="Line 30"/>
                  <p:cNvSpPr/>
                  <p:nvPr/>
                </p:nvSpPr>
                <p:spPr>
                  <a:xfrm flipH="1">
                    <a:off x="2400" y="2832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5" name="Line 31"/>
                  <p:cNvSpPr/>
                  <p:nvPr/>
                </p:nvSpPr>
                <p:spPr>
                  <a:xfrm>
                    <a:off x="2400" y="2880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6" name="Line 32"/>
                  <p:cNvSpPr/>
                  <p:nvPr/>
                </p:nvSpPr>
                <p:spPr>
                  <a:xfrm>
                    <a:off x="2400" y="2496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7" name="Line 33"/>
                  <p:cNvSpPr/>
                  <p:nvPr/>
                </p:nvSpPr>
                <p:spPr>
                  <a:xfrm flipV="1">
                    <a:off x="2400" y="3024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8" name="Line 34"/>
                  <p:cNvSpPr/>
                  <p:nvPr/>
                </p:nvSpPr>
                <p:spPr>
                  <a:xfrm>
                    <a:off x="2688" y="2640"/>
                    <a:ext cx="0" cy="38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</p:grpSp>
            <p:sp>
              <p:nvSpPr>
                <p:cNvPr id="29841" name="Text Box 12"/>
                <p:cNvSpPr txBox="1"/>
                <p:nvPr/>
              </p:nvSpPr>
              <p:spPr>
                <a:xfrm rot="-5400000">
                  <a:off x="6803193" y="2496781"/>
                  <a:ext cx="731434" cy="391862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lIns="99092" tIns="49545" rIns="99092" bIns="49545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3366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32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90000"/>
                    <a:buChar char="–"/>
                    <a:defRPr kumimoji="1" sz="28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FFFF"/>
                    </a:buClr>
                    <a:buSzPct val="60000"/>
                    <a:buFont typeface="Wingdings" panose="05000000000000000000" pitchFamily="2" charset="2"/>
                    <a:buChar char="l"/>
                    <a:defRPr kumimoji="1" sz="24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00"/>
                    </a:buClr>
                    <a:buChar char="–"/>
                    <a:defRPr kumimoji="1" sz="20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FFFF"/>
                    </a:buClr>
                    <a:buChar char="•"/>
                    <a:defRPr kumimoji="1" sz="20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5pPr>
                </a:lstStyle>
                <a:p>
                  <a:pPr marL="0" lvl="0" indent="0" algn="ctr" eaLnBrk="1" latin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1800" b="1" dirty="0">
                      <a:solidFill>
                        <a:schemeClr val="tx1"/>
                      </a:solidFill>
                    </a:rPr>
                    <a:t>ADD</a:t>
                  </a:r>
                  <a:endParaRPr lang="en-US" altLang="zh-CN" sz="1800" b="1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36" name="矩形 35"/>
              <p:cNvSpPr/>
              <p:nvPr/>
            </p:nvSpPr>
            <p:spPr bwMode="auto">
              <a:xfrm>
                <a:off x="1779736" y="2917802"/>
                <a:ext cx="690550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Addr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37" name="矩形 36"/>
              <p:cNvSpPr/>
              <p:nvPr/>
            </p:nvSpPr>
            <p:spPr bwMode="auto">
              <a:xfrm>
                <a:off x="1136809" y="1930377"/>
                <a:ext cx="792150" cy="404813"/>
              </a:xfrm>
              <a:prstGeom prst="rect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400" b="1" i="0" u="none" strike="noStrike" kern="1200" cap="none" spc="0" normalizeH="0" baseline="0" noProof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PC</a:t>
                </a:r>
                <a:endParaRPr kumimoji="1" lang="en-US" altLang="zh-CN" sz="2400" b="1" i="0" u="none" strike="noStrike" kern="1200" cap="none" spc="0" normalizeH="0" baseline="0" noProof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38" name="直接箭头连接符 400"/>
              <p:cNvCxnSpPr>
                <a:stCxn id="37" idx="2"/>
                <a:endCxn id="36" idx="1"/>
              </p:cNvCxnSpPr>
              <p:nvPr/>
            </p:nvCxnSpPr>
            <p:spPr bwMode="auto">
              <a:xfrm rot="16200000" flipH="1">
                <a:off x="1260626" y="2606655"/>
                <a:ext cx="790575" cy="247646"/>
              </a:xfrm>
              <a:prstGeom prst="bentConnector2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47" name="直接箭头连接符 46"/>
              <p:cNvCxnSpPr/>
              <p:nvPr/>
            </p:nvCxnSpPr>
            <p:spPr bwMode="auto">
              <a:xfrm>
                <a:off x="2338527" y="1968477"/>
                <a:ext cx="315907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48" name="直接箭头连接符 47"/>
              <p:cNvCxnSpPr/>
              <p:nvPr/>
            </p:nvCxnSpPr>
            <p:spPr bwMode="auto">
              <a:xfrm>
                <a:off x="1528916" y="2655865"/>
                <a:ext cx="812786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oval"/>
                <a:tailEnd type="none" w="med" len="lg"/>
              </a:ln>
              <a:effectLst/>
            </p:spPr>
          </p:cxnSp>
          <p:cxnSp>
            <p:nvCxnSpPr>
              <p:cNvPr id="49" name="直接箭头连接符 48"/>
              <p:cNvCxnSpPr/>
              <p:nvPr/>
            </p:nvCxnSpPr>
            <p:spPr bwMode="auto">
              <a:xfrm>
                <a:off x="2341702" y="1982765"/>
                <a:ext cx="0" cy="684212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none" w="med" len="lg"/>
              </a:ln>
              <a:effectLst/>
            </p:spPr>
          </p:cxnSp>
          <p:cxnSp>
            <p:nvCxnSpPr>
              <p:cNvPr id="50" name="直接箭头连接符 49"/>
              <p:cNvCxnSpPr/>
              <p:nvPr/>
            </p:nvCxnSpPr>
            <p:spPr bwMode="auto">
              <a:xfrm>
                <a:off x="2338527" y="1374752"/>
                <a:ext cx="315907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59" name="矩形 58"/>
              <p:cNvSpPr/>
              <p:nvPr/>
            </p:nvSpPr>
            <p:spPr bwMode="auto">
              <a:xfrm>
                <a:off x="1836885" y="1154090"/>
                <a:ext cx="600065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4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+4</a:t>
                </a:r>
                <a:endParaRPr kumimoji="1" lang="en-US" altLang="zh-CN" sz="24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78" name="矩形 77"/>
              <p:cNvSpPr/>
              <p:nvPr/>
            </p:nvSpPr>
            <p:spPr bwMode="auto">
              <a:xfrm>
                <a:off x="3465633" y="1666852"/>
                <a:ext cx="1850993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4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Inst</a:t>
                </a:r>
                <a:endParaRPr kumimoji="1" lang="en-US" altLang="zh-CN" sz="24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60" name="直接箭头连接符 59"/>
              <p:cNvCxnSpPr/>
              <p:nvPr/>
            </p:nvCxnSpPr>
            <p:spPr bwMode="auto">
              <a:xfrm>
                <a:off x="6259585" y="4594202"/>
                <a:ext cx="250821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直接箭头连接符 61"/>
              <p:cNvCxnSpPr/>
              <p:nvPr/>
            </p:nvCxnSpPr>
            <p:spPr bwMode="auto">
              <a:xfrm>
                <a:off x="7327954" y="4711677"/>
                <a:ext cx="276220" cy="0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直接箭头连接符 86"/>
              <p:cNvCxnSpPr/>
              <p:nvPr/>
            </p:nvCxnSpPr>
            <p:spPr bwMode="auto">
              <a:xfrm flipV="1">
                <a:off x="7143807" y="3627415"/>
                <a:ext cx="447667" cy="352425"/>
              </a:xfrm>
              <a:prstGeom prst="bentConnector3">
                <a:avLst>
                  <a:gd name="adj1" fmla="val 50000"/>
                </a:avLst>
              </a:prstGeom>
              <a:noFill/>
              <a:ln w="25400" cap="flat" cmpd="sng" algn="ctr">
                <a:solidFill>
                  <a:srgbClr val="0000FF">
                    <a:lumMod val="75000"/>
                  </a:srgbClr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65" name="直接箭头连接符 64"/>
              <p:cNvCxnSpPr/>
              <p:nvPr/>
            </p:nvCxnSpPr>
            <p:spPr bwMode="auto">
              <a:xfrm flipV="1">
                <a:off x="4608613" y="4732315"/>
                <a:ext cx="0" cy="2159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66" name="矩形 65"/>
              <p:cNvSpPr/>
              <p:nvPr/>
            </p:nvSpPr>
            <p:spPr bwMode="auto">
              <a:xfrm>
                <a:off x="4425822" y="4714852"/>
                <a:ext cx="730238" cy="311150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clk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67" name="矩形 66"/>
              <p:cNvSpPr/>
              <p:nvPr/>
            </p:nvSpPr>
            <p:spPr bwMode="auto">
              <a:xfrm>
                <a:off x="7332830" y="3265657"/>
                <a:ext cx="970211" cy="41419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rsrtequ</a:t>
                </a: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grpSp>
            <p:nvGrpSpPr>
              <p:cNvPr id="29787" name="组合 18"/>
              <p:cNvGrpSpPr/>
              <p:nvPr/>
            </p:nvGrpSpPr>
            <p:grpSpPr>
              <a:xfrm>
                <a:off x="3733829" y="2298677"/>
                <a:ext cx="469900" cy="414337"/>
                <a:chOff x="3129063" y="2475407"/>
                <a:chExt cx="470570" cy="415629"/>
              </a:xfrm>
            </p:grpSpPr>
            <p:sp>
              <p:nvSpPr>
                <p:cNvPr id="94" name="矩形 93"/>
                <p:cNvSpPr/>
                <p:nvPr/>
              </p:nvSpPr>
              <p:spPr>
                <a:xfrm>
                  <a:off x="3129149" y="2475407"/>
                  <a:ext cx="297281" cy="415630"/>
                </a:xfrm>
                <a:prstGeom prst="rect">
                  <a:avLst/>
                </a:prstGeom>
                <a:noFill/>
                <a:ln w="25400" cap="flat" cmpd="sng" algn="ctr">
                  <a:noFill/>
                  <a:prstDash val="solid"/>
                </a:ln>
                <a:effectLst/>
              </p:spPr>
              <p:txBody>
                <a:bodyPr lIns="72000" tIns="0" rIns="0" bIns="0" anchor="ctr"/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1" lang="en-US" altLang="zh-CN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rPr>
                    <a:t>5</a:t>
                  </a:r>
                  <a:endPara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endParaRPr>
                </a:p>
              </p:txBody>
            </p:sp>
            <p:cxnSp>
              <p:nvCxnSpPr>
                <p:cNvPr id="68" name="直接连接符 67"/>
                <p:cNvCxnSpPr/>
                <p:nvPr/>
              </p:nvCxnSpPr>
              <p:spPr>
                <a:xfrm>
                  <a:off x="3426430" y="2669686"/>
                  <a:ext cx="173281" cy="105102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9788" name="组合 118"/>
              <p:cNvGrpSpPr/>
              <p:nvPr/>
            </p:nvGrpSpPr>
            <p:grpSpPr>
              <a:xfrm>
                <a:off x="4125942" y="2316139"/>
                <a:ext cx="471487" cy="414338"/>
                <a:chOff x="3129063" y="2514479"/>
                <a:chExt cx="470570" cy="415629"/>
              </a:xfrm>
            </p:grpSpPr>
            <p:sp>
              <p:nvSpPr>
                <p:cNvPr id="97" name="矩形 96"/>
                <p:cNvSpPr/>
                <p:nvPr/>
              </p:nvSpPr>
              <p:spPr>
                <a:xfrm>
                  <a:off x="3129142" y="2514480"/>
                  <a:ext cx="297864" cy="415628"/>
                </a:xfrm>
                <a:prstGeom prst="rect">
                  <a:avLst/>
                </a:prstGeom>
                <a:noFill/>
                <a:ln w="25400" cap="flat" cmpd="sng" algn="ctr">
                  <a:noFill/>
                  <a:prstDash val="solid"/>
                </a:ln>
                <a:effectLst/>
              </p:spPr>
              <p:txBody>
                <a:bodyPr lIns="72000" tIns="0" rIns="0" bIns="0" anchor="ctr"/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1" lang="en-US" altLang="zh-CN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rPr>
                    <a:t>5</a:t>
                  </a:r>
                  <a:endPara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endParaRPr>
                </a:p>
              </p:txBody>
            </p:sp>
            <p:cxnSp>
              <p:nvCxnSpPr>
                <p:cNvPr id="81" name="直接连接符 80"/>
                <p:cNvCxnSpPr/>
                <p:nvPr/>
              </p:nvCxnSpPr>
              <p:spPr>
                <a:xfrm>
                  <a:off x="3427006" y="2668947"/>
                  <a:ext cx="172698" cy="106694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83" name="矩形 82"/>
              <p:cNvSpPr/>
              <p:nvPr/>
            </p:nvSpPr>
            <p:spPr bwMode="auto">
              <a:xfrm>
                <a:off x="5111842" y="2306615"/>
                <a:ext cx="298445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5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00" name="直接连接符 99"/>
              <p:cNvCxnSpPr/>
              <p:nvPr/>
            </p:nvCxnSpPr>
            <p:spPr bwMode="auto">
              <a:xfrm>
                <a:off x="5081680" y="2316140"/>
                <a:ext cx="173034" cy="104775"/>
              </a:xfrm>
              <a:prstGeom prst="line">
                <a:avLst/>
              </a:prstGeom>
              <a:noFill/>
              <a:ln w="1905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sp>
            <p:nvSpPr>
              <p:cNvPr id="84" name="矩形 83"/>
              <p:cNvSpPr/>
              <p:nvPr/>
            </p:nvSpPr>
            <p:spPr bwMode="auto">
              <a:xfrm>
                <a:off x="3481507" y="2512990"/>
                <a:ext cx="398455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16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02" name="直接连接符 101"/>
              <p:cNvCxnSpPr/>
              <p:nvPr/>
            </p:nvCxnSpPr>
            <p:spPr bwMode="auto">
              <a:xfrm>
                <a:off x="3514844" y="2476477"/>
                <a:ext cx="173035" cy="106363"/>
              </a:xfrm>
              <a:prstGeom prst="line">
                <a:avLst/>
              </a:prstGeom>
              <a:noFill/>
              <a:ln w="1905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104" name="直接箭头连接符 103"/>
              <p:cNvCxnSpPr/>
              <p:nvPr/>
            </p:nvCxnSpPr>
            <p:spPr bwMode="auto">
              <a:xfrm>
                <a:off x="5546809" y="4764065"/>
                <a:ext cx="466717" cy="0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流程图: 终止 110"/>
              <p:cNvSpPr/>
              <p:nvPr/>
            </p:nvSpPr>
            <p:spPr bwMode="auto">
              <a:xfrm rot="16200000" flipH="1">
                <a:off x="2660348" y="652945"/>
                <a:ext cx="1354638" cy="360516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795" name="直接连接符 125"/>
              <p:cNvCxnSpPr/>
              <p:nvPr/>
            </p:nvCxnSpPr>
            <p:spPr>
              <a:xfrm flipH="1">
                <a:off x="1954116" y="658789"/>
                <a:ext cx="1188000" cy="0"/>
              </a:xfrm>
              <a:prstGeom prst="line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29796" name="直接箭头连接符 129"/>
              <p:cNvCxnSpPr/>
              <p:nvPr/>
            </p:nvCxnSpPr>
            <p:spPr>
              <a:xfrm>
                <a:off x="1556614" y="1172802"/>
                <a:ext cx="0" cy="756000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arrow" w="med" len="med"/>
              </a:ln>
            </p:spPr>
          </p:cxnSp>
          <p:cxnSp>
            <p:nvCxnSpPr>
              <p:cNvPr id="29797" name="直接箭头连接符 131"/>
              <p:cNvCxnSpPr/>
              <p:nvPr/>
            </p:nvCxnSpPr>
            <p:spPr>
              <a:xfrm flipH="1">
                <a:off x="3517929" y="371452"/>
                <a:ext cx="4427538" cy="0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arrow" w="med" len="med"/>
              </a:ln>
            </p:spPr>
          </p:cxnSp>
          <p:cxnSp>
            <p:nvCxnSpPr>
              <p:cNvPr id="29798" name="直接箭头连接符 132"/>
              <p:cNvCxnSpPr/>
              <p:nvPr/>
            </p:nvCxnSpPr>
            <p:spPr>
              <a:xfrm>
                <a:off x="7947054" y="371452"/>
                <a:ext cx="0" cy="1584325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</p:spPr>
          </p:cxnSp>
          <p:cxnSp>
            <p:nvCxnSpPr>
              <p:cNvPr id="29799" name="直接箭头连接符 138"/>
              <p:cNvCxnSpPr/>
              <p:nvPr/>
            </p:nvCxnSpPr>
            <p:spPr>
              <a:xfrm flipH="1">
                <a:off x="3530629" y="600052"/>
                <a:ext cx="2879725" cy="0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arrow" w="med" len="med"/>
              </a:ln>
            </p:spPr>
          </p:cxnSp>
          <p:sp>
            <p:nvSpPr>
              <p:cNvPr id="88" name="圆角矩形 87"/>
              <p:cNvSpPr/>
              <p:nvPr/>
            </p:nvSpPr>
            <p:spPr bwMode="auto">
              <a:xfrm>
                <a:off x="6037339" y="803252"/>
                <a:ext cx="792149" cy="360363"/>
              </a:xfrm>
              <a:prstGeom prst="roundRect">
                <a:avLst/>
              </a:prstGeom>
              <a:solidFill>
                <a:srgbClr val="3366FF">
                  <a:lumMod val="75000"/>
                </a:srgbClr>
              </a:solidFill>
              <a:ln w="19050" cap="sq" cmpd="sng" algn="ctr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  <a:effectLst/>
            </p:spPr>
            <p:txBody>
              <a:bodyPr wrap="none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U</a:t>
                </a: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90" name="直接箭头连接符 89"/>
              <p:cNvCxnSpPr/>
              <p:nvPr/>
            </p:nvCxnSpPr>
            <p:spPr bwMode="auto">
              <a:xfrm flipV="1">
                <a:off x="6431032" y="587352"/>
                <a:ext cx="0" cy="2159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3" name="直接箭头连接符 92"/>
              <p:cNvCxnSpPr/>
              <p:nvPr/>
            </p:nvCxnSpPr>
            <p:spPr bwMode="auto">
              <a:xfrm flipV="1">
                <a:off x="6613591" y="1163615"/>
                <a:ext cx="0" cy="936625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" name="直接箭头连接符 143"/>
              <p:cNvCxnSpPr/>
              <p:nvPr/>
            </p:nvCxnSpPr>
            <p:spPr bwMode="auto">
              <a:xfrm flipV="1">
                <a:off x="6253235" y="1196952"/>
                <a:ext cx="0" cy="4318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oval" w="med" len="med"/>
                <a:tailEnd type="arrow" w="med" len="med"/>
              </a:ln>
              <a:effectLst/>
            </p:spPr>
          </p:cxnSp>
          <p:cxnSp>
            <p:nvCxnSpPr>
              <p:cNvPr id="96" name="直接连接符 95"/>
              <p:cNvCxnSpPr/>
              <p:nvPr/>
            </p:nvCxnSpPr>
            <p:spPr bwMode="auto">
              <a:xfrm flipH="1">
                <a:off x="6023051" y="2016102"/>
                <a:ext cx="107948" cy="179388"/>
              </a:xfrm>
              <a:prstGeom prst="line">
                <a:avLst/>
              </a:prstGeom>
              <a:noFill/>
              <a:ln w="19050" cap="flat" cmpd="sng" algn="ctr">
                <a:solidFill>
                  <a:srgbClr val="00FFFF"/>
                </a:solidFill>
                <a:prstDash val="solid"/>
              </a:ln>
              <a:effectLst/>
            </p:spPr>
          </p:cxnSp>
          <p:sp>
            <p:nvSpPr>
              <p:cNvPr id="146" name="流程图: 终止 145"/>
              <p:cNvSpPr/>
              <p:nvPr/>
            </p:nvSpPr>
            <p:spPr bwMode="auto">
              <a:xfrm flipH="1">
                <a:off x="6335784" y="1714477"/>
                <a:ext cx="552441" cy="287338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&lt;&lt;2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48" name="矩形 147"/>
              <p:cNvSpPr/>
              <p:nvPr/>
            </p:nvSpPr>
            <p:spPr bwMode="auto">
              <a:xfrm>
                <a:off x="5889703" y="1673202"/>
                <a:ext cx="398456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26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49" name="直接连接符 148"/>
              <p:cNvCxnSpPr/>
              <p:nvPr/>
            </p:nvCxnSpPr>
            <p:spPr bwMode="auto">
              <a:xfrm flipH="1">
                <a:off x="6181798" y="1366815"/>
                <a:ext cx="142873" cy="144462"/>
              </a:xfrm>
              <a:prstGeom prst="line">
                <a:avLst/>
              </a:prstGeom>
              <a:noFill/>
              <a:ln w="19050" cap="flat" cmpd="sng" algn="ctr">
                <a:solidFill>
                  <a:srgbClr val="00FFFF"/>
                </a:solidFill>
                <a:prstDash val="solid"/>
              </a:ln>
              <a:effectLst/>
            </p:spPr>
          </p:cxnSp>
          <p:sp>
            <p:nvSpPr>
              <p:cNvPr id="150" name="矩形 149"/>
              <p:cNvSpPr/>
              <p:nvPr/>
            </p:nvSpPr>
            <p:spPr bwMode="auto">
              <a:xfrm>
                <a:off x="5821443" y="1239815"/>
                <a:ext cx="396868" cy="414337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4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03" name="流程图: 终止 102"/>
              <p:cNvSpPr/>
              <p:nvPr/>
            </p:nvSpPr>
            <p:spPr bwMode="auto">
              <a:xfrm flipH="1">
                <a:off x="6337371" y="2232002"/>
                <a:ext cx="554029" cy="300038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&lt;&lt;2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62" name="流程图: 终止 161"/>
              <p:cNvSpPr/>
              <p:nvPr/>
            </p:nvSpPr>
            <p:spPr bwMode="auto">
              <a:xfrm rot="16200000" flipH="1">
                <a:off x="5784925" y="5572105"/>
                <a:ext cx="649288" cy="287333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vert="eaVert"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01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811" name="直接连接符 164"/>
              <p:cNvCxnSpPr/>
              <p:nvPr/>
            </p:nvCxnSpPr>
            <p:spPr>
              <a:xfrm>
                <a:off x="7149426" y="4403702"/>
                <a:ext cx="180000" cy="0"/>
              </a:xfrm>
              <a:prstGeom prst="line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29812" name="直接连接符 166"/>
              <p:cNvCxnSpPr/>
              <p:nvPr/>
            </p:nvCxnSpPr>
            <p:spPr>
              <a:xfrm>
                <a:off x="7332692" y="4403702"/>
                <a:ext cx="0" cy="1188000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813" name="直接连接符 167"/>
              <p:cNvCxnSpPr/>
              <p:nvPr/>
            </p:nvCxnSpPr>
            <p:spPr>
              <a:xfrm>
                <a:off x="6253192" y="5612674"/>
                <a:ext cx="1043982" cy="0"/>
              </a:xfrm>
              <a:prstGeom prst="line">
                <a:avLst/>
              </a:prstGeom>
              <a:ln>
                <a:headEnd type="arrow" w="med" len="med"/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3" name="矩形 172"/>
              <p:cNvSpPr/>
              <p:nvPr/>
            </p:nvSpPr>
            <p:spPr bwMode="auto">
              <a:xfrm>
                <a:off x="1738462" y="3568677"/>
                <a:ext cx="1393801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zh-CN" altLang="en-US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黑体" panose="02010609060101010101" charset="-122"/>
                    <a:ea typeface="黑体" panose="02010609060101010101" charset="-122"/>
                    <a:cs typeface="Calibri" panose="020F0502020204030204" pitchFamily="34" charset="0"/>
                  </a:rPr>
                  <a:t>指令存储器</a:t>
                </a:r>
                <a:endParaRPr kumimoji="1" lang="zh-CN" altLang="en-US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黑体" panose="02010609060101010101" charset="-122"/>
                  <a:ea typeface="黑体" panose="02010609060101010101" charset="-122"/>
                  <a:cs typeface="Calibri" panose="020F0502020204030204" pitchFamily="34" charset="0"/>
                </a:endParaRPr>
              </a:p>
            </p:txBody>
          </p:sp>
          <p:cxnSp>
            <p:nvCxnSpPr>
              <p:cNvPr id="29815" name="直接连接符 173"/>
              <p:cNvCxnSpPr/>
              <p:nvPr/>
            </p:nvCxnSpPr>
            <p:spPr>
              <a:xfrm>
                <a:off x="6253192" y="5763868"/>
                <a:ext cx="360362" cy="0"/>
              </a:xfrm>
              <a:prstGeom prst="line">
                <a:avLst/>
              </a:prstGeom>
              <a:ln>
                <a:headEnd type="arrow" w="med" len="med"/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4" name="矩形 183"/>
              <p:cNvSpPr/>
              <p:nvPr/>
            </p:nvSpPr>
            <p:spPr bwMode="auto">
              <a:xfrm>
                <a:off x="4922933" y="3682977"/>
                <a:ext cx="380994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qa</a:t>
                </a:r>
                <a:endParaRPr kumimoji="1" lang="en-US" altLang="zh-CN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85" name="矩形 184"/>
              <p:cNvSpPr/>
              <p:nvPr/>
            </p:nvSpPr>
            <p:spPr bwMode="auto">
              <a:xfrm>
                <a:off x="4919758" y="4271940"/>
                <a:ext cx="380994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qb</a:t>
                </a:r>
                <a:endParaRPr kumimoji="1" lang="en-US" altLang="zh-CN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818" name="直接箭头连接符 189"/>
              <p:cNvCxnSpPr/>
              <p:nvPr/>
            </p:nvCxnSpPr>
            <p:spPr>
              <a:xfrm flipV="1">
                <a:off x="1285852" y="2341539"/>
                <a:ext cx="0" cy="593725"/>
              </a:xfrm>
              <a:prstGeom prst="straightConnector1">
                <a:avLst/>
              </a:prstGeom>
              <a:ln>
                <a:headEnd type="none" w="sm" len="sm"/>
                <a:tailEnd type="arrow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2" name="矩形 191"/>
              <p:cNvSpPr/>
              <p:nvPr/>
            </p:nvSpPr>
            <p:spPr bwMode="auto">
              <a:xfrm>
                <a:off x="929701" y="2843458"/>
                <a:ext cx="611684" cy="41419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clrn</a:t>
                </a:r>
                <a:endParaRPr kumimoji="1" lang="en-US" altLang="zh-C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29821" name="等腰三角形 193"/>
              <p:cNvSpPr/>
              <p:nvPr/>
            </p:nvSpPr>
            <p:spPr>
              <a:xfrm>
                <a:off x="1714480" y="2184377"/>
                <a:ext cx="144462" cy="144462"/>
              </a:xfrm>
              <a:prstGeom prst="triangle">
                <a:avLst>
                  <a:gd name="adj" fmla="val 50000"/>
                </a:avLst>
              </a:prstGeom>
              <a:solidFill>
                <a:srgbClr val="00FFFF"/>
              </a:solidFill>
              <a:ln w="12700" cap="sq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wrap="none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zh-CN" sz="2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822" name="等腰三角形 194"/>
              <p:cNvSpPr/>
              <p:nvPr/>
            </p:nvSpPr>
            <p:spPr>
              <a:xfrm>
                <a:off x="8201054" y="5340327"/>
                <a:ext cx="144463" cy="142875"/>
              </a:xfrm>
              <a:prstGeom prst="triangle">
                <a:avLst>
                  <a:gd name="adj" fmla="val 50000"/>
                </a:avLst>
              </a:prstGeom>
              <a:solidFill>
                <a:srgbClr val="00FFFF"/>
              </a:solidFill>
              <a:ln w="12700" cap="sq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wrap="none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zh-CN" sz="2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823" name="等腰三角形 195"/>
              <p:cNvSpPr/>
              <p:nvPr/>
            </p:nvSpPr>
            <p:spPr>
              <a:xfrm>
                <a:off x="4532342" y="4573564"/>
                <a:ext cx="144462" cy="142875"/>
              </a:xfrm>
              <a:prstGeom prst="triangle">
                <a:avLst>
                  <a:gd name="adj" fmla="val 50000"/>
                </a:avLst>
              </a:prstGeom>
              <a:solidFill>
                <a:srgbClr val="00FFFF"/>
              </a:solidFill>
              <a:ln w="12700" cap="sq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wrap="none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zh-CN" sz="2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58" name="直接连接符 157"/>
              <p:cNvCxnSpPr/>
              <p:nvPr/>
            </p:nvCxnSpPr>
            <p:spPr bwMode="auto">
              <a:xfrm flipH="1">
                <a:off x="6545330" y="1369990"/>
                <a:ext cx="142873" cy="144462"/>
              </a:xfrm>
              <a:prstGeom prst="line">
                <a:avLst/>
              </a:prstGeom>
              <a:noFill/>
              <a:ln w="19050" cap="flat" cmpd="sng" algn="ctr">
                <a:solidFill>
                  <a:srgbClr val="FFC000"/>
                </a:solidFill>
                <a:prstDash val="solid"/>
              </a:ln>
              <a:effectLst/>
            </p:spPr>
          </p:cxnSp>
          <p:sp>
            <p:nvSpPr>
              <p:cNvPr id="159" name="矩形 158"/>
              <p:cNvSpPr/>
              <p:nvPr/>
            </p:nvSpPr>
            <p:spPr bwMode="auto">
              <a:xfrm>
                <a:off x="6635629" y="1232224"/>
                <a:ext cx="396868" cy="414338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28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826" name="直接箭头连接符 160"/>
              <p:cNvCxnSpPr/>
              <p:nvPr/>
            </p:nvCxnSpPr>
            <p:spPr>
              <a:xfrm flipV="1">
                <a:off x="1785918" y="2332717"/>
                <a:ext cx="0" cy="180000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</p:spPr>
          </p:cxnSp>
          <p:sp>
            <p:nvSpPr>
              <p:cNvPr id="163" name="矩形 162"/>
              <p:cNvSpPr/>
              <p:nvPr/>
            </p:nvSpPr>
            <p:spPr bwMode="auto">
              <a:xfrm>
                <a:off x="1596905" y="2355274"/>
                <a:ext cx="730238" cy="311150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clk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66" name="直接箭头连接符 165"/>
              <p:cNvCxnSpPr/>
              <p:nvPr/>
            </p:nvCxnSpPr>
            <p:spPr bwMode="auto">
              <a:xfrm flipV="1">
                <a:off x="8291550" y="5489552"/>
                <a:ext cx="0" cy="4318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05" name="矩形 86"/>
              <p:cNvSpPr/>
              <p:nvPr/>
            </p:nvSpPr>
            <p:spPr bwMode="auto">
              <a:xfrm>
                <a:off x="7924844" y="5895952"/>
                <a:ext cx="730238" cy="311150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clk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1276" name="TextBox 154"/>
              <p:cNvSpPr txBox="1">
                <a:spLocks noChangeArrowheads="1"/>
              </p:cNvSpPr>
              <p:nvPr/>
            </p:nvSpPr>
            <p:spPr bwMode="auto">
              <a:xfrm>
                <a:off x="3112017" y="680464"/>
                <a:ext cx="496373" cy="418864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</p:spPr>
            <p:txBody>
              <a:bodyPr wrap="square">
                <a:spAutoFit/>
              </a:bodyPr>
              <a:lstStyle/>
              <a:p>
                <a:pPr marR="0" defTabSz="914400">
                  <a:buClrTx/>
                  <a:buSzTx/>
                  <a:buFontTx/>
                  <a:defRPr/>
                </a:pPr>
                <a:r>
                  <a:rPr kumimoji="1" lang="en-US" altLang="zh-CN" sz="2000" b="1" kern="1200" cap="none" spc="0" normalizeH="0" baseline="0" noProof="0" dirty="0"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00</a:t>
                </a:r>
                <a:endParaRPr kumimoji="1" lang="en-US" altLang="zh-CN" sz="2000" b="1" kern="1200" cap="none" spc="0" normalizeH="0" baseline="0" noProof="0" dirty="0">
                  <a:solidFill>
                    <a:schemeClr val="bg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834" name="直接连接符 195"/>
              <p:cNvCxnSpPr/>
              <p:nvPr/>
            </p:nvCxnSpPr>
            <p:spPr>
              <a:xfrm>
                <a:off x="1596787" y="658089"/>
                <a:ext cx="357190" cy="1588"/>
              </a:xfrm>
              <a:prstGeom prst="line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29835" name="直接连接符 197"/>
              <p:cNvCxnSpPr/>
              <p:nvPr/>
            </p:nvCxnSpPr>
            <p:spPr>
              <a:xfrm rot="5400000">
                <a:off x="1322480" y="909122"/>
                <a:ext cx="468000" cy="1588"/>
              </a:xfrm>
              <a:prstGeom prst="line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</p:grpSp>
        <p:sp>
          <p:nvSpPr>
            <p:cNvPr id="204" name="矩形 203"/>
            <p:cNvSpPr/>
            <p:nvPr/>
          </p:nvSpPr>
          <p:spPr bwMode="auto">
            <a:xfrm>
              <a:off x="2051200" y="-197239"/>
              <a:ext cx="1204169" cy="30947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72000" tIns="0" rIns="0" bIns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宋体" panose="02010600030101010101" pitchFamily="2" charset="-122"/>
                  <a:cs typeface="+mn-ea"/>
                </a:rPr>
                <a:t>pcsource</a:t>
              </a:r>
              <a:endParaRPr kumimoji="0" lang="en-US" altLang="zh-CN" sz="2000" b="1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ea"/>
              </a:endParaRPr>
            </a:p>
          </p:txBody>
        </p:sp>
        <p:grpSp>
          <p:nvGrpSpPr>
            <p:cNvPr id="29713" name="组合 207"/>
            <p:cNvGrpSpPr/>
            <p:nvPr/>
          </p:nvGrpSpPr>
          <p:grpSpPr>
            <a:xfrm>
              <a:off x="5391150" y="2720975"/>
              <a:ext cx="930614" cy="295275"/>
              <a:chOff x="5391124" y="2720952"/>
              <a:chExt cx="930614" cy="295275"/>
            </a:xfrm>
          </p:grpSpPr>
          <p:cxnSp>
            <p:nvCxnSpPr>
              <p:cNvPr id="206" name="直接箭头连接符 205"/>
              <p:cNvCxnSpPr/>
              <p:nvPr/>
            </p:nvCxnSpPr>
            <p:spPr bwMode="auto">
              <a:xfrm flipH="1">
                <a:off x="5391124" y="2892402"/>
                <a:ext cx="360363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207" name="矩形 206"/>
              <p:cNvSpPr/>
              <p:nvPr/>
            </p:nvSpPr>
            <p:spPr bwMode="auto">
              <a:xfrm>
                <a:off x="5421625" y="2720952"/>
                <a:ext cx="900113" cy="29527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宋体" panose="02010600030101010101" pitchFamily="2" charset="-122"/>
                    <a:cs typeface="+mn-ea"/>
                  </a:rPr>
                  <a:t>regrt</a:t>
                </a:r>
                <a:endParaRPr kumimoji="0" lang="en-US" altLang="zh-C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4" name="组合 210"/>
            <p:cNvGrpSpPr/>
            <p:nvPr/>
          </p:nvGrpSpPr>
          <p:grpSpPr>
            <a:xfrm>
              <a:off x="5483348" y="3555832"/>
              <a:ext cx="1027222" cy="687434"/>
              <a:chOff x="5483505" y="3555770"/>
              <a:chExt cx="1027222" cy="687101"/>
            </a:xfrm>
          </p:grpSpPr>
          <p:cxnSp>
            <p:nvCxnSpPr>
              <p:cNvPr id="209" name="直接箭头连接符 208"/>
              <p:cNvCxnSpPr/>
              <p:nvPr/>
            </p:nvCxnSpPr>
            <p:spPr bwMode="auto">
              <a:xfrm>
                <a:off x="6111533" y="3838302"/>
                <a:ext cx="9941" cy="404569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210" name="矩形 209"/>
              <p:cNvSpPr/>
              <p:nvPr/>
            </p:nvSpPr>
            <p:spPr bwMode="auto">
              <a:xfrm>
                <a:off x="5483505" y="3555770"/>
                <a:ext cx="1027222" cy="64599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wrap="square" lIns="72000" tIns="0" rIns="0" bIns="0" anchor="ctr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aluimm</a:t>
                </a:r>
                <a:endParaRPr kumimoji="1" lang="en-US" altLang="zh-C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5" name="组合 213"/>
            <p:cNvGrpSpPr/>
            <p:nvPr/>
          </p:nvGrpSpPr>
          <p:grpSpPr>
            <a:xfrm>
              <a:off x="5529263" y="5059363"/>
              <a:ext cx="1285875" cy="1317109"/>
              <a:chOff x="5529237" y="5058819"/>
              <a:chExt cx="1285875" cy="1317633"/>
            </a:xfrm>
          </p:grpSpPr>
          <p:cxnSp>
            <p:nvCxnSpPr>
              <p:cNvPr id="212" name="直接箭头连接符 211"/>
              <p:cNvCxnSpPr/>
              <p:nvPr/>
            </p:nvCxnSpPr>
            <p:spPr bwMode="auto">
              <a:xfrm>
                <a:off x="6108674" y="5058819"/>
                <a:ext cx="0" cy="323979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213" name="矩形 212"/>
              <p:cNvSpPr/>
              <p:nvPr/>
            </p:nvSpPr>
            <p:spPr bwMode="auto">
              <a:xfrm>
                <a:off x="5529237" y="6053505"/>
                <a:ext cx="1285875" cy="322947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>
                <a:spAutoFit/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mem2reg</a:t>
                </a: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6" name="组合 216"/>
            <p:cNvGrpSpPr/>
            <p:nvPr/>
          </p:nvGrpSpPr>
          <p:grpSpPr>
            <a:xfrm>
              <a:off x="6687931" y="3056186"/>
              <a:ext cx="693872" cy="596652"/>
              <a:chOff x="6687960" y="3056163"/>
              <a:chExt cx="693872" cy="596652"/>
            </a:xfrm>
          </p:grpSpPr>
          <p:cxnSp>
            <p:nvCxnSpPr>
              <p:cNvPr id="215" name="直接箭头连接符 94"/>
              <p:cNvCxnSpPr/>
              <p:nvPr/>
            </p:nvCxnSpPr>
            <p:spPr bwMode="auto">
              <a:xfrm rot="10800000" flipV="1">
                <a:off x="6805642" y="3400402"/>
                <a:ext cx="252412" cy="252413"/>
              </a:xfrm>
              <a:prstGeom prst="bentConnector2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216" name="矩形 215"/>
              <p:cNvSpPr/>
              <p:nvPr/>
            </p:nvSpPr>
            <p:spPr bwMode="auto">
              <a:xfrm>
                <a:off x="6687960" y="3056163"/>
                <a:ext cx="693872" cy="41419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aluc</a:t>
                </a: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7" name="组合 221"/>
            <p:cNvGrpSpPr/>
            <p:nvPr/>
          </p:nvGrpSpPr>
          <p:grpSpPr>
            <a:xfrm>
              <a:off x="8232464" y="3568313"/>
              <a:ext cx="952334" cy="584014"/>
              <a:chOff x="8232480" y="3568427"/>
              <a:chExt cx="952316" cy="584477"/>
            </a:xfrm>
          </p:grpSpPr>
          <p:sp>
            <p:nvSpPr>
              <p:cNvPr id="218" name="矩形 217"/>
              <p:cNvSpPr/>
              <p:nvPr/>
            </p:nvSpPr>
            <p:spPr bwMode="auto">
              <a:xfrm>
                <a:off x="8232480" y="3568427"/>
                <a:ext cx="952316" cy="29098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wrap="square" lIns="72000" tIns="0" rIns="0" bIns="0" anchor="ctr">
                <a:spAutoFit/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wmem</a:t>
                </a: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   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19" name="直接箭头连接符 218"/>
              <p:cNvCxnSpPr/>
              <p:nvPr/>
            </p:nvCxnSpPr>
            <p:spPr bwMode="auto">
              <a:xfrm>
                <a:off x="8488329" y="3836741"/>
                <a:ext cx="0" cy="316163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</p:grpSp>
        <p:grpSp>
          <p:nvGrpSpPr>
            <p:cNvPr id="29718" name="组合 224"/>
            <p:cNvGrpSpPr/>
            <p:nvPr/>
          </p:nvGrpSpPr>
          <p:grpSpPr>
            <a:xfrm>
              <a:off x="4684192" y="5143641"/>
              <a:ext cx="737654" cy="285468"/>
              <a:chOff x="4684167" y="5143729"/>
              <a:chExt cx="737653" cy="285318"/>
            </a:xfrm>
          </p:grpSpPr>
          <p:cxnSp>
            <p:nvCxnSpPr>
              <p:cNvPr id="29722" name="直接箭头连接符 222"/>
              <p:cNvCxnSpPr/>
              <p:nvPr/>
            </p:nvCxnSpPr>
            <p:spPr>
              <a:xfrm rot="5400000">
                <a:off x="4792117" y="5178438"/>
                <a:ext cx="0" cy="215900"/>
              </a:xfrm>
              <a:prstGeom prst="straightConnector1">
                <a:avLst/>
              </a:prstGeom>
              <a:ln w="38100" cap="sq" cmpd="sng">
                <a:solidFill>
                  <a:srgbClr val="00FF00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224" name="矩形 223"/>
              <p:cNvSpPr/>
              <p:nvPr/>
            </p:nvSpPr>
            <p:spPr bwMode="auto">
              <a:xfrm>
                <a:off x="4804825" y="5143729"/>
                <a:ext cx="616995" cy="285318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宋体" panose="02010600030101010101" pitchFamily="2" charset="-122"/>
                    <a:cs typeface="+mn-ea"/>
                  </a:rPr>
                  <a:t>sext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9" name="组合 227"/>
            <p:cNvGrpSpPr/>
            <p:nvPr/>
          </p:nvGrpSpPr>
          <p:grpSpPr>
            <a:xfrm>
              <a:off x="3652838" y="3679825"/>
              <a:ext cx="1347108" cy="377825"/>
              <a:chOff x="3652867" y="3679802"/>
              <a:chExt cx="1347108" cy="377825"/>
            </a:xfrm>
          </p:grpSpPr>
          <p:cxnSp>
            <p:nvCxnSpPr>
              <p:cNvPr id="29720" name="直接箭头连接符 155"/>
              <p:cNvCxnSpPr/>
              <p:nvPr/>
            </p:nvCxnSpPr>
            <p:spPr>
              <a:xfrm>
                <a:off x="3652867" y="3883002"/>
                <a:ext cx="288925" cy="0"/>
              </a:xfrm>
              <a:prstGeom prst="straightConnector1">
                <a:avLst/>
              </a:prstGeom>
              <a:ln w="38100" cap="sq" cmpd="sng">
                <a:solidFill>
                  <a:srgbClr val="00FF00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227" name="矩形 226"/>
              <p:cNvSpPr/>
              <p:nvPr/>
            </p:nvSpPr>
            <p:spPr bwMode="auto">
              <a:xfrm>
                <a:off x="3952225" y="3679802"/>
                <a:ext cx="1047750" cy="3778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wreg</a:t>
                </a:r>
                <a:endParaRPr kumimoji="1" lang="en-US" altLang="zh-CN" sz="1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</p:grpSp>
      <p:grpSp>
        <p:nvGrpSpPr>
          <p:cNvPr id="106" name="组合 228"/>
          <p:cNvGrpSpPr/>
          <p:nvPr/>
        </p:nvGrpSpPr>
        <p:grpSpPr>
          <a:xfrm rot="0">
            <a:off x="3831590" y="5633720"/>
            <a:ext cx="1137920" cy="394335"/>
            <a:chOff x="2183217" y="5633804"/>
            <a:chExt cx="1188550" cy="414338"/>
          </a:xfrm>
        </p:grpSpPr>
        <p:cxnSp>
          <p:nvCxnSpPr>
            <p:cNvPr id="29709" name="直接箭头连接符 198"/>
            <p:cNvCxnSpPr/>
            <p:nvPr/>
          </p:nvCxnSpPr>
          <p:spPr>
            <a:xfrm rot="10800000">
              <a:off x="2183217" y="6013470"/>
              <a:ext cx="1188550" cy="1588"/>
            </a:xfrm>
            <a:prstGeom prst="straightConnector1">
              <a:avLst/>
            </a:prstGeom>
            <a:ln>
              <a:headEnd type="none" w="sm" len="sm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" name="矩形 181"/>
            <p:cNvSpPr/>
            <p:nvPr/>
          </p:nvSpPr>
          <p:spPr bwMode="auto">
            <a:xfrm>
              <a:off x="2311923" y="5633804"/>
              <a:ext cx="1001051" cy="414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72000" tIns="0" rIns="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func</a:t>
              </a:r>
              <a:r>
                <a: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[5:0</a:t>
              </a:r>
              <a:r>
                <a: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]</a:t>
              </a:r>
              <a:endParaRPr kumimoji="1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宋体" panose="02010600030101010101" pitchFamily="2" charset="-122"/>
                <a:cs typeface="+mn-ea"/>
              </a:endParaRPr>
            </a:p>
          </p:txBody>
        </p:sp>
      </p:grpSp>
      <p:cxnSp>
        <p:nvCxnSpPr>
          <p:cNvPr id="30724" name="直接连接符 178"/>
          <p:cNvCxnSpPr/>
          <p:nvPr/>
        </p:nvCxnSpPr>
        <p:spPr>
          <a:xfrm rot="5400000">
            <a:off x="3840480" y="4850765"/>
            <a:ext cx="2279015" cy="1270"/>
          </a:xfrm>
          <a:prstGeom prst="line">
            <a:avLst/>
          </a:prstGeom>
          <a:ln>
            <a:headEnd type="oval" w="lg" len="lg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 bwMode="auto">
          <a:xfrm flipV="1">
            <a:off x="4963160" y="252730"/>
            <a:ext cx="6350" cy="323850"/>
          </a:xfrm>
          <a:prstGeom prst="straightConnector1">
            <a:avLst/>
          </a:prstGeom>
          <a:noFill/>
          <a:ln w="38100" cap="flat" cmpd="sng" algn="ctr">
            <a:solidFill>
              <a:srgbClr val="00FF00"/>
            </a:solidFill>
            <a:prstDash val="solid"/>
            <a:headEnd type="arrow" w="med" len="med"/>
            <a:tailEnd type="none" w="med" len="med"/>
          </a:ln>
          <a:effectLst/>
        </p:spPr>
      </p:cxnSp>
      <p:sp>
        <p:nvSpPr>
          <p:cNvPr id="40" name="TextBox 154"/>
          <p:cNvSpPr txBox="1">
            <a:spLocks noChangeArrowheads="1"/>
          </p:cNvSpPr>
          <p:nvPr/>
        </p:nvSpPr>
        <p:spPr bwMode="auto">
          <a:xfrm>
            <a:off x="4752343" y="582319"/>
            <a:ext cx="475616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01</a:t>
            </a:r>
            <a:endParaRPr kumimoji="1" lang="en-US" altLang="zh-CN" sz="2000" b="1" kern="1200" cap="none" spc="0" normalizeH="0" baseline="0" noProof="0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41" name="TextBox 154"/>
          <p:cNvSpPr txBox="1">
            <a:spLocks noChangeArrowheads="1"/>
          </p:cNvSpPr>
          <p:nvPr/>
        </p:nvSpPr>
        <p:spPr bwMode="auto">
          <a:xfrm>
            <a:off x="4745358" y="829969"/>
            <a:ext cx="475616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10</a:t>
            </a:r>
            <a:endParaRPr kumimoji="1" lang="en-US" altLang="zh-CN" sz="2000" b="1" kern="1200" cap="none" spc="0" normalizeH="0" baseline="0" noProof="0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42" name="TextBox 154"/>
          <p:cNvSpPr txBox="1">
            <a:spLocks noChangeArrowheads="1"/>
          </p:cNvSpPr>
          <p:nvPr/>
        </p:nvSpPr>
        <p:spPr bwMode="auto">
          <a:xfrm>
            <a:off x="4745358" y="1404644"/>
            <a:ext cx="475616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11</a:t>
            </a:r>
            <a:endParaRPr kumimoji="1" lang="en-US" altLang="zh-CN" sz="2000" b="1" kern="1200" cap="none" spc="0" normalizeH="0" baseline="0" noProof="0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cxnSp>
        <p:nvCxnSpPr>
          <p:cNvPr id="43" name="直接箭头连接符 138"/>
          <p:cNvCxnSpPr/>
          <p:nvPr/>
        </p:nvCxnSpPr>
        <p:spPr>
          <a:xfrm flipH="1" flipV="1">
            <a:off x="5151120" y="1579880"/>
            <a:ext cx="1106805" cy="3810"/>
          </a:xfrm>
          <a:prstGeom prst="straightConnector1">
            <a:avLst/>
          </a:prstGeom>
          <a:ln w="28575" cap="sq" cmpd="sng">
            <a:solidFill>
              <a:srgbClr val="000000"/>
            </a:solidFill>
            <a:prstDash val="solid"/>
            <a:headEnd type="none" w="sm" len="sm"/>
            <a:tailEnd type="arrow" w="med" len="med"/>
          </a:ln>
        </p:spPr>
      </p:cxnSp>
      <p:sp>
        <p:nvSpPr>
          <p:cNvPr id="44" name="TextBox 154"/>
          <p:cNvSpPr txBox="1">
            <a:spLocks noChangeArrowheads="1"/>
          </p:cNvSpPr>
          <p:nvPr/>
        </p:nvSpPr>
        <p:spPr bwMode="auto">
          <a:xfrm>
            <a:off x="6277610" y="1382395"/>
            <a:ext cx="794385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32’b0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45" name="TextBox 154"/>
          <p:cNvSpPr txBox="1">
            <a:spLocks noChangeArrowheads="1"/>
          </p:cNvSpPr>
          <p:nvPr/>
        </p:nvSpPr>
        <p:spPr bwMode="auto">
          <a:xfrm>
            <a:off x="2733675" y="1827530"/>
            <a:ext cx="681990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npc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46" name="TextBox 154"/>
          <p:cNvSpPr txBox="1">
            <a:spLocks noChangeArrowheads="1"/>
          </p:cNvSpPr>
          <p:nvPr/>
        </p:nvSpPr>
        <p:spPr bwMode="auto">
          <a:xfrm>
            <a:off x="3968118" y="2514624"/>
            <a:ext cx="475616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pc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51" name="TextBox 154"/>
          <p:cNvSpPr txBox="1">
            <a:spLocks noChangeArrowheads="1"/>
          </p:cNvSpPr>
          <p:nvPr/>
        </p:nvSpPr>
        <p:spPr bwMode="auto">
          <a:xfrm>
            <a:off x="5356860" y="1057275"/>
            <a:ext cx="681990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pc4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61" name="TextBox 154"/>
          <p:cNvSpPr txBox="1">
            <a:spLocks noChangeArrowheads="1"/>
          </p:cNvSpPr>
          <p:nvPr/>
        </p:nvSpPr>
        <p:spPr bwMode="auto">
          <a:xfrm>
            <a:off x="6054090" y="896620"/>
            <a:ext cx="681990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jpc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63" name="TextBox 154"/>
          <p:cNvSpPr txBox="1">
            <a:spLocks noChangeArrowheads="1"/>
          </p:cNvSpPr>
          <p:nvPr/>
        </p:nvSpPr>
        <p:spPr bwMode="auto">
          <a:xfrm>
            <a:off x="5528310" y="433705"/>
            <a:ext cx="681990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bpc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52830" y="633095"/>
            <a:ext cx="613410" cy="467233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p>
            <a:r>
              <a:rPr lang="zh-CN" altLang="en-US" sz="2800" b="1">
                <a:solidFill>
                  <a:srgbClr val="002060"/>
                </a:solidFill>
              </a:rPr>
              <a:t>单周期</a:t>
            </a:r>
            <a:r>
              <a:rPr lang="en-US" altLang="zh-CN" sz="2800" b="1">
                <a:solidFill>
                  <a:srgbClr val="002060"/>
                </a:solidFill>
              </a:rPr>
              <a:t>CPU</a:t>
            </a:r>
            <a:r>
              <a:rPr lang="zh-CN" altLang="en-US" sz="2800" b="1">
                <a:solidFill>
                  <a:srgbClr val="002060"/>
                </a:solidFill>
              </a:rPr>
              <a:t>架构图（示意图）</a:t>
            </a:r>
            <a:endParaRPr lang="zh-CN" altLang="en-US" sz="2800" b="1">
              <a:solidFill>
                <a:srgbClr val="002060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427425"/>
            <a:ext cx="10969200" cy="705600"/>
          </a:xfrm>
        </p:spPr>
        <p:txBody>
          <a:bodyPr/>
          <a:p>
            <a:r>
              <a:rPr lang="zh-CN" altLang="en-US"/>
              <a:t>必备前驱知识二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260530"/>
            <a:ext cx="10969200" cy="4759200"/>
          </a:xfrm>
        </p:spPr>
        <p:txBody>
          <a:bodyPr>
            <a:normAutofit fontScale="30000"/>
          </a:bodyPr>
          <a:p>
            <a:r>
              <a:rPr lang="zh-CN" altLang="en-US" sz="8000" b="1">
                <a:solidFill>
                  <a:srgbClr val="FF0000"/>
                </a:solidFill>
              </a:rPr>
              <a:t>硬件描述语言（</a:t>
            </a:r>
            <a:r>
              <a:rPr lang="en-US" altLang="zh-CN" sz="8000" b="1">
                <a:solidFill>
                  <a:srgbClr val="FF0000"/>
                </a:solidFill>
              </a:rPr>
              <a:t>Hardwar</a:t>
            </a:r>
            <a:r>
              <a:rPr lang="en-US" altLang="zh-CN" sz="8000" b="1">
                <a:solidFill>
                  <a:srgbClr val="FF0000"/>
                </a:solidFill>
                <a:sym typeface="+mn-ea"/>
              </a:rPr>
              <a:t>e Description Languages</a:t>
            </a:r>
            <a:r>
              <a:rPr sz="8000" b="1">
                <a:solidFill>
                  <a:srgbClr val="FF0000"/>
                </a:solidFill>
                <a:sym typeface="+mn-ea"/>
              </a:rPr>
              <a:t>）</a:t>
            </a:r>
            <a:r>
              <a:rPr sz="8000" b="1">
                <a:sym typeface="+mn-ea"/>
              </a:rPr>
              <a:t>：设计硬件时使用的语言，常用的有</a:t>
            </a:r>
            <a:r>
              <a:rPr lang="en-US" altLang="zh-CN" sz="8000" b="1">
                <a:solidFill>
                  <a:srgbClr val="FF0000"/>
                </a:solidFill>
                <a:sym typeface="+mn-ea"/>
              </a:rPr>
              <a:t>Verilog HDL</a:t>
            </a:r>
            <a:r>
              <a:rPr sz="8000" b="1">
                <a:sym typeface="+mn-ea"/>
              </a:rPr>
              <a:t>和</a:t>
            </a:r>
            <a:r>
              <a:rPr lang="en-US" altLang="zh-CN" sz="8000" b="1">
                <a:solidFill>
                  <a:srgbClr val="FF0000"/>
                </a:solidFill>
                <a:sym typeface="+mn-ea"/>
              </a:rPr>
              <a:t>VHDL</a:t>
            </a:r>
            <a:endParaRPr sz="8000" b="1">
              <a:solidFill>
                <a:srgbClr val="FF0000"/>
              </a:solidFill>
              <a:sym typeface="+mn-ea"/>
            </a:endParaRPr>
          </a:p>
          <a:p>
            <a:r>
              <a:rPr sz="8000" b="1">
                <a:solidFill>
                  <a:srgbClr val="FF0000"/>
                </a:solidFill>
                <a:sym typeface="+mn-ea"/>
              </a:rPr>
              <a:t>【注意】</a:t>
            </a:r>
            <a:endParaRPr sz="8000" b="1">
              <a:solidFill>
                <a:srgbClr val="FF0000"/>
              </a:solidFill>
              <a:sym typeface="+mn-ea"/>
            </a:endParaRPr>
          </a:p>
          <a:p>
            <a:r>
              <a:rPr lang="en-US" altLang="zh-CN" sz="8000" b="1">
                <a:sym typeface="+mn-ea"/>
              </a:rPr>
              <a:t>1. </a:t>
            </a:r>
            <a:r>
              <a:rPr sz="8000" b="1">
                <a:sym typeface="+mn-ea"/>
              </a:rPr>
              <a:t>两者均为常用硬件描述语言，都有各自的</a:t>
            </a:r>
            <a:r>
              <a:rPr lang="en-US" altLang="zh-CN" sz="8000" b="1">
                <a:sym typeface="+mn-ea"/>
              </a:rPr>
              <a:t>IEEE</a:t>
            </a:r>
            <a:r>
              <a:rPr sz="8000" b="1">
                <a:sym typeface="+mn-ea"/>
              </a:rPr>
              <a:t>标准；</a:t>
            </a:r>
            <a:endParaRPr sz="8000" b="1">
              <a:sym typeface="+mn-ea"/>
            </a:endParaRPr>
          </a:p>
          <a:p>
            <a:r>
              <a:rPr lang="en-US" altLang="zh-CN" sz="8000" b="1">
                <a:sym typeface="+mn-ea"/>
              </a:rPr>
              <a:t>2. </a:t>
            </a:r>
            <a:r>
              <a:rPr sz="8000" b="1">
                <a:sym typeface="+mn-ea"/>
              </a:rPr>
              <a:t>两者是不同的硬件描述语言；</a:t>
            </a:r>
            <a:endParaRPr sz="8000" b="1">
              <a:sym typeface="+mn-ea"/>
            </a:endParaRPr>
          </a:p>
          <a:p>
            <a:r>
              <a:rPr lang="en-US" altLang="zh-CN" sz="8000" b="1">
                <a:sym typeface="+mn-ea"/>
              </a:rPr>
              <a:t>3. Verilog HDL</a:t>
            </a:r>
            <a:r>
              <a:rPr sz="8000" b="1">
                <a:sym typeface="+mn-ea"/>
              </a:rPr>
              <a:t>带有</a:t>
            </a:r>
            <a:r>
              <a:rPr lang="en-US" altLang="zh-CN" sz="8000" b="1">
                <a:sym typeface="+mn-ea"/>
              </a:rPr>
              <a:t>C</a:t>
            </a:r>
            <a:r>
              <a:rPr sz="8000" b="1">
                <a:sym typeface="+mn-ea"/>
              </a:rPr>
              <a:t>语言的风格，是工业界常用的</a:t>
            </a:r>
            <a:r>
              <a:rPr lang="en-US" altLang="zh-CN" sz="8000" b="1">
                <a:sym typeface="+mn-ea"/>
              </a:rPr>
              <a:t>HDL</a:t>
            </a:r>
            <a:r>
              <a:rPr sz="8000" b="1">
                <a:sym typeface="+mn-ea"/>
              </a:rPr>
              <a:t>；</a:t>
            </a:r>
            <a:endParaRPr sz="8000" b="1">
              <a:sym typeface="+mn-ea"/>
            </a:endParaRPr>
          </a:p>
          <a:p>
            <a:r>
              <a:rPr lang="en-US" altLang="zh-CN" sz="8000" b="1">
                <a:sym typeface="+mn-ea"/>
              </a:rPr>
              <a:t>4. VHDL</a:t>
            </a:r>
            <a:r>
              <a:rPr sz="8000" b="1">
                <a:sym typeface="+mn-ea"/>
              </a:rPr>
              <a:t>带有</a:t>
            </a:r>
            <a:r>
              <a:rPr lang="en-US" altLang="zh-CN" sz="8000" b="1">
                <a:sym typeface="+mn-ea"/>
              </a:rPr>
              <a:t>C++</a:t>
            </a:r>
            <a:r>
              <a:rPr sz="8000" b="1">
                <a:sym typeface="+mn-ea"/>
              </a:rPr>
              <a:t>的风格；</a:t>
            </a:r>
            <a:endParaRPr lang="en-US" altLang="zh-CN" sz="8000" b="1">
              <a:sym typeface="+mn-ea"/>
            </a:endParaRPr>
          </a:p>
          <a:p>
            <a:r>
              <a:rPr lang="en-US" altLang="zh-CN" sz="8000" b="1">
                <a:sym typeface="+mn-ea"/>
              </a:rPr>
              <a:t>5. </a:t>
            </a:r>
            <a:r>
              <a:rPr sz="8000" b="1">
                <a:sym typeface="+mn-ea"/>
              </a:rPr>
              <a:t>本课程只使用Verilog HDL语言。</a:t>
            </a:r>
            <a:endParaRPr lang="zh-CN" altLang="en-US" sz="8000" b="1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3665" y="2499360"/>
            <a:ext cx="2506980" cy="352044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CPU</a:t>
            </a:r>
            <a:r>
              <a:t>支持的指令集（</a:t>
            </a:r>
            <a:r>
              <a:rPr lang="en-US" altLang="zh-CN"/>
              <a:t>32</a:t>
            </a:r>
            <a:r>
              <a:t>位）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buFont typeface="Wingdings" panose="05000000000000000000" charset="0"/>
            </a:pPr>
            <a:r>
              <a:rPr lang="zh-CN" altLang="en-US" sz="2000" b="1">
                <a:solidFill>
                  <a:srgbClr val="FF0000"/>
                </a:solidFill>
              </a:rPr>
              <a:t>【说明】</a:t>
            </a:r>
            <a:endParaRPr lang="zh-CN" altLang="en-US" sz="2000" b="1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b="1"/>
              <a:t>Op和Op2为操作码；</a:t>
            </a:r>
            <a:endParaRPr lang="zh-CN" altLang="en-US" sz="2000" b="1"/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b="1"/>
              <a:t>shift保存要移位的位数；</a:t>
            </a:r>
            <a:endParaRPr lang="zh-CN" altLang="en-US" sz="2000" b="1"/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b="1"/>
              <a:t>rd、rs、rt分别为寄存器的寄存器号；</a:t>
            </a:r>
            <a:endParaRPr lang="zh-CN" altLang="en-US" sz="2000" b="1"/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b="1"/>
              <a:t>immediate保存立即数的低16位；</a:t>
            </a:r>
            <a:endParaRPr lang="zh-CN" altLang="en-US" sz="2000" b="1"/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b="1"/>
              <a:t>offset为偏移量；</a:t>
            </a:r>
            <a:endParaRPr lang="zh-CN" altLang="en-US" sz="2000" b="1"/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 b="1"/>
              <a:t>address为转移地址的一部分。</a:t>
            </a:r>
            <a:endParaRPr lang="zh-CN" altLang="en-US" sz="2000" b="1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9855" y="1490345"/>
            <a:ext cx="6288405" cy="434975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870190" y="1490345"/>
            <a:ext cx="1063625" cy="30670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en-US" altLang="zh-CN" sz="1400"/>
              <a:t>func[25:20]</a:t>
            </a:r>
            <a:endParaRPr lang="en-US" altLang="zh-CN" sz="1400"/>
          </a:p>
        </p:txBody>
      </p:sp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671830"/>
            <a:ext cx="10968990" cy="6217285"/>
          </a:xfrm>
        </p:spPr>
        <p:txBody>
          <a:bodyPr>
            <a:normAutofit/>
          </a:bodyPr>
          <a:p>
            <a:r>
              <a:rPr lang="zh-CN" altLang="en-US" b="1"/>
              <a:t>1、对于</a:t>
            </a:r>
            <a:r>
              <a:rPr lang="zh-CN" altLang="en-US" b="1">
                <a:solidFill>
                  <a:srgbClr val="FF0000"/>
                </a:solidFill>
              </a:rPr>
              <a:t>add/and/or/xor  rd,rs,rt</a:t>
            </a:r>
            <a:r>
              <a:rPr lang="zh-CN" altLang="en-US" b="1"/>
              <a:t>指令  //</a:t>
            </a:r>
            <a:r>
              <a:rPr lang="zh-CN" altLang="en-US" b="1">
                <a:solidFill>
                  <a:srgbClr val="FF0000"/>
                </a:solidFill>
              </a:rPr>
              <a:t>rd</a:t>
            </a:r>
            <a:r>
              <a:rPr lang="zh-CN" altLang="en-US" b="1">
                <a:solidFill>
                  <a:srgbClr val="FF0000"/>
                </a:solidFill>
                <a:cs typeface="Arial" panose="020B0604020202020204" pitchFamily="34" charset="0"/>
              </a:rPr>
              <a:t>←</a:t>
            </a:r>
            <a:r>
              <a:rPr lang="zh-CN" altLang="en-US" b="1">
                <a:solidFill>
                  <a:srgbClr val="FF0000"/>
                </a:solidFill>
              </a:rPr>
              <a:t>rs  op  rt </a:t>
            </a:r>
            <a:r>
              <a:rPr lang="zh-CN" altLang="en-US" b="1"/>
              <a:t> 其中rs和rt是两个源操作数的寄存器号，rd是目的寄存器号。</a:t>
            </a:r>
            <a:endParaRPr lang="zh-CN" altLang="en-US" b="1"/>
          </a:p>
          <a:p>
            <a:r>
              <a:rPr lang="zh-CN" altLang="en-US" b="1"/>
              <a:t>2、对于</a:t>
            </a:r>
            <a:r>
              <a:rPr lang="zh-CN" altLang="en-US" b="1">
                <a:solidFill>
                  <a:srgbClr val="FF0000"/>
                </a:solidFill>
              </a:rPr>
              <a:t>sll/srl  rd,rt,shift</a:t>
            </a:r>
            <a:r>
              <a:rPr lang="zh-CN" altLang="en-US" b="1"/>
              <a:t> 指令  //</a:t>
            </a:r>
            <a:r>
              <a:rPr lang="zh-CN" altLang="en-US" b="1">
                <a:solidFill>
                  <a:srgbClr val="FF0000"/>
                </a:solidFill>
              </a:rPr>
              <a:t>rd</a:t>
            </a:r>
            <a:r>
              <a:rPr b="1">
                <a:solidFill>
                  <a:srgbClr val="FF0000"/>
                </a:solidFill>
                <a:cs typeface="Arial" panose="020B0604020202020204" pitchFamily="34" charset="0"/>
                <a:sym typeface="+mn-ea"/>
              </a:rPr>
              <a:t>←</a:t>
            </a:r>
            <a:r>
              <a:rPr lang="zh-CN" altLang="en-US" b="1">
                <a:solidFill>
                  <a:srgbClr val="FF0000"/>
                </a:solidFill>
              </a:rPr>
              <a:t>rt</a:t>
            </a:r>
            <a:r>
              <a:rPr lang="zh-CN" altLang="en-US" b="1"/>
              <a:t>  </a:t>
            </a:r>
            <a:r>
              <a:rPr lang="zh-CN" altLang="en-US" b="1">
                <a:solidFill>
                  <a:srgbClr val="FF0000"/>
                </a:solidFill>
              </a:rPr>
              <a:t>移动  shift位</a:t>
            </a:r>
            <a:endParaRPr lang="zh-CN" altLang="en-US" b="1"/>
          </a:p>
          <a:p>
            <a:r>
              <a:rPr lang="zh-CN" altLang="en-US" b="1"/>
              <a:t>3、对于</a:t>
            </a:r>
            <a:r>
              <a:rPr lang="zh-CN" altLang="en-US" b="1">
                <a:solidFill>
                  <a:srgbClr val="FF0000"/>
                </a:solidFill>
              </a:rPr>
              <a:t>addi  rt,rs,imm</a:t>
            </a:r>
            <a:r>
              <a:rPr lang="zh-CN" altLang="en-US" b="1"/>
              <a:t> 指令  //</a:t>
            </a:r>
            <a:r>
              <a:rPr lang="zh-CN" altLang="en-US" b="1">
                <a:solidFill>
                  <a:srgbClr val="FF0000"/>
                </a:solidFill>
              </a:rPr>
              <a:t>rt</a:t>
            </a:r>
            <a:r>
              <a:rPr b="1">
                <a:solidFill>
                  <a:srgbClr val="FF0000"/>
                </a:solidFill>
                <a:cs typeface="Arial" panose="020B0604020202020204" pitchFamily="34" charset="0"/>
                <a:sym typeface="+mn-ea"/>
              </a:rPr>
              <a:t>←</a:t>
            </a:r>
            <a:r>
              <a:rPr lang="zh-CN" altLang="en-US" b="1">
                <a:solidFill>
                  <a:srgbClr val="FF0000"/>
                </a:solidFill>
              </a:rPr>
              <a:t>rs+imm(符号拓展)</a:t>
            </a:r>
            <a:r>
              <a:rPr lang="zh-CN" altLang="en-US" b="1"/>
              <a:t>  rt是目的寄存器号，立即数要做符号拓展到32位。</a:t>
            </a:r>
            <a:endParaRPr lang="zh-CN" altLang="en-US" b="1"/>
          </a:p>
          <a:p>
            <a:r>
              <a:rPr lang="zh-CN" altLang="en-US" b="1"/>
              <a:t>4、对于</a:t>
            </a:r>
            <a:r>
              <a:rPr lang="zh-CN" altLang="en-US" b="1">
                <a:solidFill>
                  <a:srgbClr val="FF0000"/>
                </a:solidFill>
              </a:rPr>
              <a:t>andi/ori/xori  rt,rs,imm</a:t>
            </a:r>
            <a:r>
              <a:rPr lang="zh-CN" altLang="en-US" b="1"/>
              <a:t> 指令  //</a:t>
            </a:r>
            <a:r>
              <a:rPr lang="zh-CN" altLang="en-US" b="1">
                <a:solidFill>
                  <a:srgbClr val="FF0000"/>
                </a:solidFill>
              </a:rPr>
              <a:t>rt</a:t>
            </a:r>
            <a:r>
              <a:rPr b="1">
                <a:solidFill>
                  <a:srgbClr val="FF0000"/>
                </a:solidFill>
                <a:cs typeface="Arial" panose="020B0604020202020204" pitchFamily="34" charset="0"/>
                <a:sym typeface="+mn-ea"/>
              </a:rPr>
              <a:t>←</a:t>
            </a:r>
            <a:r>
              <a:rPr lang="zh-CN" altLang="en-US" b="1">
                <a:solidFill>
                  <a:srgbClr val="FF0000"/>
                </a:solidFill>
              </a:rPr>
              <a:t>rs  op  imm(零拓展)</a:t>
            </a:r>
            <a:r>
              <a:rPr lang="zh-CN" altLang="en-US" b="1"/>
              <a:t> 因为是逻辑指令，所以是零拓展。</a:t>
            </a:r>
            <a:endParaRPr lang="zh-CN" altLang="en-US" b="1"/>
          </a:p>
          <a:p>
            <a:r>
              <a:rPr lang="zh-CN" altLang="en-US" b="1"/>
              <a:t>5、对于</a:t>
            </a:r>
            <a:r>
              <a:rPr lang="zh-CN" altLang="en-US" b="1">
                <a:solidFill>
                  <a:srgbClr val="FF0000"/>
                </a:solidFill>
              </a:rPr>
              <a:t>load  rt,offset(rs) </a:t>
            </a:r>
            <a:r>
              <a:rPr lang="zh-CN" altLang="en-US" b="1"/>
              <a:t> 指令  //</a:t>
            </a:r>
            <a:r>
              <a:rPr lang="zh-CN" altLang="en-US" b="1">
                <a:solidFill>
                  <a:srgbClr val="FF0000"/>
                </a:solidFill>
              </a:rPr>
              <a:t>rt</a:t>
            </a:r>
            <a:r>
              <a:rPr b="1">
                <a:solidFill>
                  <a:srgbClr val="FF0000"/>
                </a:solidFill>
                <a:cs typeface="Arial" panose="020B0604020202020204" pitchFamily="34" charset="0"/>
                <a:sym typeface="+mn-ea"/>
              </a:rPr>
              <a:t>←</a:t>
            </a:r>
            <a:r>
              <a:rPr lang="zh-CN" altLang="en-US" b="1">
                <a:solidFill>
                  <a:srgbClr val="FF0000"/>
                </a:solidFill>
              </a:rPr>
              <a:t>memory[rs+offset]</a:t>
            </a:r>
            <a:r>
              <a:rPr lang="zh-CN" altLang="en-US" b="1"/>
              <a:t>  load是一条取存储器字的指令。寄存器rs的内容与符号拓展的offset相加得到存储器地址。从存储器取来的数据存入rt寄存器。</a:t>
            </a:r>
            <a:endParaRPr lang="zh-CN" altLang="en-US" b="1"/>
          </a:p>
          <a:p>
            <a:r>
              <a:rPr lang="zh-CN" altLang="en-US" b="1"/>
              <a:t>6、对于</a:t>
            </a:r>
            <a:r>
              <a:rPr lang="zh-CN" altLang="en-US" b="1">
                <a:solidFill>
                  <a:srgbClr val="FF0000"/>
                </a:solidFill>
              </a:rPr>
              <a:t>store  rt,offset(rs)</a:t>
            </a:r>
            <a:r>
              <a:rPr lang="zh-CN" altLang="en-US" b="1"/>
              <a:t>  指令  // </a:t>
            </a:r>
            <a:r>
              <a:rPr lang="zh-CN" altLang="en-US" b="1">
                <a:solidFill>
                  <a:srgbClr val="FF0000"/>
                </a:solidFill>
              </a:rPr>
              <a:t>memory[rs+offset]</a:t>
            </a:r>
            <a:r>
              <a:rPr b="1">
                <a:solidFill>
                  <a:srgbClr val="FF0000"/>
                </a:solidFill>
                <a:cs typeface="Arial" panose="020B0604020202020204" pitchFamily="34" charset="0"/>
                <a:sym typeface="+mn-ea"/>
              </a:rPr>
              <a:t>←</a:t>
            </a:r>
            <a:r>
              <a:rPr lang="zh-CN" altLang="en-US" b="1">
                <a:solidFill>
                  <a:srgbClr val="FF0000"/>
                </a:solidFill>
              </a:rPr>
              <a:t>rt</a:t>
            </a:r>
            <a:r>
              <a:rPr lang="zh-CN" altLang="en-US" b="1"/>
              <a:t>  store是一条存字指令。存储器地址的计算方法与load相同。</a:t>
            </a:r>
            <a:endParaRPr lang="zh-CN" altLang="en-US" b="1"/>
          </a:p>
          <a:p>
            <a:r>
              <a:rPr lang="zh-CN" altLang="en-US" b="1"/>
              <a:t>7、对于</a:t>
            </a:r>
            <a:r>
              <a:rPr lang="zh-CN" altLang="en-US" b="1">
                <a:solidFill>
                  <a:srgbClr val="FF0000"/>
                </a:solidFill>
              </a:rPr>
              <a:t>beq  rs,rt,label</a:t>
            </a:r>
            <a:r>
              <a:rPr lang="zh-CN" altLang="en-US" b="1"/>
              <a:t>指令  //</a:t>
            </a:r>
            <a:r>
              <a:rPr lang="zh-CN" altLang="en-US" b="1">
                <a:solidFill>
                  <a:srgbClr val="FF0000"/>
                </a:solidFill>
              </a:rPr>
              <a:t>if(rs==rt)  PC</a:t>
            </a:r>
            <a:r>
              <a:rPr b="1">
                <a:solidFill>
                  <a:srgbClr val="FF0000"/>
                </a:solidFill>
                <a:cs typeface="Arial" panose="020B0604020202020204" pitchFamily="34" charset="0"/>
                <a:sym typeface="+mn-ea"/>
              </a:rPr>
              <a:t>←</a:t>
            </a:r>
            <a:r>
              <a:rPr lang="zh-CN" altLang="en-US" b="1">
                <a:solidFill>
                  <a:srgbClr val="FF0000"/>
                </a:solidFill>
              </a:rPr>
              <a:t>label</a:t>
            </a:r>
            <a:endParaRPr lang="zh-CN" altLang="en-US" b="1"/>
          </a:p>
          <a:p>
            <a:r>
              <a:rPr lang="zh-CN" altLang="en-US" b="1"/>
              <a:t>beq是一条条件转移指令。当寄存器rs内容与rt相等时，转移到label。如果程序计数器PC是beq的指令地址，则</a:t>
            </a:r>
            <a:r>
              <a:rPr lang="zh-CN" altLang="en-US" b="1">
                <a:solidFill>
                  <a:srgbClr val="002060"/>
                </a:solidFill>
              </a:rPr>
              <a:t>label=PC+4+offset&lt;&lt;2</a:t>
            </a:r>
            <a:r>
              <a:rPr lang="zh-CN" altLang="en-US" b="1"/>
              <a:t>。offset左移两位导致PC的最低两位永远是0，这是因为PC是字节地址，而一条指令要占4个字节。offset要进行符号拓展，因为beq能实现向前和向后两种转移。</a:t>
            </a:r>
            <a:endParaRPr lang="zh-CN" altLang="en-US" b="1"/>
          </a:p>
          <a:p>
            <a:r>
              <a:rPr lang="zh-CN" altLang="en-US" b="1"/>
              <a:t>8、bne指令与beq类似，当寄存器rs内容与rt不相等时，转移到label。</a:t>
            </a:r>
            <a:endParaRPr lang="zh-CN" altLang="en-US" b="1"/>
          </a:p>
          <a:p>
            <a:r>
              <a:rPr lang="zh-CN" altLang="en-US" b="1"/>
              <a:t>9、对于</a:t>
            </a:r>
            <a:r>
              <a:rPr lang="zh-CN" altLang="en-US" b="1">
                <a:solidFill>
                  <a:srgbClr val="FF0000"/>
                </a:solidFill>
              </a:rPr>
              <a:t>jump  target</a:t>
            </a:r>
            <a:r>
              <a:rPr lang="zh-CN" altLang="en-US" b="1"/>
              <a:t>指令  //</a:t>
            </a:r>
            <a:r>
              <a:rPr lang="zh-CN" altLang="en-US" b="1">
                <a:solidFill>
                  <a:srgbClr val="FF0000"/>
                </a:solidFill>
              </a:rPr>
              <a:t>PC</a:t>
            </a:r>
            <a:r>
              <a:rPr b="1">
                <a:solidFill>
                  <a:srgbClr val="FF0000"/>
                </a:solidFill>
                <a:cs typeface="Arial" panose="020B0604020202020204" pitchFamily="34" charset="0"/>
                <a:sym typeface="+mn-ea"/>
              </a:rPr>
              <a:t>←</a:t>
            </a:r>
            <a:r>
              <a:rPr lang="zh-CN" altLang="en-US" b="1">
                <a:solidFill>
                  <a:srgbClr val="FF0000"/>
                </a:solidFill>
              </a:rPr>
              <a:t>target</a:t>
            </a:r>
            <a:r>
              <a:rPr lang="zh-CN" altLang="en-US" b="1"/>
              <a:t>  jump是一条跳转指令。target是转移的目标地址，32位，由3部分组成：最高4位来自于PC+4的高4位，中间26位是指令中的address，最低两位为0。</a:t>
            </a:r>
            <a:endParaRPr lang="zh-CN" altLang="en-US" b="1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716280"/>
            <a:ext cx="10968990" cy="5533390"/>
          </a:xfrm>
        </p:spPr>
        <p:txBody>
          <a:bodyPr>
            <a:normAutofit lnSpcReduction="10000"/>
          </a:bodyPr>
          <a:p>
            <a:r>
              <a:rPr lang="zh-CN" altLang="en-US" sz="2000" b="1"/>
              <a:t>【示例】如图所示，创建模块</a:t>
            </a:r>
            <a:r>
              <a:rPr lang="en-US" altLang="zh-CN" sz="2000" b="1"/>
              <a:t>Inst_ROM</a:t>
            </a:r>
            <a:r>
              <a:rPr altLang="zh-CN" sz="2000" b="1"/>
              <a:t>，在指令存储器中预存一段指令。</a:t>
            </a:r>
            <a:endParaRPr altLang="zh-CN" sz="2000" b="1"/>
          </a:p>
          <a:p>
            <a:endParaRPr lang="zh-CN" altLang="zh-CN"/>
          </a:p>
          <a:p>
            <a:endParaRPr lang="zh-CN" altLang="zh-CN"/>
          </a:p>
          <a:p>
            <a:endParaRPr lang="zh-CN" altLang="zh-CN"/>
          </a:p>
          <a:p>
            <a:endParaRPr lang="zh-CN" altLang="zh-CN"/>
          </a:p>
          <a:p>
            <a:endParaRPr lang="zh-CN" altLang="zh-CN"/>
          </a:p>
          <a:p>
            <a:endParaRPr lang="zh-CN" altLang="zh-CN"/>
          </a:p>
          <a:p>
            <a:endParaRPr lang="zh-CN" altLang="zh-CN"/>
          </a:p>
          <a:p>
            <a:r>
              <a:rPr altLang="zh-CN" sz="2000" b="1">
                <a:solidFill>
                  <a:srgbClr val="0070C0"/>
                </a:solidFill>
              </a:rPr>
              <a:t>以</a:t>
            </a:r>
            <a:r>
              <a:rPr lang="en-US" altLang="zh-CN" sz="2000" b="1">
                <a:solidFill>
                  <a:srgbClr val="0070C0"/>
                </a:solidFill>
              </a:rPr>
              <a:t>assign rom[6'h01] = 32'h14001021</a:t>
            </a:r>
            <a:r>
              <a:rPr altLang="zh-CN" sz="2000" b="1">
                <a:solidFill>
                  <a:srgbClr val="0070C0"/>
                </a:solidFill>
              </a:rPr>
              <a:t>为例</a:t>
            </a:r>
            <a:endParaRPr altLang="zh-CN" b="1">
              <a:solidFill>
                <a:srgbClr val="0070C0"/>
              </a:solidFill>
            </a:endParaRPr>
          </a:p>
          <a:p>
            <a:r>
              <a:rPr altLang="zh-CN" sz="2000" b="1">
                <a:solidFill>
                  <a:srgbClr val="0070C0"/>
                </a:solidFill>
              </a:rPr>
              <a:t>【分析】</a:t>
            </a:r>
            <a:r>
              <a:rPr altLang="zh-CN" sz="2000" b="1"/>
              <a:t>由于指令条数有限，只需要指定</a:t>
            </a:r>
            <a:r>
              <a:rPr lang="en-US" altLang="zh-CN" sz="2000" b="1"/>
              <a:t>rom</a:t>
            </a:r>
            <a:r>
              <a:rPr sz="2000" b="1"/>
              <a:t>空间一部分，因此</a:t>
            </a:r>
            <a:r>
              <a:rPr lang="en-US" altLang="zh-CN" sz="2000" b="1"/>
              <a:t>32</a:t>
            </a:r>
            <a:r>
              <a:rPr altLang="zh-CN" sz="2000" b="1"/>
              <a:t>根</a:t>
            </a:r>
            <a:r>
              <a:rPr sz="2000" b="1"/>
              <a:t>地址线只需要用</a:t>
            </a:r>
            <a:r>
              <a:rPr lang="en-US" altLang="zh-CN" sz="2000" b="1"/>
              <a:t>6</a:t>
            </a:r>
            <a:r>
              <a:rPr sz="2000" b="1"/>
              <a:t>根足够。地址从</a:t>
            </a:r>
            <a:r>
              <a:rPr lang="en-US" altLang="zh-CN" sz="2000" b="1"/>
              <a:t>0</a:t>
            </a:r>
            <a:r>
              <a:rPr sz="2000" b="1"/>
              <a:t>开始编号，每个地址存放</a:t>
            </a:r>
            <a:r>
              <a:rPr lang="en-US" altLang="zh-CN" sz="2000" b="1"/>
              <a:t>32</a:t>
            </a:r>
            <a:r>
              <a:rPr sz="2000" b="1"/>
              <a:t>位指令代码。由此可见，地址为</a:t>
            </a:r>
            <a:r>
              <a:rPr lang="en-US" altLang="zh-CN" sz="2000" b="1"/>
              <a:t>1</a:t>
            </a:r>
            <a:r>
              <a:rPr sz="2000" b="1"/>
              <a:t>的空间存放的指令展开为</a:t>
            </a:r>
            <a:endParaRPr sz="2000" b="1"/>
          </a:p>
          <a:p>
            <a:r>
              <a:rPr lang="en-US" altLang="zh-CN" b="1"/>
              <a:t>0001 0100 0000 0000 0001 0000 0010 0001</a:t>
            </a:r>
            <a:endParaRPr lang="zh-CN" altLang="en-US" b="1"/>
          </a:p>
          <a:p>
            <a:endParaRPr lang="zh-CN" altLang="en-US" b="1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745" y="1216660"/>
            <a:ext cx="8580120" cy="2839720"/>
          </a:xfrm>
          <a:prstGeom prst="rect">
            <a:avLst/>
          </a:prstGeom>
        </p:spPr>
      </p:pic>
      <p:cxnSp>
        <p:nvCxnSpPr>
          <p:cNvPr id="5" name="直接连接符 4"/>
          <p:cNvCxnSpPr/>
          <p:nvPr/>
        </p:nvCxnSpPr>
        <p:spPr>
          <a:xfrm>
            <a:off x="674370" y="5843270"/>
            <a:ext cx="746760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1456690" y="5896610"/>
            <a:ext cx="2001520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3475990" y="5852160"/>
            <a:ext cx="614045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4143375" y="5878830"/>
            <a:ext cx="533400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727710" y="5858510"/>
            <a:ext cx="6394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addi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1964055" y="5896610"/>
            <a:ext cx="9867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zh-CN"/>
              <a:t>0x0004</a:t>
            </a:r>
            <a:endParaRPr lang="en-US" altLang="zh-CN"/>
          </a:p>
        </p:txBody>
      </p:sp>
      <p:sp>
        <p:nvSpPr>
          <p:cNvPr id="11" name="文本框 10"/>
          <p:cNvSpPr txBox="1"/>
          <p:nvPr/>
        </p:nvSpPr>
        <p:spPr>
          <a:xfrm>
            <a:off x="3547110" y="5852160"/>
            <a:ext cx="471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r1</a:t>
            </a:r>
            <a:endParaRPr lang="en-US" altLang="zh-CN"/>
          </a:p>
        </p:txBody>
      </p:sp>
      <p:sp>
        <p:nvSpPr>
          <p:cNvPr id="12" name="文本框 11"/>
          <p:cNvSpPr txBox="1"/>
          <p:nvPr/>
        </p:nvSpPr>
        <p:spPr>
          <a:xfrm>
            <a:off x="4204970" y="5896610"/>
            <a:ext cx="471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r1</a:t>
            </a:r>
            <a:endParaRPr lang="en-US" altLang="zh-CN"/>
          </a:p>
        </p:txBody>
      </p:sp>
      <p:cxnSp>
        <p:nvCxnSpPr>
          <p:cNvPr id="13" name="直接连接符 12"/>
          <p:cNvCxnSpPr/>
          <p:nvPr/>
        </p:nvCxnSpPr>
        <p:spPr>
          <a:xfrm>
            <a:off x="932180" y="2800985"/>
            <a:ext cx="715137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曲线连接符 13"/>
          <p:cNvCxnSpPr/>
          <p:nvPr/>
        </p:nvCxnSpPr>
        <p:spPr>
          <a:xfrm rot="10800000" flipV="1">
            <a:off x="4880610" y="2684780"/>
            <a:ext cx="3246755" cy="3086735"/>
          </a:xfrm>
          <a:prstGeom prst="curvedConnector3">
            <a:avLst>
              <a:gd name="adj1" fmla="val -112869"/>
            </a:avLst>
          </a:prstGeom>
          <a:ln w="28575" cmpd="thickThin">
            <a:solidFill>
              <a:schemeClr val="accent1">
                <a:shade val="50000"/>
              </a:schemeClr>
            </a:solidFill>
            <a:prstDash val="sysDot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上箭头 14"/>
          <p:cNvSpPr/>
          <p:nvPr/>
        </p:nvSpPr>
        <p:spPr>
          <a:xfrm>
            <a:off x="737235" y="2791460"/>
            <a:ext cx="191770" cy="1466215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 bwMode="auto">
          <a:xfrm>
            <a:off x="2654300" y="5464175"/>
            <a:ext cx="1163320" cy="883920"/>
          </a:xfrm>
          <a:prstGeom prst="roundRect">
            <a:avLst/>
          </a:prstGeom>
          <a:solidFill>
            <a:srgbClr val="FFFFFF">
              <a:lumMod val="75000"/>
            </a:srgbClr>
          </a:solidFill>
          <a:ln w="38100" cap="sq" cmpd="sng" algn="ctr">
            <a:solidFill>
              <a:srgbClr val="00FFFF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wrap="none"/>
          <a:lstStyle/>
          <a:p>
            <a:pPr marL="0" marR="0" lvl="0" indent="0" algn="ctr" defTabSz="914400" rtl="0" eaLnBrk="1" fontAlgn="base" latinLnBrk="0" hangingPunct="1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charset="-122"/>
                <a:ea typeface="黑体" panose="02010609060101010101" charset="-122"/>
                <a:cs typeface="+mn-ea"/>
              </a:rPr>
              <a:t>控制</a:t>
            </a:r>
            <a:endParaRPr kumimoji="1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charset="-122"/>
              <a:ea typeface="黑体" panose="02010609060101010101" charset="-122"/>
              <a:cs typeface="+mn-ea"/>
            </a:endParaRPr>
          </a:p>
          <a:p>
            <a:pPr marL="0" marR="0" lvl="0" indent="0" algn="ctr" defTabSz="914400" rtl="0" eaLnBrk="1" fontAlgn="base" latinLnBrk="0" hangingPunct="1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黑体" panose="02010609060101010101" charset="-122"/>
                <a:ea typeface="黑体" panose="02010609060101010101" charset="-122"/>
                <a:cs typeface="+mn-ea"/>
              </a:rPr>
              <a:t>系统</a:t>
            </a:r>
            <a:endParaRPr kumimoji="1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黑体" panose="02010609060101010101" charset="-122"/>
              <a:ea typeface="黑体" panose="02010609060101010101" charset="-122"/>
              <a:cs typeface="+mn-ea"/>
            </a:endParaRPr>
          </a:p>
        </p:txBody>
      </p:sp>
      <p:grpSp>
        <p:nvGrpSpPr>
          <p:cNvPr id="5" name="组合 229"/>
          <p:cNvGrpSpPr/>
          <p:nvPr/>
        </p:nvGrpSpPr>
        <p:grpSpPr>
          <a:xfrm rot="0">
            <a:off x="3843655" y="5282565"/>
            <a:ext cx="1137920" cy="368300"/>
            <a:chOff x="2169554" y="5337072"/>
            <a:chExt cx="1188000" cy="386987"/>
          </a:xfrm>
        </p:grpSpPr>
        <p:sp>
          <p:nvSpPr>
            <p:cNvPr id="22" name="TextBox 176"/>
            <p:cNvSpPr txBox="1">
              <a:spLocks noChangeArrowheads="1"/>
            </p:cNvSpPr>
            <p:nvPr/>
          </p:nvSpPr>
          <p:spPr bwMode="auto">
            <a:xfrm>
              <a:off x="2452260" y="5337072"/>
              <a:ext cx="890999" cy="386987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marR="0" defTabSz="914400">
                <a:buClrTx/>
                <a:buSzTx/>
                <a:buFontTx/>
                <a:defRPr/>
              </a:pPr>
              <a:r>
                <a:rPr kumimoji="1" lang="en-US" altLang="zh-CN" sz="1800" b="1" kern="1200" cap="none" spc="0" normalizeH="0" baseline="0" noProof="0" dirty="0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op[5:0]</a:t>
              </a:r>
              <a:endParaRPr kumimoji="1" lang="en-US" altLang="zh-CN" sz="1800" b="1" kern="1200" cap="none" spc="0" normalizeH="0" baseline="0" noProof="0" dirty="0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+mn-ea"/>
              </a:endParaRPr>
            </a:p>
          </p:txBody>
        </p:sp>
        <p:cxnSp>
          <p:nvCxnSpPr>
            <p:cNvPr id="29875" name="直接箭头连接符 186"/>
            <p:cNvCxnSpPr/>
            <p:nvPr/>
          </p:nvCxnSpPr>
          <p:spPr>
            <a:xfrm rot="10800000">
              <a:off x="2169554" y="5713428"/>
              <a:ext cx="1188000" cy="1588"/>
            </a:xfrm>
            <a:prstGeom prst="straightConnector1">
              <a:avLst/>
            </a:prstGeom>
            <a:ln>
              <a:headEnd type="oval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组合 231"/>
          <p:cNvGrpSpPr/>
          <p:nvPr/>
        </p:nvGrpSpPr>
        <p:grpSpPr>
          <a:xfrm rot="0">
            <a:off x="2898775" y="4987925"/>
            <a:ext cx="715010" cy="462280"/>
            <a:chOff x="1184434" y="4929198"/>
            <a:chExt cx="745948" cy="485076"/>
          </a:xfrm>
        </p:grpSpPr>
        <p:cxnSp>
          <p:nvCxnSpPr>
            <p:cNvPr id="29871" name="直接箭头连接符 187"/>
            <p:cNvCxnSpPr/>
            <p:nvPr/>
          </p:nvCxnSpPr>
          <p:spPr>
            <a:xfrm rot="-5400000">
              <a:off x="1041228" y="5269480"/>
              <a:ext cx="288000" cy="1588"/>
            </a:xfrm>
            <a:prstGeom prst="straightConnector1">
              <a:avLst/>
            </a:prstGeom>
            <a:ln>
              <a:headEnd type="none" w="sm" len="sm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872" name="直接箭头连接符 188"/>
            <p:cNvCxnSpPr/>
            <p:nvPr/>
          </p:nvCxnSpPr>
          <p:spPr>
            <a:xfrm rot="-5400000">
              <a:off x="1785588" y="5269480"/>
              <a:ext cx="288000" cy="1588"/>
            </a:xfrm>
            <a:prstGeom prst="straightConnector1">
              <a:avLst/>
            </a:prstGeom>
            <a:ln>
              <a:headEnd type="none" w="sm" len="sm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873" name="TextBox 189"/>
            <p:cNvSpPr txBox="1"/>
            <p:nvPr/>
          </p:nvSpPr>
          <p:spPr>
            <a:xfrm>
              <a:off x="1349923" y="4929198"/>
              <a:ext cx="492443" cy="48307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…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组合 230"/>
          <p:cNvGrpSpPr/>
          <p:nvPr/>
        </p:nvGrpSpPr>
        <p:grpSpPr>
          <a:xfrm rot="0">
            <a:off x="1752600" y="5558155"/>
            <a:ext cx="910590" cy="460375"/>
            <a:chOff x="-12165" y="5384400"/>
            <a:chExt cx="951116" cy="484936"/>
          </a:xfrm>
        </p:grpSpPr>
        <p:cxnSp>
          <p:nvCxnSpPr>
            <p:cNvPr id="29869" name="直接箭头连接符 175"/>
            <p:cNvCxnSpPr/>
            <p:nvPr/>
          </p:nvCxnSpPr>
          <p:spPr>
            <a:xfrm>
              <a:off x="214376" y="5827908"/>
              <a:ext cx="720640" cy="1588"/>
            </a:xfrm>
            <a:prstGeom prst="straightConnector1">
              <a:avLst/>
            </a:prstGeom>
            <a:ln w="28575" cap="sq" cmpd="sng">
              <a:solidFill>
                <a:srgbClr val="000000"/>
              </a:solidFill>
              <a:prstDash val="solid"/>
              <a:headEnd type="none" w="sm" len="sm"/>
              <a:tailEnd type="arrow" w="med" len="med"/>
            </a:ln>
          </p:spPr>
        </p:cxnSp>
        <p:sp>
          <p:nvSpPr>
            <p:cNvPr id="29870" name="TextBox 190"/>
            <p:cNvSpPr txBox="1"/>
            <p:nvPr/>
          </p:nvSpPr>
          <p:spPr>
            <a:xfrm>
              <a:off x="-12165" y="5384400"/>
              <a:ext cx="951116" cy="4849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400" b="1" dirty="0">
                  <a:solidFill>
                    <a:schemeClr val="tx1"/>
                  </a:solidFill>
                </a:rPr>
                <a:t>clk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93" name="TextBox 192"/>
          <p:cNvSpPr txBox="1"/>
          <p:nvPr/>
        </p:nvSpPr>
        <p:spPr>
          <a:xfrm>
            <a:off x="2663190" y="4761865"/>
            <a:ext cx="119697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zh-CN" altLang="en-US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黑体" panose="02010609060101010101" charset="-122"/>
                <a:cs typeface="+mn-ea"/>
              </a:rPr>
              <a:t>控制信号</a:t>
            </a:r>
            <a:endParaRPr kumimoji="1" lang="zh-CN" altLang="en-US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黑体" panose="02010609060101010101" charset="-122"/>
              <a:cs typeface="+mn-ea"/>
            </a:endParaRPr>
          </a:p>
        </p:txBody>
      </p:sp>
      <p:grpSp>
        <p:nvGrpSpPr>
          <p:cNvPr id="20" name="组合 228"/>
          <p:cNvGrpSpPr/>
          <p:nvPr/>
        </p:nvGrpSpPr>
        <p:grpSpPr>
          <a:xfrm rot="0">
            <a:off x="3843655" y="6101715"/>
            <a:ext cx="1463040" cy="394335"/>
            <a:chOff x="2169554" y="5955652"/>
            <a:chExt cx="1527429" cy="414338"/>
          </a:xfrm>
        </p:grpSpPr>
        <p:cxnSp>
          <p:nvCxnSpPr>
            <p:cNvPr id="29867" name="直接箭头连接符 198"/>
            <p:cNvCxnSpPr/>
            <p:nvPr/>
          </p:nvCxnSpPr>
          <p:spPr>
            <a:xfrm rot="10800000">
              <a:off x="2169554" y="6073630"/>
              <a:ext cx="1188000" cy="1588"/>
            </a:xfrm>
            <a:prstGeom prst="straightConnector1">
              <a:avLst/>
            </a:prstGeom>
            <a:ln>
              <a:headEnd type="none" w="sm" len="sm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1" name="矩形 200"/>
            <p:cNvSpPr/>
            <p:nvPr/>
          </p:nvSpPr>
          <p:spPr bwMode="auto">
            <a:xfrm>
              <a:off x="2595166" y="5955652"/>
              <a:ext cx="1101817" cy="414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72000" tIns="0" rIns="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rsrtequ</a:t>
              </a:r>
              <a:endParaRPr kumimoji="1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宋体" panose="02010600030101010101" pitchFamily="2" charset="-122"/>
                <a:cs typeface="+mn-ea"/>
              </a:endParaRPr>
            </a:p>
          </p:txBody>
        </p:sp>
      </p:grpSp>
      <p:grpSp>
        <p:nvGrpSpPr>
          <p:cNvPr id="21" name="组合 175"/>
          <p:cNvGrpSpPr/>
          <p:nvPr/>
        </p:nvGrpSpPr>
        <p:grpSpPr>
          <a:xfrm rot="0">
            <a:off x="2663825" y="252774"/>
            <a:ext cx="7909916" cy="6258509"/>
            <a:chOff x="929538" y="-197239"/>
            <a:chExt cx="8255259" cy="6573711"/>
          </a:xfrm>
        </p:grpSpPr>
        <p:grpSp>
          <p:nvGrpSpPr>
            <p:cNvPr id="29711" name="组合 201"/>
            <p:cNvGrpSpPr/>
            <p:nvPr/>
          </p:nvGrpSpPr>
          <p:grpSpPr>
            <a:xfrm>
              <a:off x="929538" y="155907"/>
              <a:ext cx="7857275" cy="6051218"/>
              <a:chOff x="929701" y="155884"/>
              <a:chExt cx="7857141" cy="6051218"/>
            </a:xfrm>
          </p:grpSpPr>
          <p:sp>
            <p:nvSpPr>
              <p:cNvPr id="6" name="矩形 5"/>
              <p:cNvSpPr/>
              <p:nvPr/>
            </p:nvSpPr>
            <p:spPr bwMode="auto">
              <a:xfrm>
                <a:off x="7600999" y="4152877"/>
                <a:ext cx="1173143" cy="1346200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en-US" altLang="zh-CN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7" name="矩形 6"/>
              <p:cNvSpPr/>
              <p:nvPr/>
            </p:nvSpPr>
            <p:spPr bwMode="auto">
              <a:xfrm>
                <a:off x="1779736" y="2863827"/>
                <a:ext cx="1350939" cy="1366838"/>
              </a:xfrm>
              <a:prstGeom prst="rect">
                <a:avLst/>
              </a:prstGeom>
              <a:solidFill>
                <a:srgbClr val="FFFFFF"/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8" name="矩形 7"/>
              <p:cNvSpPr/>
              <p:nvPr/>
            </p:nvSpPr>
            <p:spPr bwMode="auto">
              <a:xfrm>
                <a:off x="3949811" y="3468665"/>
                <a:ext cx="1366815" cy="127317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9" name="矩形 8"/>
              <p:cNvSpPr/>
              <p:nvPr/>
            </p:nvSpPr>
            <p:spPr bwMode="auto">
              <a:xfrm>
                <a:off x="3807858" y="3340049"/>
                <a:ext cx="1485802" cy="416196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rna  rnb  wn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0" name="流程图: 终止 9"/>
              <p:cNvSpPr/>
              <p:nvPr/>
            </p:nvSpPr>
            <p:spPr bwMode="auto">
              <a:xfrm flipH="1">
                <a:off x="4589564" y="2736827"/>
                <a:ext cx="788974" cy="298450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0     1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1" name="直接箭头连接符 10"/>
              <p:cNvCxnSpPr/>
              <p:nvPr/>
            </p:nvCxnSpPr>
            <p:spPr bwMode="auto">
              <a:xfrm>
                <a:off x="5183278" y="2101827"/>
                <a:ext cx="0" cy="647700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/>
              <p:cNvCxnSpPr/>
              <p:nvPr/>
            </p:nvCxnSpPr>
            <p:spPr bwMode="auto">
              <a:xfrm>
                <a:off x="4965794" y="3035277"/>
                <a:ext cx="0" cy="4318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13" name="直接箭头连接符 12"/>
              <p:cNvCxnSpPr/>
              <p:nvPr/>
            </p:nvCxnSpPr>
            <p:spPr bwMode="auto">
              <a:xfrm>
                <a:off x="4786410" y="2268515"/>
                <a:ext cx="0" cy="468312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矩形 13"/>
              <p:cNvSpPr/>
              <p:nvPr/>
            </p:nvSpPr>
            <p:spPr bwMode="auto">
              <a:xfrm>
                <a:off x="2522674" y="3238477"/>
                <a:ext cx="573077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Data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5" name="直接连接符 14"/>
              <p:cNvCxnSpPr/>
              <p:nvPr/>
            </p:nvCxnSpPr>
            <p:spPr bwMode="auto">
              <a:xfrm>
                <a:off x="4511777" y="2254227"/>
                <a:ext cx="287333" cy="0"/>
              </a:xfrm>
              <a:prstGeom prst="line">
                <a:avLst/>
              </a:prstGeom>
              <a:ln>
                <a:headEnd type="oval" w="med" len="med"/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362"/>
              <p:cNvCxnSpPr/>
              <p:nvPr/>
            </p:nvCxnSpPr>
            <p:spPr bwMode="auto">
              <a:xfrm flipV="1">
                <a:off x="3130675" y="2098652"/>
                <a:ext cx="3492441" cy="1366838"/>
              </a:xfrm>
              <a:prstGeom prst="bentConnector3">
                <a:avLst>
                  <a:gd name="adj1" fmla="val 6391"/>
                </a:avLst>
              </a:prstGeom>
              <a:ln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/>
              <p:cNvCxnSpPr/>
              <p:nvPr/>
            </p:nvCxnSpPr>
            <p:spPr bwMode="auto">
              <a:xfrm>
                <a:off x="4511777" y="2101827"/>
                <a:ext cx="0" cy="1368425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/>
              <p:cNvCxnSpPr/>
              <p:nvPr/>
            </p:nvCxnSpPr>
            <p:spPr bwMode="auto">
              <a:xfrm>
                <a:off x="4105384" y="2098652"/>
                <a:ext cx="0" cy="1366838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9751" name="组合 384"/>
              <p:cNvGrpSpPr/>
              <p:nvPr/>
            </p:nvGrpSpPr>
            <p:grpSpPr>
              <a:xfrm>
                <a:off x="6510367" y="3516289"/>
                <a:ext cx="692177" cy="1371600"/>
                <a:chOff x="6732240" y="3412397"/>
                <a:chExt cx="692902" cy="1372042"/>
              </a:xfrm>
            </p:grpSpPr>
            <p:grpSp>
              <p:nvGrpSpPr>
                <p:cNvPr id="29858" name="Group 27"/>
                <p:cNvGrpSpPr/>
                <p:nvPr/>
              </p:nvGrpSpPr>
              <p:grpSpPr>
                <a:xfrm>
                  <a:off x="6732240" y="3412397"/>
                  <a:ext cx="648072" cy="1372042"/>
                  <a:chOff x="2400" y="2496"/>
                  <a:chExt cx="288" cy="672"/>
                </a:xfrm>
              </p:grpSpPr>
              <p:sp>
                <p:nvSpPr>
                  <p:cNvPr id="29860" name="Line 28"/>
                  <p:cNvSpPr/>
                  <p:nvPr/>
                </p:nvSpPr>
                <p:spPr>
                  <a:xfrm>
                    <a:off x="2400" y="2496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1" name="Line 29"/>
                  <p:cNvSpPr/>
                  <p:nvPr/>
                </p:nvSpPr>
                <p:spPr>
                  <a:xfrm>
                    <a:off x="2400" y="2784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2" name="Line 30"/>
                  <p:cNvSpPr/>
                  <p:nvPr/>
                </p:nvSpPr>
                <p:spPr>
                  <a:xfrm flipH="1">
                    <a:off x="2400" y="2832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3" name="Line 31"/>
                  <p:cNvSpPr/>
                  <p:nvPr/>
                </p:nvSpPr>
                <p:spPr>
                  <a:xfrm>
                    <a:off x="2400" y="2880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4" name="Line 32"/>
                  <p:cNvSpPr/>
                  <p:nvPr/>
                </p:nvSpPr>
                <p:spPr>
                  <a:xfrm>
                    <a:off x="2400" y="2496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5" name="Line 33"/>
                  <p:cNvSpPr/>
                  <p:nvPr/>
                </p:nvSpPr>
                <p:spPr>
                  <a:xfrm flipV="1">
                    <a:off x="2400" y="3024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66" name="Line 34"/>
                  <p:cNvSpPr/>
                  <p:nvPr/>
                </p:nvSpPr>
                <p:spPr>
                  <a:xfrm>
                    <a:off x="2688" y="2640"/>
                    <a:ext cx="0" cy="38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</p:grpSp>
            <p:sp>
              <p:nvSpPr>
                <p:cNvPr id="24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6776775" y="3923738"/>
                  <a:ext cx="648367" cy="32292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pPr marR="0" algn="ctr" defTabSz="914400" latinLnBrk="1">
                    <a:buClrTx/>
                    <a:buSzTx/>
                    <a:buFontTx/>
                    <a:defRPr/>
                  </a:pPr>
                  <a:r>
                    <a:rPr kumimoji="1" lang="en-US" altLang="zh-CN" sz="2000" b="1" kern="1200" cap="none" spc="0" normalizeH="0" baseline="0" noProof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/>
                        </a:outerShdw>
                      </a:effectLst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rPr>
                    <a:t>ALU</a:t>
                  </a:r>
                  <a:endParaRPr kumimoji="1" lang="en-US" altLang="zh-CN" sz="2000" b="1" kern="1200" cap="none" spc="0" normalizeH="0" baseline="0" noProof="0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latin typeface="Times New Roman" panose="02020603050405020304" charset="0"/>
                    <a:ea typeface="宋体" panose="02010600030101010101" pitchFamily="2" charset="-122"/>
                    <a:cs typeface="+mn-ea"/>
                  </a:endParaRPr>
                </a:p>
              </p:txBody>
            </p:sp>
          </p:grpSp>
          <p:sp>
            <p:nvSpPr>
              <p:cNvPr id="27" name="流程图: 终止 26"/>
              <p:cNvSpPr/>
              <p:nvPr/>
            </p:nvSpPr>
            <p:spPr bwMode="auto">
              <a:xfrm rot="16200000" flipH="1">
                <a:off x="5756350" y="4449741"/>
                <a:ext cx="728662" cy="265108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vert="eaVert" lIns="0" tIns="0" rIns="0" bIns="0" anchor="ctr"/>
              <a:lstStyle>
                <a:lvl1pPr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smtClean="0">
                    <a:ln>
                      <a:noFill/>
                    </a:ln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0</a:t>
                </a:r>
                <a:endParaRPr kumimoji="1" lang="en-US" altLang="zh-CN" sz="1800" b="1" i="0" u="none" strike="noStrike" kern="1200" cap="none" spc="0" normalizeH="0" baseline="0" noProof="0" smtClean="0">
                  <a:ln>
                    <a:noFill/>
                  </a:ln>
                  <a:solidFill>
                    <a:schemeClr val="bg2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smtClean="0">
                    <a:ln>
                      <a:noFill/>
                    </a:ln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1</a:t>
                </a:r>
                <a:endParaRPr kumimoji="1" lang="en-US" altLang="zh-CN" sz="1800" b="1" i="0" u="none" strike="noStrike" kern="1200" cap="none" spc="0" normalizeH="0" baseline="0" noProof="0" smtClean="0">
                  <a:ln>
                    <a:noFill/>
                  </a:ln>
                  <a:solidFill>
                    <a:schemeClr val="bg2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8" name="直接箭头连接符 27"/>
              <p:cNvCxnSpPr/>
              <p:nvPr/>
            </p:nvCxnSpPr>
            <p:spPr bwMode="auto">
              <a:xfrm>
                <a:off x="5750006" y="5187927"/>
                <a:ext cx="1836707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/>
              <p:cNvCxnSpPr/>
              <p:nvPr/>
            </p:nvCxnSpPr>
            <p:spPr bwMode="auto">
              <a:xfrm>
                <a:off x="5316626" y="3786165"/>
                <a:ext cx="1189017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矩形 29"/>
              <p:cNvSpPr/>
              <p:nvPr/>
            </p:nvSpPr>
            <p:spPr bwMode="auto">
              <a:xfrm>
                <a:off x="7561313" y="5000602"/>
                <a:ext cx="671501" cy="414338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WD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31" name="直接箭头连接符 30"/>
              <p:cNvCxnSpPr/>
              <p:nvPr/>
            </p:nvCxnSpPr>
            <p:spPr bwMode="auto">
              <a:xfrm>
                <a:off x="5756356" y="4476727"/>
                <a:ext cx="0" cy="720725"/>
              </a:xfrm>
              <a:prstGeom prst="straightConnector1">
                <a:avLst/>
              </a:prstGeom>
              <a:ln>
                <a:headEnd type="oval" w="med" len="med"/>
                <a:tailEnd type="non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直接箭头连接符 31"/>
              <p:cNvCxnSpPr/>
              <p:nvPr/>
            </p:nvCxnSpPr>
            <p:spPr bwMode="auto">
              <a:xfrm>
                <a:off x="5315038" y="4476727"/>
                <a:ext cx="684201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" name="梯形 24"/>
              <p:cNvSpPr/>
              <p:nvPr/>
            </p:nvSpPr>
            <p:spPr bwMode="auto">
              <a:xfrm rot="5400000">
                <a:off x="4227454" y="5233512"/>
                <a:ext cx="540000" cy="360000"/>
              </a:xfrm>
              <a:prstGeom prst="trapezoid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vert="vert270"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E</a:t>
                </a:r>
                <a:endParaRPr kumimoji="1" lang="en-US" altLang="zh-CN" sz="24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 bwMode="auto">
              <a:xfrm>
                <a:off x="7586712" y="4484665"/>
                <a:ext cx="690550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addr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35" name="矩形 34"/>
              <p:cNvSpPr/>
              <p:nvPr/>
            </p:nvSpPr>
            <p:spPr bwMode="auto">
              <a:xfrm>
                <a:off x="8189952" y="4637065"/>
                <a:ext cx="596890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72000" bIns="0" anchor="ctr"/>
              <a:lstStyle/>
              <a:p>
                <a:pPr marL="0" marR="0" lvl="0" indent="0" algn="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RD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6" name="直接箭头连接符 400"/>
              <p:cNvCxnSpPr/>
              <p:nvPr/>
            </p:nvCxnSpPr>
            <p:spPr bwMode="auto">
              <a:xfrm flipV="1">
                <a:off x="4689574" y="2381227"/>
                <a:ext cx="2520907" cy="3024188"/>
              </a:xfrm>
              <a:prstGeom prst="bentConnector3">
                <a:avLst>
                  <a:gd name="adj1" fmla="val 33873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grpSp>
            <p:nvGrpSpPr>
              <p:cNvPr id="29762" name="组合 432"/>
              <p:cNvGrpSpPr/>
              <p:nvPr/>
            </p:nvGrpSpPr>
            <p:grpSpPr>
              <a:xfrm>
                <a:off x="7218392" y="1330302"/>
                <a:ext cx="474662" cy="1273175"/>
                <a:chOff x="6910454" y="2157870"/>
                <a:chExt cx="475687" cy="1055106"/>
              </a:xfrm>
            </p:grpSpPr>
            <p:grpSp>
              <p:nvGrpSpPr>
                <p:cNvPr id="29849" name="Group 27"/>
                <p:cNvGrpSpPr/>
                <p:nvPr/>
              </p:nvGrpSpPr>
              <p:grpSpPr>
                <a:xfrm>
                  <a:off x="6910454" y="2157870"/>
                  <a:ext cx="475687" cy="1055106"/>
                  <a:chOff x="2400" y="2496"/>
                  <a:chExt cx="288" cy="672"/>
                </a:xfrm>
              </p:grpSpPr>
              <p:sp>
                <p:nvSpPr>
                  <p:cNvPr id="29851" name="Line 28"/>
                  <p:cNvSpPr/>
                  <p:nvPr/>
                </p:nvSpPr>
                <p:spPr>
                  <a:xfrm>
                    <a:off x="2400" y="2496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2" name="Line 29"/>
                  <p:cNvSpPr/>
                  <p:nvPr/>
                </p:nvSpPr>
                <p:spPr>
                  <a:xfrm>
                    <a:off x="2400" y="2784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3" name="Line 30"/>
                  <p:cNvSpPr/>
                  <p:nvPr/>
                </p:nvSpPr>
                <p:spPr>
                  <a:xfrm flipH="1">
                    <a:off x="2400" y="2832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4" name="Line 31"/>
                  <p:cNvSpPr/>
                  <p:nvPr/>
                </p:nvSpPr>
                <p:spPr>
                  <a:xfrm>
                    <a:off x="2400" y="2880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5" name="Line 32"/>
                  <p:cNvSpPr/>
                  <p:nvPr/>
                </p:nvSpPr>
                <p:spPr>
                  <a:xfrm>
                    <a:off x="2400" y="2496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6" name="Line 33"/>
                  <p:cNvSpPr/>
                  <p:nvPr/>
                </p:nvSpPr>
                <p:spPr>
                  <a:xfrm flipV="1">
                    <a:off x="2400" y="3024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57" name="Line 34"/>
                  <p:cNvSpPr/>
                  <p:nvPr/>
                </p:nvSpPr>
                <p:spPr>
                  <a:xfrm>
                    <a:off x="2688" y="2640"/>
                    <a:ext cx="0" cy="38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</p:grpSp>
            <p:sp>
              <p:nvSpPr>
                <p:cNvPr id="29850" name="Text Box 12"/>
                <p:cNvSpPr txBox="1"/>
                <p:nvPr/>
              </p:nvSpPr>
              <p:spPr>
                <a:xfrm rot="-5400000">
                  <a:off x="6803244" y="2495540"/>
                  <a:ext cx="731470" cy="393173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lIns="99092" tIns="49545" rIns="99092" bIns="49545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3366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32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90000"/>
                    <a:buChar char="–"/>
                    <a:defRPr kumimoji="1" sz="28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FFFF"/>
                    </a:buClr>
                    <a:buSzPct val="60000"/>
                    <a:buFont typeface="Wingdings" panose="05000000000000000000" pitchFamily="2" charset="2"/>
                    <a:buChar char="l"/>
                    <a:defRPr kumimoji="1" sz="24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00"/>
                    </a:buClr>
                    <a:buChar char="–"/>
                    <a:defRPr kumimoji="1" sz="20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FFFF"/>
                    </a:buClr>
                    <a:buChar char="•"/>
                    <a:defRPr kumimoji="1" sz="20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5pPr>
                </a:lstStyle>
                <a:p>
                  <a:pPr marL="0" lvl="0" indent="0" algn="ctr" eaLnBrk="1" latin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1800" b="1" dirty="0">
                      <a:solidFill>
                        <a:schemeClr val="tx1"/>
                      </a:solidFill>
                    </a:rPr>
                    <a:t>ADD</a:t>
                  </a:r>
                  <a:endParaRPr lang="en-US" altLang="zh-CN" sz="1800" b="1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33" name="直接箭头连接符 32"/>
              <p:cNvCxnSpPr/>
              <p:nvPr/>
            </p:nvCxnSpPr>
            <p:spPr bwMode="auto">
              <a:xfrm>
                <a:off x="7693073" y="1955777"/>
                <a:ext cx="252409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2" name="直接箭头连接符 51"/>
              <p:cNvCxnSpPr/>
              <p:nvPr/>
            </p:nvCxnSpPr>
            <p:spPr bwMode="auto">
              <a:xfrm>
                <a:off x="3130675" y="1628752"/>
                <a:ext cx="4067106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53" name="直接箭头连接符 52"/>
              <p:cNvCxnSpPr/>
              <p:nvPr/>
            </p:nvCxnSpPr>
            <p:spPr bwMode="auto">
              <a:xfrm flipV="1">
                <a:off x="3805352" y="901677"/>
                <a:ext cx="0" cy="720725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oval"/>
                <a:tailEnd type="none" w="med" len="lg"/>
              </a:ln>
              <a:effectLst/>
            </p:spPr>
          </p:cxnSp>
          <p:cxnSp>
            <p:nvCxnSpPr>
              <p:cNvPr id="54" name="直接箭头连接符 53"/>
              <p:cNvCxnSpPr/>
              <p:nvPr/>
            </p:nvCxnSpPr>
            <p:spPr bwMode="auto">
              <a:xfrm flipH="1">
                <a:off x="3518019" y="887390"/>
                <a:ext cx="287333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  <a:effectLst/>
            </p:spPr>
          </p:cxnSp>
          <p:sp>
            <p:nvSpPr>
              <p:cNvPr id="55" name="矩形 54"/>
              <p:cNvSpPr/>
              <p:nvPr/>
            </p:nvSpPr>
            <p:spPr bwMode="auto">
              <a:xfrm>
                <a:off x="3900600" y="4017940"/>
                <a:ext cx="619114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d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56" name="直接箭头连接符 400"/>
              <p:cNvCxnSpPr/>
              <p:nvPr/>
            </p:nvCxnSpPr>
            <p:spPr bwMode="auto">
              <a:xfrm flipH="1" flipV="1">
                <a:off x="3960924" y="4224315"/>
                <a:ext cx="4822743" cy="611187"/>
              </a:xfrm>
              <a:prstGeom prst="bentConnector5">
                <a:avLst>
                  <a:gd name="adj1" fmla="val -3528"/>
                  <a:gd name="adj2" fmla="val -152381"/>
                  <a:gd name="adj3" fmla="val 105053"/>
                </a:avLst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直接箭头连接符 56"/>
              <p:cNvCxnSpPr/>
              <p:nvPr/>
            </p:nvCxnSpPr>
            <p:spPr bwMode="auto">
              <a:xfrm>
                <a:off x="3568818" y="5416527"/>
                <a:ext cx="755637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直接箭头连接符 57"/>
              <p:cNvCxnSpPr/>
              <p:nvPr/>
            </p:nvCxnSpPr>
            <p:spPr bwMode="auto">
              <a:xfrm flipV="1">
                <a:off x="3576756" y="2101827"/>
                <a:ext cx="0" cy="3311525"/>
              </a:xfrm>
              <a:prstGeom prst="straightConnector1">
                <a:avLst/>
              </a:prstGeom>
              <a:ln>
                <a:headEnd type="none" w="med" len="med"/>
                <a:tailEnd type="oval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9771" name="组合 456"/>
              <p:cNvGrpSpPr/>
              <p:nvPr/>
            </p:nvGrpSpPr>
            <p:grpSpPr>
              <a:xfrm>
                <a:off x="2654329" y="1104877"/>
                <a:ext cx="476250" cy="1055687"/>
                <a:chOff x="6910454" y="2157870"/>
                <a:chExt cx="475687" cy="1055106"/>
              </a:xfrm>
            </p:grpSpPr>
            <p:grpSp>
              <p:nvGrpSpPr>
                <p:cNvPr id="29840" name="Group 27"/>
                <p:cNvGrpSpPr/>
                <p:nvPr/>
              </p:nvGrpSpPr>
              <p:grpSpPr>
                <a:xfrm>
                  <a:off x="6910454" y="2157870"/>
                  <a:ext cx="475687" cy="1055106"/>
                  <a:chOff x="2400" y="2496"/>
                  <a:chExt cx="288" cy="672"/>
                </a:xfrm>
              </p:grpSpPr>
              <p:sp>
                <p:nvSpPr>
                  <p:cNvPr id="29842" name="Line 28"/>
                  <p:cNvSpPr/>
                  <p:nvPr/>
                </p:nvSpPr>
                <p:spPr>
                  <a:xfrm>
                    <a:off x="2400" y="2496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3" name="Line 29"/>
                  <p:cNvSpPr/>
                  <p:nvPr/>
                </p:nvSpPr>
                <p:spPr>
                  <a:xfrm>
                    <a:off x="2400" y="2784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4" name="Line 30"/>
                  <p:cNvSpPr/>
                  <p:nvPr/>
                </p:nvSpPr>
                <p:spPr>
                  <a:xfrm flipH="1">
                    <a:off x="2400" y="2832"/>
                    <a:ext cx="48" cy="4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5" name="Line 31"/>
                  <p:cNvSpPr/>
                  <p:nvPr/>
                </p:nvSpPr>
                <p:spPr>
                  <a:xfrm>
                    <a:off x="2400" y="2880"/>
                    <a:ext cx="0" cy="288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6" name="Line 32"/>
                  <p:cNvSpPr/>
                  <p:nvPr/>
                </p:nvSpPr>
                <p:spPr>
                  <a:xfrm>
                    <a:off x="2400" y="2496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7" name="Line 33"/>
                  <p:cNvSpPr/>
                  <p:nvPr/>
                </p:nvSpPr>
                <p:spPr>
                  <a:xfrm flipV="1">
                    <a:off x="2400" y="3024"/>
                    <a:ext cx="288" cy="14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  <p:sp>
                <p:nvSpPr>
                  <p:cNvPr id="29848" name="Line 34"/>
                  <p:cNvSpPr/>
                  <p:nvPr/>
                </p:nvSpPr>
                <p:spPr>
                  <a:xfrm>
                    <a:off x="2688" y="2640"/>
                    <a:ext cx="0" cy="384"/>
                  </a:xfrm>
                  <a:prstGeom prst="line">
                    <a:avLst/>
                  </a:prstGeom>
                  <a:ln w="25400" cap="flat" cmpd="sng">
                    <a:solidFill>
                      <a:srgbClr val="000000"/>
                    </a:solidFill>
                    <a:prstDash val="solid"/>
                    <a:headEnd type="none" w="med" len="med"/>
                    <a:tailEnd type="none" w="med" len="med"/>
                  </a:ln>
                </p:spPr>
              </p:sp>
            </p:grpSp>
            <p:sp>
              <p:nvSpPr>
                <p:cNvPr id="29841" name="Text Box 12"/>
                <p:cNvSpPr txBox="1"/>
                <p:nvPr/>
              </p:nvSpPr>
              <p:spPr>
                <a:xfrm rot="-5400000">
                  <a:off x="6803193" y="2496781"/>
                  <a:ext cx="731434" cy="391862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lIns="99092" tIns="49545" rIns="99092" bIns="49545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3366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32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90000"/>
                    <a:buChar char="–"/>
                    <a:defRPr kumimoji="1" sz="28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FFFF"/>
                    </a:buClr>
                    <a:buSzPct val="60000"/>
                    <a:buFont typeface="Wingdings" panose="05000000000000000000" pitchFamily="2" charset="2"/>
                    <a:buChar char="l"/>
                    <a:defRPr kumimoji="1" sz="24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00"/>
                    </a:buClr>
                    <a:buChar char="–"/>
                    <a:defRPr kumimoji="1" sz="20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FFFF"/>
                    </a:buClr>
                    <a:buChar char="•"/>
                    <a:defRPr kumimoji="1" sz="2000">
                      <a:solidFill>
                        <a:srgbClr val="000000"/>
                      </a:solidFill>
                      <a:latin typeface="Times New Roman" panose="02020603050405020304" charset="0"/>
                      <a:ea typeface="宋体" panose="02010600030101010101" pitchFamily="2" charset="-122"/>
                    </a:defRPr>
                  </a:lvl5pPr>
                </a:lstStyle>
                <a:p>
                  <a:pPr marL="0" lvl="0" indent="0" algn="ctr" eaLnBrk="1" latin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1800" b="1" dirty="0">
                      <a:solidFill>
                        <a:schemeClr val="tx1"/>
                      </a:solidFill>
                    </a:rPr>
                    <a:t>ADD</a:t>
                  </a:r>
                  <a:endParaRPr lang="en-US" altLang="zh-CN" sz="1800" b="1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36" name="矩形 35"/>
              <p:cNvSpPr/>
              <p:nvPr/>
            </p:nvSpPr>
            <p:spPr bwMode="auto">
              <a:xfrm>
                <a:off x="1779736" y="2917802"/>
                <a:ext cx="690550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Addr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37" name="矩形 36"/>
              <p:cNvSpPr/>
              <p:nvPr/>
            </p:nvSpPr>
            <p:spPr bwMode="auto">
              <a:xfrm>
                <a:off x="1136809" y="1930377"/>
                <a:ext cx="792150" cy="404813"/>
              </a:xfrm>
              <a:prstGeom prst="rect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400" b="1" i="0" u="none" strike="noStrike" kern="1200" cap="none" spc="0" normalizeH="0" baseline="0" noProof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PC</a:t>
                </a:r>
                <a:endParaRPr kumimoji="1" lang="en-US" altLang="zh-CN" sz="2400" b="1" i="0" u="none" strike="noStrike" kern="1200" cap="none" spc="0" normalizeH="0" baseline="0" noProof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38" name="直接箭头连接符 400"/>
              <p:cNvCxnSpPr>
                <a:stCxn id="37" idx="2"/>
                <a:endCxn id="36" idx="1"/>
              </p:cNvCxnSpPr>
              <p:nvPr/>
            </p:nvCxnSpPr>
            <p:spPr bwMode="auto">
              <a:xfrm rot="16200000" flipH="1">
                <a:off x="1260626" y="2606655"/>
                <a:ext cx="790575" cy="247646"/>
              </a:xfrm>
              <a:prstGeom prst="bentConnector2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47" name="直接箭头连接符 46"/>
              <p:cNvCxnSpPr/>
              <p:nvPr/>
            </p:nvCxnSpPr>
            <p:spPr bwMode="auto">
              <a:xfrm>
                <a:off x="2338527" y="1968477"/>
                <a:ext cx="315907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48" name="直接箭头连接符 47"/>
              <p:cNvCxnSpPr/>
              <p:nvPr/>
            </p:nvCxnSpPr>
            <p:spPr bwMode="auto">
              <a:xfrm>
                <a:off x="1528916" y="2655865"/>
                <a:ext cx="812786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oval"/>
                <a:tailEnd type="none" w="med" len="lg"/>
              </a:ln>
              <a:effectLst/>
            </p:spPr>
          </p:cxnSp>
          <p:cxnSp>
            <p:nvCxnSpPr>
              <p:cNvPr id="49" name="直接箭头连接符 48"/>
              <p:cNvCxnSpPr/>
              <p:nvPr/>
            </p:nvCxnSpPr>
            <p:spPr bwMode="auto">
              <a:xfrm>
                <a:off x="2341702" y="1982765"/>
                <a:ext cx="0" cy="684212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none" w="med" len="lg"/>
              </a:ln>
              <a:effectLst/>
            </p:spPr>
          </p:cxnSp>
          <p:cxnSp>
            <p:nvCxnSpPr>
              <p:cNvPr id="50" name="直接箭头连接符 49"/>
              <p:cNvCxnSpPr/>
              <p:nvPr/>
            </p:nvCxnSpPr>
            <p:spPr bwMode="auto">
              <a:xfrm>
                <a:off x="2338527" y="1374752"/>
                <a:ext cx="315907" cy="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59" name="矩形 58"/>
              <p:cNvSpPr/>
              <p:nvPr/>
            </p:nvSpPr>
            <p:spPr bwMode="auto">
              <a:xfrm>
                <a:off x="1836885" y="1154090"/>
                <a:ext cx="600065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4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+4</a:t>
                </a:r>
                <a:endParaRPr kumimoji="1" lang="en-US" altLang="zh-CN" sz="24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78" name="矩形 77"/>
              <p:cNvSpPr/>
              <p:nvPr/>
            </p:nvSpPr>
            <p:spPr bwMode="auto">
              <a:xfrm>
                <a:off x="3465633" y="1666852"/>
                <a:ext cx="1850993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4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Inst</a:t>
                </a:r>
                <a:endParaRPr kumimoji="1" lang="en-US" altLang="zh-CN" sz="24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60" name="直接箭头连接符 59"/>
              <p:cNvCxnSpPr/>
              <p:nvPr/>
            </p:nvCxnSpPr>
            <p:spPr bwMode="auto">
              <a:xfrm>
                <a:off x="6259585" y="4594202"/>
                <a:ext cx="250821" cy="0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直接箭头连接符 61"/>
              <p:cNvCxnSpPr/>
              <p:nvPr/>
            </p:nvCxnSpPr>
            <p:spPr bwMode="auto">
              <a:xfrm>
                <a:off x="7327954" y="4711677"/>
                <a:ext cx="276220" cy="0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直接箭头连接符 86"/>
              <p:cNvCxnSpPr/>
              <p:nvPr/>
            </p:nvCxnSpPr>
            <p:spPr bwMode="auto">
              <a:xfrm flipV="1">
                <a:off x="7143807" y="3627415"/>
                <a:ext cx="447667" cy="352425"/>
              </a:xfrm>
              <a:prstGeom prst="bentConnector3">
                <a:avLst>
                  <a:gd name="adj1" fmla="val 50000"/>
                </a:avLst>
              </a:prstGeom>
              <a:noFill/>
              <a:ln w="25400" cap="flat" cmpd="sng" algn="ctr">
                <a:solidFill>
                  <a:srgbClr val="0000FF">
                    <a:lumMod val="75000"/>
                  </a:srgbClr>
                </a:solidFill>
                <a:prstDash val="solid"/>
                <a:tailEnd type="triangle" w="med" len="lg"/>
              </a:ln>
              <a:effectLst/>
            </p:spPr>
          </p:cxnSp>
          <p:cxnSp>
            <p:nvCxnSpPr>
              <p:cNvPr id="65" name="直接箭头连接符 64"/>
              <p:cNvCxnSpPr/>
              <p:nvPr/>
            </p:nvCxnSpPr>
            <p:spPr bwMode="auto">
              <a:xfrm flipV="1">
                <a:off x="4608613" y="4732315"/>
                <a:ext cx="0" cy="2159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66" name="矩形 65"/>
              <p:cNvSpPr/>
              <p:nvPr/>
            </p:nvSpPr>
            <p:spPr bwMode="auto">
              <a:xfrm>
                <a:off x="4425822" y="4714852"/>
                <a:ext cx="730238" cy="311150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clk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67" name="矩形 66"/>
              <p:cNvSpPr/>
              <p:nvPr/>
            </p:nvSpPr>
            <p:spPr bwMode="auto">
              <a:xfrm>
                <a:off x="7332830" y="3265657"/>
                <a:ext cx="970211" cy="41419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rsrtequ</a:t>
                </a: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grpSp>
            <p:nvGrpSpPr>
              <p:cNvPr id="29787" name="组合 18"/>
              <p:cNvGrpSpPr/>
              <p:nvPr/>
            </p:nvGrpSpPr>
            <p:grpSpPr>
              <a:xfrm>
                <a:off x="3733829" y="2298677"/>
                <a:ext cx="469900" cy="414337"/>
                <a:chOff x="3129063" y="2475407"/>
                <a:chExt cx="470570" cy="415629"/>
              </a:xfrm>
            </p:grpSpPr>
            <p:sp>
              <p:nvSpPr>
                <p:cNvPr id="94" name="矩形 93"/>
                <p:cNvSpPr/>
                <p:nvPr/>
              </p:nvSpPr>
              <p:spPr>
                <a:xfrm>
                  <a:off x="3129149" y="2475407"/>
                  <a:ext cx="297281" cy="415630"/>
                </a:xfrm>
                <a:prstGeom prst="rect">
                  <a:avLst/>
                </a:prstGeom>
                <a:noFill/>
                <a:ln w="25400" cap="flat" cmpd="sng" algn="ctr">
                  <a:noFill/>
                  <a:prstDash val="solid"/>
                </a:ln>
                <a:effectLst/>
              </p:spPr>
              <p:txBody>
                <a:bodyPr lIns="72000" tIns="0" rIns="0" bIns="0" anchor="ctr"/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1" lang="en-US" altLang="zh-CN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rPr>
                    <a:t>5</a:t>
                  </a:r>
                  <a:endPara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endParaRPr>
                </a:p>
              </p:txBody>
            </p:sp>
            <p:cxnSp>
              <p:nvCxnSpPr>
                <p:cNvPr id="68" name="直接连接符 67"/>
                <p:cNvCxnSpPr/>
                <p:nvPr/>
              </p:nvCxnSpPr>
              <p:spPr>
                <a:xfrm>
                  <a:off x="3426430" y="2669686"/>
                  <a:ext cx="173281" cy="105102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9788" name="组合 118"/>
              <p:cNvGrpSpPr/>
              <p:nvPr/>
            </p:nvGrpSpPr>
            <p:grpSpPr>
              <a:xfrm>
                <a:off x="4125942" y="2316139"/>
                <a:ext cx="471487" cy="414338"/>
                <a:chOff x="3129063" y="2514479"/>
                <a:chExt cx="470570" cy="415629"/>
              </a:xfrm>
            </p:grpSpPr>
            <p:sp>
              <p:nvSpPr>
                <p:cNvPr id="97" name="矩形 96"/>
                <p:cNvSpPr/>
                <p:nvPr/>
              </p:nvSpPr>
              <p:spPr>
                <a:xfrm>
                  <a:off x="3129142" y="2514480"/>
                  <a:ext cx="297864" cy="415628"/>
                </a:xfrm>
                <a:prstGeom prst="rect">
                  <a:avLst/>
                </a:prstGeom>
                <a:noFill/>
                <a:ln w="25400" cap="flat" cmpd="sng" algn="ctr">
                  <a:noFill/>
                  <a:prstDash val="solid"/>
                </a:ln>
                <a:effectLst/>
              </p:spPr>
              <p:txBody>
                <a:bodyPr lIns="72000" tIns="0" rIns="0" bIns="0" anchor="ctr"/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1" lang="en-US" altLang="zh-CN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Times New Roman" panose="02020603050405020304" charset="0"/>
                      <a:ea typeface="宋体" panose="02010600030101010101" pitchFamily="2" charset="-122"/>
                      <a:cs typeface="+mn-ea"/>
                    </a:rPr>
                    <a:t>5</a:t>
                  </a:r>
                  <a:endPara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endParaRPr>
                </a:p>
              </p:txBody>
            </p:sp>
            <p:cxnSp>
              <p:nvCxnSpPr>
                <p:cNvPr id="81" name="直接连接符 80"/>
                <p:cNvCxnSpPr/>
                <p:nvPr/>
              </p:nvCxnSpPr>
              <p:spPr>
                <a:xfrm>
                  <a:off x="3427006" y="2668947"/>
                  <a:ext cx="172698" cy="106694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000000"/>
                  </a:solidFill>
                  <a:prstDash val="solid"/>
                </a:ln>
                <a:effectLst/>
              </p:spPr>
            </p:cxnSp>
          </p:grpSp>
          <p:sp>
            <p:nvSpPr>
              <p:cNvPr id="83" name="矩形 82"/>
              <p:cNvSpPr/>
              <p:nvPr/>
            </p:nvSpPr>
            <p:spPr bwMode="auto">
              <a:xfrm>
                <a:off x="5111842" y="2306615"/>
                <a:ext cx="298445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5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00" name="直接连接符 99"/>
              <p:cNvCxnSpPr/>
              <p:nvPr/>
            </p:nvCxnSpPr>
            <p:spPr bwMode="auto">
              <a:xfrm>
                <a:off x="5081680" y="2316140"/>
                <a:ext cx="173034" cy="104775"/>
              </a:xfrm>
              <a:prstGeom prst="line">
                <a:avLst/>
              </a:prstGeom>
              <a:noFill/>
              <a:ln w="1905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sp>
            <p:nvSpPr>
              <p:cNvPr id="84" name="矩形 83"/>
              <p:cNvSpPr/>
              <p:nvPr/>
            </p:nvSpPr>
            <p:spPr bwMode="auto">
              <a:xfrm>
                <a:off x="3481507" y="2512990"/>
                <a:ext cx="398455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16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02" name="直接连接符 101"/>
              <p:cNvCxnSpPr/>
              <p:nvPr/>
            </p:nvCxnSpPr>
            <p:spPr bwMode="auto">
              <a:xfrm>
                <a:off x="3514844" y="2476477"/>
                <a:ext cx="173035" cy="106363"/>
              </a:xfrm>
              <a:prstGeom prst="line">
                <a:avLst/>
              </a:prstGeom>
              <a:noFill/>
              <a:ln w="19050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104" name="直接箭头连接符 103"/>
              <p:cNvCxnSpPr/>
              <p:nvPr/>
            </p:nvCxnSpPr>
            <p:spPr bwMode="auto">
              <a:xfrm>
                <a:off x="5546809" y="4764065"/>
                <a:ext cx="466717" cy="0"/>
              </a:xfrm>
              <a:prstGeom prst="straightConnector1">
                <a:avLst/>
              </a:prstGeom>
              <a:ln>
                <a:headEnd type="oval" w="med" len="med"/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流程图: 终止 110"/>
              <p:cNvSpPr/>
              <p:nvPr/>
            </p:nvSpPr>
            <p:spPr bwMode="auto">
              <a:xfrm rot="16200000" flipH="1">
                <a:off x="2660348" y="652945"/>
                <a:ext cx="1354638" cy="360516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795" name="直接连接符 125"/>
              <p:cNvCxnSpPr/>
              <p:nvPr/>
            </p:nvCxnSpPr>
            <p:spPr>
              <a:xfrm flipH="1">
                <a:off x="1954116" y="658789"/>
                <a:ext cx="1188000" cy="0"/>
              </a:xfrm>
              <a:prstGeom prst="line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29796" name="直接箭头连接符 129"/>
              <p:cNvCxnSpPr/>
              <p:nvPr/>
            </p:nvCxnSpPr>
            <p:spPr>
              <a:xfrm>
                <a:off x="1556614" y="1172802"/>
                <a:ext cx="0" cy="756000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arrow" w="med" len="med"/>
              </a:ln>
            </p:spPr>
          </p:cxnSp>
          <p:cxnSp>
            <p:nvCxnSpPr>
              <p:cNvPr id="29797" name="直接箭头连接符 131"/>
              <p:cNvCxnSpPr/>
              <p:nvPr/>
            </p:nvCxnSpPr>
            <p:spPr>
              <a:xfrm flipH="1">
                <a:off x="3517929" y="371452"/>
                <a:ext cx="4427538" cy="0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arrow" w="med" len="med"/>
              </a:ln>
            </p:spPr>
          </p:cxnSp>
          <p:cxnSp>
            <p:nvCxnSpPr>
              <p:cNvPr id="29798" name="直接箭头连接符 132"/>
              <p:cNvCxnSpPr/>
              <p:nvPr/>
            </p:nvCxnSpPr>
            <p:spPr>
              <a:xfrm>
                <a:off x="7947054" y="371452"/>
                <a:ext cx="0" cy="1584325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</p:spPr>
          </p:cxnSp>
          <p:cxnSp>
            <p:nvCxnSpPr>
              <p:cNvPr id="29799" name="直接箭头连接符 138"/>
              <p:cNvCxnSpPr/>
              <p:nvPr/>
            </p:nvCxnSpPr>
            <p:spPr>
              <a:xfrm flipH="1">
                <a:off x="3530629" y="600052"/>
                <a:ext cx="2879725" cy="0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arrow" w="med" len="med"/>
              </a:ln>
            </p:spPr>
          </p:cxnSp>
          <p:sp>
            <p:nvSpPr>
              <p:cNvPr id="88" name="圆角矩形 87"/>
              <p:cNvSpPr/>
              <p:nvPr/>
            </p:nvSpPr>
            <p:spPr bwMode="auto">
              <a:xfrm>
                <a:off x="6037339" y="803252"/>
                <a:ext cx="792149" cy="360363"/>
              </a:xfrm>
              <a:prstGeom prst="roundRect">
                <a:avLst/>
              </a:prstGeom>
              <a:solidFill>
                <a:srgbClr val="3366FF">
                  <a:lumMod val="75000"/>
                </a:srgbClr>
              </a:solidFill>
              <a:ln w="19050" cap="sq" cmpd="sng" algn="ctr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  <a:effectLst/>
            </p:spPr>
            <p:txBody>
              <a:bodyPr wrap="none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U</a:t>
                </a: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90" name="直接箭头连接符 89"/>
              <p:cNvCxnSpPr/>
              <p:nvPr/>
            </p:nvCxnSpPr>
            <p:spPr bwMode="auto">
              <a:xfrm flipV="1">
                <a:off x="6431032" y="587352"/>
                <a:ext cx="0" cy="2159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3" name="直接箭头连接符 92"/>
              <p:cNvCxnSpPr/>
              <p:nvPr/>
            </p:nvCxnSpPr>
            <p:spPr bwMode="auto">
              <a:xfrm flipV="1">
                <a:off x="6613591" y="1163615"/>
                <a:ext cx="0" cy="936625"/>
              </a:xfrm>
              <a:prstGeom prst="straightConnector1">
                <a:avLst/>
              </a:prstGeom>
              <a:ln>
                <a:tailEnd type="triangle" w="med" len="lg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" name="直接箭头连接符 143"/>
              <p:cNvCxnSpPr/>
              <p:nvPr/>
            </p:nvCxnSpPr>
            <p:spPr bwMode="auto">
              <a:xfrm flipV="1">
                <a:off x="6253235" y="1196952"/>
                <a:ext cx="0" cy="4318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oval" w="med" len="med"/>
                <a:tailEnd type="arrow" w="med" len="med"/>
              </a:ln>
              <a:effectLst/>
            </p:spPr>
          </p:cxnSp>
          <p:cxnSp>
            <p:nvCxnSpPr>
              <p:cNvPr id="96" name="直接连接符 95"/>
              <p:cNvCxnSpPr/>
              <p:nvPr/>
            </p:nvCxnSpPr>
            <p:spPr bwMode="auto">
              <a:xfrm flipH="1">
                <a:off x="6023051" y="2016102"/>
                <a:ext cx="107948" cy="179388"/>
              </a:xfrm>
              <a:prstGeom prst="line">
                <a:avLst/>
              </a:prstGeom>
              <a:noFill/>
              <a:ln w="19050" cap="flat" cmpd="sng" algn="ctr">
                <a:solidFill>
                  <a:srgbClr val="00FFFF"/>
                </a:solidFill>
                <a:prstDash val="solid"/>
              </a:ln>
              <a:effectLst/>
            </p:spPr>
          </p:cxnSp>
          <p:sp>
            <p:nvSpPr>
              <p:cNvPr id="146" name="流程图: 终止 145"/>
              <p:cNvSpPr/>
              <p:nvPr/>
            </p:nvSpPr>
            <p:spPr bwMode="auto">
              <a:xfrm flipH="1">
                <a:off x="6335784" y="1714477"/>
                <a:ext cx="552441" cy="287338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&lt;&lt;2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48" name="矩形 147"/>
              <p:cNvSpPr/>
              <p:nvPr/>
            </p:nvSpPr>
            <p:spPr bwMode="auto">
              <a:xfrm>
                <a:off x="5889703" y="1673202"/>
                <a:ext cx="398456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26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49" name="直接连接符 148"/>
              <p:cNvCxnSpPr/>
              <p:nvPr/>
            </p:nvCxnSpPr>
            <p:spPr bwMode="auto">
              <a:xfrm flipH="1">
                <a:off x="6181798" y="1366815"/>
                <a:ext cx="142873" cy="144462"/>
              </a:xfrm>
              <a:prstGeom prst="line">
                <a:avLst/>
              </a:prstGeom>
              <a:noFill/>
              <a:ln w="19050" cap="flat" cmpd="sng" algn="ctr">
                <a:solidFill>
                  <a:srgbClr val="00FFFF"/>
                </a:solidFill>
                <a:prstDash val="solid"/>
              </a:ln>
              <a:effectLst/>
            </p:spPr>
          </p:cxnSp>
          <p:sp>
            <p:nvSpPr>
              <p:cNvPr id="150" name="矩形 149"/>
              <p:cNvSpPr/>
              <p:nvPr/>
            </p:nvSpPr>
            <p:spPr bwMode="auto">
              <a:xfrm>
                <a:off x="5821443" y="1239815"/>
                <a:ext cx="396868" cy="414337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4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03" name="流程图: 终止 102"/>
              <p:cNvSpPr/>
              <p:nvPr/>
            </p:nvSpPr>
            <p:spPr bwMode="auto">
              <a:xfrm flipH="1">
                <a:off x="6337371" y="2232002"/>
                <a:ext cx="554029" cy="300038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chemeClr val="bg2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&lt;&lt;2</a:t>
                </a:r>
                <a:endParaRPr kumimoji="1" lang="en-US" altLang="zh-CN" sz="2000" b="1" i="0" u="none" strike="noStrike" kern="1200" cap="none" spc="0" normalizeH="0" baseline="0" noProof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62" name="流程图: 终止 161"/>
              <p:cNvSpPr/>
              <p:nvPr/>
            </p:nvSpPr>
            <p:spPr bwMode="auto">
              <a:xfrm rot="16200000" flipH="1">
                <a:off x="5784925" y="5572105"/>
                <a:ext cx="649288" cy="287333"/>
              </a:xfrm>
              <a:prstGeom prst="flowChartTerminator">
                <a:avLst/>
              </a:prstGeom>
              <a:solidFill>
                <a:srgbClr val="3366FF">
                  <a:lumMod val="75000"/>
                </a:srgbClr>
              </a:solidFill>
              <a:ln w="25400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vert="eaVert" lIns="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/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01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811" name="直接连接符 164"/>
              <p:cNvCxnSpPr/>
              <p:nvPr/>
            </p:nvCxnSpPr>
            <p:spPr>
              <a:xfrm>
                <a:off x="7149426" y="4403702"/>
                <a:ext cx="180000" cy="0"/>
              </a:xfrm>
              <a:prstGeom prst="line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29812" name="直接连接符 166"/>
              <p:cNvCxnSpPr/>
              <p:nvPr/>
            </p:nvCxnSpPr>
            <p:spPr>
              <a:xfrm>
                <a:off x="7332692" y="4403702"/>
                <a:ext cx="0" cy="1188000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813" name="直接连接符 167"/>
              <p:cNvCxnSpPr/>
              <p:nvPr/>
            </p:nvCxnSpPr>
            <p:spPr>
              <a:xfrm>
                <a:off x="6253192" y="5612674"/>
                <a:ext cx="1043982" cy="0"/>
              </a:xfrm>
              <a:prstGeom prst="line">
                <a:avLst/>
              </a:prstGeom>
              <a:ln>
                <a:headEnd type="arrow" w="med" len="med"/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3" name="矩形 172"/>
              <p:cNvSpPr/>
              <p:nvPr/>
            </p:nvSpPr>
            <p:spPr bwMode="auto">
              <a:xfrm>
                <a:off x="1738462" y="3568677"/>
                <a:ext cx="1393801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zh-CN" altLang="en-US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黑体" panose="02010609060101010101" charset="-122"/>
                    <a:ea typeface="黑体" panose="02010609060101010101" charset="-122"/>
                    <a:cs typeface="Calibri" panose="020F0502020204030204" pitchFamily="34" charset="0"/>
                  </a:rPr>
                  <a:t>指令存储器</a:t>
                </a:r>
                <a:endParaRPr kumimoji="1" lang="zh-CN" altLang="en-US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黑体" panose="02010609060101010101" charset="-122"/>
                  <a:ea typeface="黑体" panose="02010609060101010101" charset="-122"/>
                  <a:cs typeface="Calibri" panose="020F0502020204030204" pitchFamily="34" charset="0"/>
                </a:endParaRPr>
              </a:p>
            </p:txBody>
          </p:sp>
          <p:cxnSp>
            <p:nvCxnSpPr>
              <p:cNvPr id="29815" name="直接连接符 173"/>
              <p:cNvCxnSpPr/>
              <p:nvPr/>
            </p:nvCxnSpPr>
            <p:spPr>
              <a:xfrm>
                <a:off x="6253192" y="5763868"/>
                <a:ext cx="360362" cy="0"/>
              </a:xfrm>
              <a:prstGeom prst="line">
                <a:avLst/>
              </a:prstGeom>
              <a:ln>
                <a:headEnd type="arrow" w="med" len="med"/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4" name="矩形 183"/>
              <p:cNvSpPr/>
              <p:nvPr/>
            </p:nvSpPr>
            <p:spPr bwMode="auto">
              <a:xfrm>
                <a:off x="4922933" y="3682977"/>
                <a:ext cx="380994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qa</a:t>
                </a:r>
                <a:endParaRPr kumimoji="1" lang="en-US" altLang="zh-CN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85" name="矩形 184"/>
              <p:cNvSpPr/>
              <p:nvPr/>
            </p:nvSpPr>
            <p:spPr bwMode="auto">
              <a:xfrm>
                <a:off x="4919758" y="4271940"/>
                <a:ext cx="380994" cy="4159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qb</a:t>
                </a:r>
                <a:endParaRPr kumimoji="1" lang="en-US" altLang="zh-CN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818" name="直接箭头连接符 189"/>
              <p:cNvCxnSpPr/>
              <p:nvPr/>
            </p:nvCxnSpPr>
            <p:spPr>
              <a:xfrm flipV="1">
                <a:off x="1285852" y="2341539"/>
                <a:ext cx="0" cy="593725"/>
              </a:xfrm>
              <a:prstGeom prst="straightConnector1">
                <a:avLst/>
              </a:prstGeom>
              <a:ln>
                <a:headEnd type="none" w="sm" len="sm"/>
                <a:tailEnd type="arrow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2" name="矩形 191"/>
              <p:cNvSpPr/>
              <p:nvPr/>
            </p:nvSpPr>
            <p:spPr bwMode="auto">
              <a:xfrm>
                <a:off x="929701" y="2843458"/>
                <a:ext cx="611684" cy="41419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clrn</a:t>
                </a:r>
                <a:endParaRPr kumimoji="1" lang="en-US" altLang="zh-C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29821" name="等腰三角形 193"/>
              <p:cNvSpPr/>
              <p:nvPr/>
            </p:nvSpPr>
            <p:spPr>
              <a:xfrm>
                <a:off x="1714480" y="2184377"/>
                <a:ext cx="144462" cy="144462"/>
              </a:xfrm>
              <a:prstGeom prst="triangle">
                <a:avLst>
                  <a:gd name="adj" fmla="val 50000"/>
                </a:avLst>
              </a:prstGeom>
              <a:solidFill>
                <a:srgbClr val="00FFFF"/>
              </a:solidFill>
              <a:ln w="12700" cap="sq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wrap="none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zh-CN" sz="2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822" name="等腰三角形 194"/>
              <p:cNvSpPr/>
              <p:nvPr/>
            </p:nvSpPr>
            <p:spPr>
              <a:xfrm>
                <a:off x="8201054" y="5340327"/>
                <a:ext cx="144463" cy="142875"/>
              </a:xfrm>
              <a:prstGeom prst="triangle">
                <a:avLst>
                  <a:gd name="adj" fmla="val 50000"/>
                </a:avLst>
              </a:prstGeom>
              <a:solidFill>
                <a:srgbClr val="00FFFF"/>
              </a:solidFill>
              <a:ln w="12700" cap="sq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wrap="none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zh-CN" sz="2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823" name="等腰三角形 195"/>
              <p:cNvSpPr/>
              <p:nvPr/>
            </p:nvSpPr>
            <p:spPr>
              <a:xfrm>
                <a:off x="4532342" y="4573564"/>
                <a:ext cx="144462" cy="142875"/>
              </a:xfrm>
              <a:prstGeom prst="triangle">
                <a:avLst>
                  <a:gd name="adj" fmla="val 50000"/>
                </a:avLst>
              </a:prstGeom>
              <a:solidFill>
                <a:srgbClr val="00FFFF"/>
              </a:solidFill>
              <a:ln w="12700" cap="sq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wrap="none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zh-CN" sz="2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58" name="直接连接符 157"/>
              <p:cNvCxnSpPr/>
              <p:nvPr/>
            </p:nvCxnSpPr>
            <p:spPr bwMode="auto">
              <a:xfrm flipH="1">
                <a:off x="6545330" y="1369990"/>
                <a:ext cx="142873" cy="144462"/>
              </a:xfrm>
              <a:prstGeom prst="line">
                <a:avLst/>
              </a:prstGeom>
              <a:noFill/>
              <a:ln w="19050" cap="flat" cmpd="sng" algn="ctr">
                <a:solidFill>
                  <a:srgbClr val="FFC000"/>
                </a:solidFill>
                <a:prstDash val="solid"/>
              </a:ln>
              <a:effectLst/>
            </p:spPr>
          </p:cxnSp>
          <p:sp>
            <p:nvSpPr>
              <p:cNvPr id="159" name="矩形 158"/>
              <p:cNvSpPr/>
              <p:nvPr/>
            </p:nvSpPr>
            <p:spPr bwMode="auto">
              <a:xfrm>
                <a:off x="6635629" y="1232224"/>
                <a:ext cx="396868" cy="414338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28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826" name="直接箭头连接符 160"/>
              <p:cNvCxnSpPr/>
              <p:nvPr/>
            </p:nvCxnSpPr>
            <p:spPr>
              <a:xfrm flipV="1">
                <a:off x="1785918" y="2332717"/>
                <a:ext cx="0" cy="180000"/>
              </a:xfrm>
              <a:prstGeom prst="straightConnector1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</p:spPr>
          </p:cxnSp>
          <p:sp>
            <p:nvSpPr>
              <p:cNvPr id="163" name="矩形 162"/>
              <p:cNvSpPr/>
              <p:nvPr/>
            </p:nvSpPr>
            <p:spPr bwMode="auto">
              <a:xfrm>
                <a:off x="1596905" y="2355274"/>
                <a:ext cx="730238" cy="311150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clk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166" name="直接箭头连接符 165"/>
              <p:cNvCxnSpPr/>
              <p:nvPr/>
            </p:nvCxnSpPr>
            <p:spPr bwMode="auto">
              <a:xfrm flipV="1">
                <a:off x="8291550" y="5489552"/>
                <a:ext cx="0" cy="431800"/>
              </a:xfrm>
              <a:prstGeom prst="straightConnector1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05" name="矩形 86"/>
              <p:cNvSpPr/>
              <p:nvPr/>
            </p:nvSpPr>
            <p:spPr bwMode="auto">
              <a:xfrm>
                <a:off x="7924844" y="5895952"/>
                <a:ext cx="730238" cy="311150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clk</a:t>
                </a:r>
                <a:endParaRPr kumimoji="1" lang="en-US" altLang="zh-CN" sz="1800" b="1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sp>
            <p:nvSpPr>
              <p:cNvPr id="11276" name="TextBox 154"/>
              <p:cNvSpPr txBox="1">
                <a:spLocks noChangeArrowheads="1"/>
              </p:cNvSpPr>
              <p:nvPr/>
            </p:nvSpPr>
            <p:spPr bwMode="auto">
              <a:xfrm>
                <a:off x="3112017" y="680464"/>
                <a:ext cx="496373" cy="418864"/>
              </a:xfrm>
              <a:prstGeom prst="rect">
                <a:avLst/>
              </a:prstGeom>
              <a:noFill/>
              <a:ln w="9525">
                <a:noFill/>
                <a:miter lim="800000"/>
              </a:ln>
            </p:spPr>
            <p:txBody>
              <a:bodyPr wrap="square">
                <a:spAutoFit/>
              </a:bodyPr>
              <a:lstStyle/>
              <a:p>
                <a:pPr marR="0" defTabSz="914400">
                  <a:buClrTx/>
                  <a:buSzTx/>
                  <a:buFontTx/>
                  <a:defRPr/>
                </a:pPr>
                <a:r>
                  <a:rPr kumimoji="1" lang="en-US" altLang="zh-CN" sz="2000" b="1" kern="1200" cap="none" spc="0" normalizeH="0" baseline="0" noProof="0" dirty="0">
                    <a:solidFill>
                      <a:schemeClr val="bg2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00</a:t>
                </a:r>
                <a:endParaRPr kumimoji="1" lang="en-US" altLang="zh-CN" sz="2000" b="1" kern="1200" cap="none" spc="0" normalizeH="0" baseline="0" noProof="0" dirty="0">
                  <a:solidFill>
                    <a:schemeClr val="bg2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9834" name="直接连接符 195"/>
              <p:cNvCxnSpPr/>
              <p:nvPr/>
            </p:nvCxnSpPr>
            <p:spPr>
              <a:xfrm>
                <a:off x="1596787" y="658089"/>
                <a:ext cx="357190" cy="1588"/>
              </a:xfrm>
              <a:prstGeom prst="line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29835" name="直接连接符 197"/>
              <p:cNvCxnSpPr/>
              <p:nvPr/>
            </p:nvCxnSpPr>
            <p:spPr>
              <a:xfrm rot="5400000">
                <a:off x="1322480" y="909122"/>
                <a:ext cx="468000" cy="1588"/>
              </a:xfrm>
              <a:prstGeom prst="line">
                <a:avLst/>
              </a:prstGeom>
              <a:ln w="28575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</p:grpSp>
        <p:sp>
          <p:nvSpPr>
            <p:cNvPr id="204" name="矩形 203"/>
            <p:cNvSpPr/>
            <p:nvPr/>
          </p:nvSpPr>
          <p:spPr bwMode="auto">
            <a:xfrm>
              <a:off x="2051200" y="-197239"/>
              <a:ext cx="1204169" cy="30947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72000" tIns="0" rIns="0" bIns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宋体" panose="02010600030101010101" pitchFamily="2" charset="-122"/>
                  <a:cs typeface="+mn-ea"/>
                </a:rPr>
                <a:t>pcsource</a:t>
              </a:r>
              <a:endParaRPr kumimoji="0" lang="en-US" altLang="zh-CN" sz="2000" b="1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ea"/>
              </a:endParaRPr>
            </a:p>
          </p:txBody>
        </p:sp>
        <p:grpSp>
          <p:nvGrpSpPr>
            <p:cNvPr id="29713" name="组合 207"/>
            <p:cNvGrpSpPr/>
            <p:nvPr/>
          </p:nvGrpSpPr>
          <p:grpSpPr>
            <a:xfrm>
              <a:off x="5391150" y="2720975"/>
              <a:ext cx="930614" cy="295275"/>
              <a:chOff x="5391124" y="2720952"/>
              <a:chExt cx="930614" cy="295275"/>
            </a:xfrm>
          </p:grpSpPr>
          <p:cxnSp>
            <p:nvCxnSpPr>
              <p:cNvPr id="206" name="直接箭头连接符 205"/>
              <p:cNvCxnSpPr/>
              <p:nvPr/>
            </p:nvCxnSpPr>
            <p:spPr bwMode="auto">
              <a:xfrm flipH="1">
                <a:off x="5391124" y="2892402"/>
                <a:ext cx="360363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207" name="矩形 206"/>
              <p:cNvSpPr/>
              <p:nvPr/>
            </p:nvSpPr>
            <p:spPr bwMode="auto">
              <a:xfrm>
                <a:off x="5421625" y="2720952"/>
                <a:ext cx="900113" cy="29527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宋体" panose="02010600030101010101" pitchFamily="2" charset="-122"/>
                    <a:cs typeface="+mn-ea"/>
                  </a:rPr>
                  <a:t>regrt</a:t>
                </a:r>
                <a:endParaRPr kumimoji="0" lang="en-US" altLang="zh-C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4" name="组合 210"/>
            <p:cNvGrpSpPr/>
            <p:nvPr/>
          </p:nvGrpSpPr>
          <p:grpSpPr>
            <a:xfrm>
              <a:off x="5483348" y="3555832"/>
              <a:ext cx="1027222" cy="687434"/>
              <a:chOff x="5483505" y="3555770"/>
              <a:chExt cx="1027222" cy="687101"/>
            </a:xfrm>
          </p:grpSpPr>
          <p:cxnSp>
            <p:nvCxnSpPr>
              <p:cNvPr id="209" name="直接箭头连接符 208"/>
              <p:cNvCxnSpPr/>
              <p:nvPr/>
            </p:nvCxnSpPr>
            <p:spPr bwMode="auto">
              <a:xfrm>
                <a:off x="6111533" y="3838302"/>
                <a:ext cx="9941" cy="404569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210" name="矩形 209"/>
              <p:cNvSpPr/>
              <p:nvPr/>
            </p:nvSpPr>
            <p:spPr bwMode="auto">
              <a:xfrm>
                <a:off x="5483505" y="3555770"/>
                <a:ext cx="1027222" cy="64599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wrap="square" lIns="72000" tIns="0" rIns="0" bIns="0" anchor="ctr"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aluimm</a:t>
                </a:r>
                <a:endParaRPr kumimoji="1" lang="en-US" altLang="zh-C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5" name="组合 213"/>
            <p:cNvGrpSpPr/>
            <p:nvPr/>
          </p:nvGrpSpPr>
          <p:grpSpPr>
            <a:xfrm>
              <a:off x="5529263" y="5059363"/>
              <a:ext cx="1285875" cy="1317109"/>
              <a:chOff x="5529237" y="5058819"/>
              <a:chExt cx="1285875" cy="1317633"/>
            </a:xfrm>
          </p:grpSpPr>
          <p:cxnSp>
            <p:nvCxnSpPr>
              <p:cNvPr id="212" name="直接箭头连接符 211"/>
              <p:cNvCxnSpPr/>
              <p:nvPr/>
            </p:nvCxnSpPr>
            <p:spPr bwMode="auto">
              <a:xfrm>
                <a:off x="6108674" y="5058819"/>
                <a:ext cx="0" cy="323979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213" name="矩形 212"/>
              <p:cNvSpPr/>
              <p:nvPr/>
            </p:nvSpPr>
            <p:spPr bwMode="auto">
              <a:xfrm>
                <a:off x="5529237" y="6053505"/>
                <a:ext cx="1285875" cy="322947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>
                <a:spAutoFit/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mem2reg</a:t>
                </a: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6" name="组合 216"/>
            <p:cNvGrpSpPr/>
            <p:nvPr/>
          </p:nvGrpSpPr>
          <p:grpSpPr>
            <a:xfrm>
              <a:off x="6687931" y="3056186"/>
              <a:ext cx="693872" cy="596652"/>
              <a:chOff x="6687960" y="3056163"/>
              <a:chExt cx="693872" cy="596652"/>
            </a:xfrm>
          </p:grpSpPr>
          <p:cxnSp>
            <p:nvCxnSpPr>
              <p:cNvPr id="215" name="直接箭头连接符 94"/>
              <p:cNvCxnSpPr/>
              <p:nvPr/>
            </p:nvCxnSpPr>
            <p:spPr bwMode="auto">
              <a:xfrm rot="10800000" flipV="1">
                <a:off x="6805642" y="3400402"/>
                <a:ext cx="252412" cy="252413"/>
              </a:xfrm>
              <a:prstGeom prst="bentConnector2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  <p:sp>
            <p:nvSpPr>
              <p:cNvPr id="216" name="矩形 215"/>
              <p:cNvSpPr/>
              <p:nvPr/>
            </p:nvSpPr>
            <p:spPr bwMode="auto">
              <a:xfrm>
                <a:off x="6687960" y="3056163"/>
                <a:ext cx="693872" cy="41419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aluc</a:t>
                </a:r>
                <a:endPara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7" name="组合 221"/>
            <p:cNvGrpSpPr/>
            <p:nvPr/>
          </p:nvGrpSpPr>
          <p:grpSpPr>
            <a:xfrm>
              <a:off x="8232464" y="3568313"/>
              <a:ext cx="952334" cy="584014"/>
              <a:chOff x="8232480" y="3568427"/>
              <a:chExt cx="952316" cy="584477"/>
            </a:xfrm>
          </p:grpSpPr>
          <p:sp>
            <p:nvSpPr>
              <p:cNvPr id="218" name="矩形 217"/>
              <p:cNvSpPr/>
              <p:nvPr/>
            </p:nvSpPr>
            <p:spPr bwMode="auto">
              <a:xfrm>
                <a:off x="8232480" y="3568427"/>
                <a:ext cx="952316" cy="29098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wrap="square" lIns="72000" tIns="0" rIns="0" bIns="0" anchor="ctr">
                <a:spAutoFit/>
              </a:bodyPr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wmem</a:t>
                </a:r>
                <a:r>
                  <a:rPr kumimoji="1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   </a:t>
                </a:r>
                <a:endPara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  <p:cxnSp>
            <p:nvCxnSpPr>
              <p:cNvPr id="219" name="直接箭头连接符 218"/>
              <p:cNvCxnSpPr/>
              <p:nvPr/>
            </p:nvCxnSpPr>
            <p:spPr bwMode="auto">
              <a:xfrm>
                <a:off x="8488329" y="3836741"/>
                <a:ext cx="0" cy="316163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00FF00"/>
                </a:solidFill>
                <a:prstDash val="solid"/>
                <a:tailEnd type="triangle" w="med" len="lg"/>
              </a:ln>
              <a:effectLst/>
            </p:spPr>
          </p:cxnSp>
        </p:grpSp>
        <p:grpSp>
          <p:nvGrpSpPr>
            <p:cNvPr id="29718" name="组合 224"/>
            <p:cNvGrpSpPr/>
            <p:nvPr/>
          </p:nvGrpSpPr>
          <p:grpSpPr>
            <a:xfrm>
              <a:off x="4684192" y="5143641"/>
              <a:ext cx="737654" cy="285468"/>
              <a:chOff x="4684167" y="5143729"/>
              <a:chExt cx="737653" cy="285318"/>
            </a:xfrm>
          </p:grpSpPr>
          <p:cxnSp>
            <p:nvCxnSpPr>
              <p:cNvPr id="29722" name="直接箭头连接符 222"/>
              <p:cNvCxnSpPr/>
              <p:nvPr/>
            </p:nvCxnSpPr>
            <p:spPr>
              <a:xfrm rot="5400000">
                <a:off x="4792117" y="5178438"/>
                <a:ext cx="0" cy="215900"/>
              </a:xfrm>
              <a:prstGeom prst="straightConnector1">
                <a:avLst/>
              </a:prstGeom>
              <a:ln w="38100" cap="sq" cmpd="sng">
                <a:solidFill>
                  <a:srgbClr val="00FF00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224" name="矩形 223"/>
              <p:cNvSpPr/>
              <p:nvPr/>
            </p:nvSpPr>
            <p:spPr bwMode="auto">
              <a:xfrm>
                <a:off x="4804825" y="5143729"/>
                <a:ext cx="616995" cy="285318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宋体" panose="02010600030101010101" pitchFamily="2" charset="-122"/>
                    <a:cs typeface="+mn-ea"/>
                  </a:rPr>
                  <a:t>sext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  <p:grpSp>
          <p:nvGrpSpPr>
            <p:cNvPr id="29719" name="组合 227"/>
            <p:cNvGrpSpPr/>
            <p:nvPr/>
          </p:nvGrpSpPr>
          <p:grpSpPr>
            <a:xfrm>
              <a:off x="3652838" y="3679825"/>
              <a:ext cx="1347108" cy="377825"/>
              <a:chOff x="3652867" y="3679802"/>
              <a:chExt cx="1347108" cy="377825"/>
            </a:xfrm>
          </p:grpSpPr>
          <p:cxnSp>
            <p:nvCxnSpPr>
              <p:cNvPr id="29720" name="直接箭头连接符 155"/>
              <p:cNvCxnSpPr/>
              <p:nvPr/>
            </p:nvCxnSpPr>
            <p:spPr>
              <a:xfrm>
                <a:off x="3652867" y="3883002"/>
                <a:ext cx="288925" cy="0"/>
              </a:xfrm>
              <a:prstGeom prst="straightConnector1">
                <a:avLst/>
              </a:prstGeom>
              <a:ln w="38100" cap="sq" cmpd="sng">
                <a:solidFill>
                  <a:srgbClr val="00FF00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227" name="矩形 226"/>
              <p:cNvSpPr/>
              <p:nvPr/>
            </p:nvSpPr>
            <p:spPr bwMode="auto">
              <a:xfrm>
                <a:off x="3952225" y="3679802"/>
                <a:ext cx="1047750" cy="37782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72000" tIns="0" rIns="0" bIns="0" anchor="ctr"/>
              <a:lstStyle/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8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Times New Roman" panose="02020603050405020304" charset="0"/>
                    <a:ea typeface="宋体" panose="02010600030101010101" pitchFamily="2" charset="-122"/>
                    <a:cs typeface="+mn-ea"/>
                  </a:rPr>
                  <a:t>wreg</a:t>
                </a:r>
                <a:endParaRPr kumimoji="1" lang="en-US" altLang="zh-CN" sz="1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endParaRPr>
              </a:p>
            </p:txBody>
          </p:sp>
        </p:grpSp>
      </p:grpSp>
      <p:grpSp>
        <p:nvGrpSpPr>
          <p:cNvPr id="106" name="组合 228"/>
          <p:cNvGrpSpPr/>
          <p:nvPr/>
        </p:nvGrpSpPr>
        <p:grpSpPr>
          <a:xfrm rot="0">
            <a:off x="3831590" y="5633720"/>
            <a:ext cx="1137920" cy="394335"/>
            <a:chOff x="2183217" y="5633804"/>
            <a:chExt cx="1188550" cy="414338"/>
          </a:xfrm>
        </p:grpSpPr>
        <p:cxnSp>
          <p:nvCxnSpPr>
            <p:cNvPr id="29709" name="直接箭头连接符 198"/>
            <p:cNvCxnSpPr/>
            <p:nvPr/>
          </p:nvCxnSpPr>
          <p:spPr>
            <a:xfrm rot="10800000">
              <a:off x="2183217" y="6013470"/>
              <a:ext cx="1188550" cy="1588"/>
            </a:xfrm>
            <a:prstGeom prst="straightConnector1">
              <a:avLst/>
            </a:prstGeom>
            <a:ln>
              <a:headEnd type="none" w="sm" len="sm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2" name="矩形 181"/>
            <p:cNvSpPr/>
            <p:nvPr/>
          </p:nvSpPr>
          <p:spPr bwMode="auto">
            <a:xfrm>
              <a:off x="2311923" y="5633804"/>
              <a:ext cx="1001051" cy="414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72000" tIns="0" rIns="0" bIns="0" anchor="ctr"/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800" b="1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func</a:t>
              </a:r>
              <a:r>
                <a:rPr kumimoji="1" lang="en-US" altLang="zh-CN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[5:0</a:t>
              </a:r>
              <a:r>
                <a:rPr kumimoji="1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charset="0"/>
                  <a:ea typeface="宋体" panose="02010600030101010101" pitchFamily="2" charset="-122"/>
                  <a:cs typeface="+mn-ea"/>
                </a:rPr>
                <a:t>]</a:t>
              </a:r>
              <a:endParaRPr kumimoji="1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charset="0"/>
                <a:ea typeface="宋体" panose="02010600030101010101" pitchFamily="2" charset="-122"/>
                <a:cs typeface="+mn-ea"/>
              </a:endParaRPr>
            </a:p>
          </p:txBody>
        </p:sp>
      </p:grpSp>
      <p:cxnSp>
        <p:nvCxnSpPr>
          <p:cNvPr id="30724" name="直接连接符 178"/>
          <p:cNvCxnSpPr/>
          <p:nvPr/>
        </p:nvCxnSpPr>
        <p:spPr>
          <a:xfrm rot="5400000">
            <a:off x="3840480" y="4850765"/>
            <a:ext cx="2279015" cy="1270"/>
          </a:xfrm>
          <a:prstGeom prst="line">
            <a:avLst/>
          </a:prstGeom>
          <a:ln>
            <a:headEnd type="oval" w="lg" len="lg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/>
          <p:nvPr/>
        </p:nvCxnSpPr>
        <p:spPr bwMode="auto">
          <a:xfrm flipV="1">
            <a:off x="4963160" y="252730"/>
            <a:ext cx="6350" cy="323850"/>
          </a:xfrm>
          <a:prstGeom prst="straightConnector1">
            <a:avLst/>
          </a:prstGeom>
          <a:noFill/>
          <a:ln w="38100" cap="flat" cmpd="sng" algn="ctr">
            <a:solidFill>
              <a:srgbClr val="00FF00"/>
            </a:solidFill>
            <a:prstDash val="solid"/>
            <a:headEnd type="arrow" w="med" len="med"/>
            <a:tailEnd type="none" w="med" len="med"/>
          </a:ln>
          <a:effectLst/>
        </p:spPr>
      </p:cxnSp>
      <p:sp>
        <p:nvSpPr>
          <p:cNvPr id="40" name="TextBox 154"/>
          <p:cNvSpPr txBox="1">
            <a:spLocks noChangeArrowheads="1"/>
          </p:cNvSpPr>
          <p:nvPr/>
        </p:nvSpPr>
        <p:spPr bwMode="auto">
          <a:xfrm>
            <a:off x="4752343" y="582319"/>
            <a:ext cx="475616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01</a:t>
            </a:r>
            <a:endParaRPr kumimoji="1" lang="en-US" altLang="zh-CN" sz="2000" b="1" kern="1200" cap="none" spc="0" normalizeH="0" baseline="0" noProof="0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41" name="TextBox 154"/>
          <p:cNvSpPr txBox="1">
            <a:spLocks noChangeArrowheads="1"/>
          </p:cNvSpPr>
          <p:nvPr/>
        </p:nvSpPr>
        <p:spPr bwMode="auto">
          <a:xfrm>
            <a:off x="4745358" y="829969"/>
            <a:ext cx="475616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10</a:t>
            </a:r>
            <a:endParaRPr kumimoji="1" lang="en-US" altLang="zh-CN" sz="2000" b="1" kern="1200" cap="none" spc="0" normalizeH="0" baseline="0" noProof="0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42" name="TextBox 154"/>
          <p:cNvSpPr txBox="1">
            <a:spLocks noChangeArrowheads="1"/>
          </p:cNvSpPr>
          <p:nvPr/>
        </p:nvSpPr>
        <p:spPr bwMode="auto">
          <a:xfrm>
            <a:off x="4745358" y="1404644"/>
            <a:ext cx="475616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11</a:t>
            </a:r>
            <a:endParaRPr kumimoji="1" lang="en-US" altLang="zh-CN" sz="2000" b="1" kern="1200" cap="none" spc="0" normalizeH="0" baseline="0" noProof="0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cxnSp>
        <p:nvCxnSpPr>
          <p:cNvPr id="43" name="直接箭头连接符 138"/>
          <p:cNvCxnSpPr/>
          <p:nvPr/>
        </p:nvCxnSpPr>
        <p:spPr>
          <a:xfrm flipH="1" flipV="1">
            <a:off x="5151120" y="1579880"/>
            <a:ext cx="1106805" cy="3810"/>
          </a:xfrm>
          <a:prstGeom prst="straightConnector1">
            <a:avLst/>
          </a:prstGeom>
          <a:ln w="28575" cap="sq" cmpd="sng">
            <a:solidFill>
              <a:srgbClr val="000000"/>
            </a:solidFill>
            <a:prstDash val="solid"/>
            <a:headEnd type="none" w="sm" len="sm"/>
            <a:tailEnd type="arrow" w="med" len="med"/>
          </a:ln>
        </p:spPr>
      </p:cxnSp>
      <p:sp>
        <p:nvSpPr>
          <p:cNvPr id="44" name="TextBox 154"/>
          <p:cNvSpPr txBox="1">
            <a:spLocks noChangeArrowheads="1"/>
          </p:cNvSpPr>
          <p:nvPr/>
        </p:nvSpPr>
        <p:spPr bwMode="auto">
          <a:xfrm>
            <a:off x="6277610" y="1382395"/>
            <a:ext cx="794385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32’b0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45" name="TextBox 154"/>
          <p:cNvSpPr txBox="1">
            <a:spLocks noChangeArrowheads="1"/>
          </p:cNvSpPr>
          <p:nvPr/>
        </p:nvSpPr>
        <p:spPr bwMode="auto">
          <a:xfrm>
            <a:off x="2733675" y="1827530"/>
            <a:ext cx="681990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npc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46" name="TextBox 154"/>
          <p:cNvSpPr txBox="1">
            <a:spLocks noChangeArrowheads="1"/>
          </p:cNvSpPr>
          <p:nvPr/>
        </p:nvSpPr>
        <p:spPr bwMode="auto">
          <a:xfrm>
            <a:off x="3968118" y="2514624"/>
            <a:ext cx="475616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pc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51" name="TextBox 154"/>
          <p:cNvSpPr txBox="1">
            <a:spLocks noChangeArrowheads="1"/>
          </p:cNvSpPr>
          <p:nvPr/>
        </p:nvSpPr>
        <p:spPr bwMode="auto">
          <a:xfrm>
            <a:off x="5356860" y="1057275"/>
            <a:ext cx="681990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pc4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61" name="TextBox 154"/>
          <p:cNvSpPr txBox="1">
            <a:spLocks noChangeArrowheads="1"/>
          </p:cNvSpPr>
          <p:nvPr/>
        </p:nvSpPr>
        <p:spPr bwMode="auto">
          <a:xfrm>
            <a:off x="6054090" y="896620"/>
            <a:ext cx="681990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jpc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63" name="TextBox 154"/>
          <p:cNvSpPr txBox="1">
            <a:spLocks noChangeArrowheads="1"/>
          </p:cNvSpPr>
          <p:nvPr/>
        </p:nvSpPr>
        <p:spPr bwMode="auto">
          <a:xfrm>
            <a:off x="5528310" y="433705"/>
            <a:ext cx="681990" cy="3987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R="0" defTabSz="914400">
              <a:buClrTx/>
              <a:buSzTx/>
              <a:buFontTx/>
              <a:defRPr/>
            </a:pPr>
            <a:r>
              <a:rPr kumimoji="1" lang="en-US" altLang="zh-CN" sz="2000" b="1" kern="1200" cap="none" spc="0" normalizeH="0" baseline="0" noProof="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charset="0"/>
                <a:ea typeface="宋体" panose="02010600030101010101" pitchFamily="2" charset="-122"/>
                <a:cs typeface="+mn-ea"/>
              </a:rPr>
              <a:t>bpc</a:t>
            </a:r>
            <a:endParaRPr kumimoji="1" lang="en-US" altLang="zh-CN" sz="2000" b="1" kern="1200" cap="none" spc="0" normalizeH="0" baseline="0" noProof="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charset="0"/>
              <a:ea typeface="宋体" panose="02010600030101010101" pitchFamily="2" charset="-122"/>
              <a:cs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565150" y="682625"/>
            <a:ext cx="175387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>
              <a:lnSpc>
                <a:spcPct val="150000"/>
              </a:lnSpc>
            </a:pPr>
            <a:r>
              <a:rPr lang="zh-CN" altLang="zh-CN" sz="2000" b="1">
                <a:solidFill>
                  <a:srgbClr val="FF0000"/>
                </a:solidFill>
              </a:rPr>
              <a:t>【思考】</a:t>
            </a:r>
            <a:r>
              <a:rPr lang="zh-CN" altLang="zh-CN" sz="2000" b="1"/>
              <a:t>该单周期</a:t>
            </a:r>
            <a:r>
              <a:rPr lang="en-US" altLang="zh-CN" sz="2000" b="1"/>
              <a:t>CPU</a:t>
            </a:r>
            <a:r>
              <a:rPr lang="zh-CN" altLang="en-US" sz="2000" b="1"/>
              <a:t>微架构图是否与代码描述的一致？请根据代码进行修改和完善</a:t>
            </a:r>
            <a:r>
              <a:rPr lang="zh-CN" altLang="en-US"/>
              <a:t>。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68070" y="715010"/>
            <a:ext cx="10212705" cy="5400040"/>
          </a:xfrm>
        </p:spPr>
        <p:txBody>
          <a:bodyPr>
            <a:noAutofit/>
          </a:bodyPr>
          <a:p>
            <a:pPr algn="l">
              <a:buClrTx/>
              <a:buSzTx/>
            </a:pPr>
            <a:r>
              <a:rPr sz="2300" b="1">
                <a:solidFill>
                  <a:srgbClr val="FF0000"/>
                </a:solidFill>
              </a:rPr>
              <a:t>实验报告要求：</a:t>
            </a:r>
            <a:endParaRPr sz="2300" b="1">
              <a:solidFill>
                <a:srgbClr val="FF0000"/>
              </a:solidFill>
            </a:endParaRPr>
          </a:p>
          <a:p>
            <a:r>
              <a:rPr sz="2300" b="1"/>
              <a:t>1. 分析</a:t>
            </a:r>
            <a:r>
              <a:rPr sz="2300" b="1">
                <a:solidFill>
                  <a:schemeClr val="accent1"/>
                </a:solidFill>
              </a:rPr>
              <a:t>IF_STAGE、Control_Unit</a:t>
            </a:r>
            <a:r>
              <a:rPr sz="2300" b="1"/>
              <a:t>两个模块的代码，说明其在CPU运行过程中发挥的作用与工作原理，模块接口中各信号的含义。给出两个模块的仿真结果，结合测试脚本对仿真结果进行详尽分析说明；</a:t>
            </a:r>
            <a:endParaRPr sz="2300" b="1"/>
          </a:p>
          <a:p>
            <a:pPr algn="l">
              <a:buClrTx/>
              <a:buSzTx/>
            </a:pPr>
            <a:r>
              <a:rPr lang="en-US" altLang="zh-CN" sz="2300" b="1"/>
              <a:t>2. </a:t>
            </a:r>
            <a:r>
              <a:rPr sz="2300" b="1"/>
              <a:t> </a:t>
            </a:r>
            <a:r>
              <a:rPr sz="2300" b="1">
                <a:sym typeface="+mn-ea"/>
              </a:rPr>
              <a:t>分析SCCPU（单周期CPU）代码，说明各个模块接口中信号的含义。自行设计指令序列，给出</a:t>
            </a:r>
            <a:r>
              <a:rPr sz="2300" b="1">
                <a:solidFill>
                  <a:schemeClr val="accent1"/>
                </a:solidFill>
                <a:sym typeface="+mn-ea"/>
              </a:rPr>
              <a:t>SCCPU</a:t>
            </a:r>
            <a:r>
              <a:rPr sz="2300" b="1">
                <a:sym typeface="+mn-ea"/>
              </a:rPr>
              <a:t>的仿真结果，并进行详尽的分析说明。</a:t>
            </a:r>
            <a:endParaRPr sz="2300" b="1">
              <a:sym typeface="+mn-ea"/>
            </a:endParaRPr>
          </a:p>
          <a:p>
            <a:pPr algn="l">
              <a:buClrTx/>
              <a:buSzTx/>
            </a:pPr>
            <a:r>
              <a:rPr altLang="zh-CN" sz="4400" b="1">
                <a:solidFill>
                  <a:srgbClr val="FF0000"/>
                </a:solidFill>
              </a:rPr>
              <a:t>重要通知：</a:t>
            </a:r>
            <a:endParaRPr altLang="zh-CN" sz="4400" b="1">
              <a:solidFill>
                <a:srgbClr val="FF0000"/>
              </a:solidFill>
            </a:endParaRPr>
          </a:p>
          <a:p>
            <a:pPr algn="l">
              <a:buClrTx/>
              <a:buSzTx/>
            </a:pPr>
            <a:r>
              <a:rPr altLang="zh-CN" sz="3600" b="1">
                <a:solidFill>
                  <a:srgbClr val="002060"/>
                </a:solidFill>
              </a:rPr>
              <a:t>晚上的班从下次课开始，上课时间调整至</a:t>
            </a:r>
            <a:r>
              <a:rPr lang="en-US" altLang="zh-CN" sz="3600" b="1">
                <a:solidFill>
                  <a:srgbClr val="002060"/>
                </a:solidFill>
              </a:rPr>
              <a:t>19:00</a:t>
            </a:r>
            <a:endParaRPr sz="3600" b="1">
              <a:solidFill>
                <a:srgbClr val="002060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olidFill>
                  <a:srgbClr val="002060"/>
                </a:solidFill>
              </a:rPr>
              <a:t>温馨提示</a:t>
            </a:r>
            <a:endParaRPr lang="zh-CN" altLang="en-US">
              <a:solidFill>
                <a:srgbClr val="00206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 sz="4800" b="1">
                <a:solidFill>
                  <a:srgbClr val="7030A0"/>
                </a:solidFill>
                <a:latin typeface="华文楷体" panose="02010600040101010101" charset="-122"/>
                <a:ea typeface="华文楷体" panose="02010600040101010101" charset="-122"/>
              </a:rPr>
              <a:t>        </a:t>
            </a:r>
            <a:r>
              <a:rPr lang="zh-CN" altLang="en-US" sz="4800" b="1">
                <a:solidFill>
                  <a:srgbClr val="7030A0"/>
                </a:solidFill>
                <a:latin typeface="华文楷体" panose="02010600040101010101" charset="-122"/>
                <a:ea typeface="华文楷体" panose="02010600040101010101" charset="-122"/>
              </a:rPr>
              <a:t>请同学们尽可能在下次课前完成上次实验任务，并撰写好实验报告，这样才能最大程度的避免期末总攻时手忙脚乱的情况发生。</a:t>
            </a:r>
            <a:endParaRPr lang="zh-CN" altLang="en-US" sz="4800" b="1">
              <a:solidFill>
                <a:srgbClr val="7030A0"/>
              </a:solidFill>
              <a:latin typeface="华文楷体" panose="02010600040101010101" charset="-122"/>
              <a:ea typeface="华文楷体" panose="02010600040101010101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55.xml><?xml version="1.0" encoding="utf-8"?>
<p:tagLst xmlns:p="http://schemas.openxmlformats.org/presentationml/2006/main">
  <p:tag name="KSO_WM_UNIT_ISCONTENTSTITLE" val="0"/>
  <p:tag name="KSO_WM_UNIT_ISNUMDGMTITLE" val="0"/>
  <p:tag name="KSO_WM_UNIT_PRESET_TEXT" val="空白演示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176_1*a*1"/>
  <p:tag name="KSO_WM_TEMPLATE_CATEGORY" val="custom"/>
  <p:tag name="KSO_WM_TEMPLATE_INDEX" val="20205176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输入您的封面副标题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176_1*b*1"/>
  <p:tag name="KSO_WM_TEMPLATE_CATEGORY" val="custom"/>
  <p:tag name="KSO_WM_TEMPLATE_INDEX" val="20205176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58.xml><?xml version="1.0" encoding="utf-8"?>
<p:tagLst xmlns:p="http://schemas.openxmlformats.org/presentationml/2006/main">
  <p:tag name="KSO_WM_UNIT_ISCONTENTSTITLE" val="0"/>
  <p:tag name="KSO_WM_UNIT_ISNUMDGMTITLE" val="0"/>
  <p:tag name="KSO_WM_UNIT_PRESET_TEXT" val="空白演示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176_1*a*1"/>
  <p:tag name="KSO_WM_TEMPLATE_CATEGORY" val="custom"/>
  <p:tag name="KSO_WM_TEMPLATE_INDEX" val="20205176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输入您的封面副标题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176_1*b*1"/>
  <p:tag name="KSO_WM_TEMPLATE_CATEGORY" val="custom"/>
  <p:tag name="KSO_WM_TEMPLATE_INDEX" val="20205176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1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2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2778</Words>
  <Application>WPS 演示</Application>
  <PresentationFormat>宽屏</PresentationFormat>
  <Paragraphs>353</Paragraphs>
  <Slides>13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4" baseType="lpstr">
      <vt:lpstr>Arial</vt:lpstr>
      <vt:lpstr>宋体</vt:lpstr>
      <vt:lpstr>Wingdings</vt:lpstr>
      <vt:lpstr>微软雅黑</vt:lpstr>
      <vt:lpstr>黑体</vt:lpstr>
      <vt:lpstr>Times New Roman</vt:lpstr>
      <vt:lpstr>Calibri</vt:lpstr>
      <vt:lpstr>Wingdings</vt:lpstr>
      <vt:lpstr>华文楷体</vt:lpstr>
      <vt:lpstr>Arial Unicode MS</vt:lpstr>
      <vt:lpstr>Office 主题​​</vt:lpstr>
      <vt:lpstr>计算机系统结构综合实验</vt:lpstr>
      <vt:lpstr>实验须知</vt:lpstr>
      <vt:lpstr>实验一 单周期CPU代码分析</vt:lpstr>
      <vt:lpstr>必备前驱知识一</vt:lpstr>
      <vt:lpstr>PowerPoint 演示文稿</vt:lpstr>
      <vt:lpstr>PowerPoint 演示文稿</vt:lpstr>
      <vt:lpstr>必备前驱知识二</vt:lpstr>
      <vt:lpstr>CPU支持的指令集（32位）</vt:lpstr>
      <vt:lpstr>PowerPoint 演示文稿</vt:lpstr>
      <vt:lpstr>PowerPoint 演示文稿</vt:lpstr>
      <vt:lpstr>PowerPoint 演示文稿</vt:lpstr>
      <vt:lpstr>PowerPoint 演示文稿</vt:lpstr>
      <vt:lpstr>温馨提示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王华</cp:lastModifiedBy>
  <cp:revision>379</cp:revision>
  <dcterms:created xsi:type="dcterms:W3CDTF">2019-06-19T02:08:00Z</dcterms:created>
  <dcterms:modified xsi:type="dcterms:W3CDTF">2025-04-27T08:59:13Z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2052-12.1.0.19302</vt:lpwstr>
  </property>
  <property fmtid="{D5CDD505-2E9C-101B-9397-08002B2CF9AE}" pid="3" name="ICV">
    <vt:lpwstr>69DF9EDC3C334AEC91B56D830AAFB280</vt:lpwstr>
  </property>
</Properties>
</file>