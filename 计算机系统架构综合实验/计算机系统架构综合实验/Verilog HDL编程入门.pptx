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1"/>
  </p:handoutMasterIdLst>
  <p:sldIdLst>
    <p:sldId id="510" r:id="rId3"/>
    <p:sldId id="462" r:id="rId4"/>
    <p:sldId id="588" r:id="rId5"/>
    <p:sldId id="589" r:id="rId7"/>
    <p:sldId id="590" r:id="rId8"/>
    <p:sldId id="591" r:id="rId9"/>
    <p:sldId id="592" r:id="rId10"/>
    <p:sldId id="463" r:id="rId11"/>
    <p:sldId id="464" r:id="rId12"/>
    <p:sldId id="465" r:id="rId13"/>
    <p:sldId id="561" r:id="rId14"/>
    <p:sldId id="562" r:id="rId15"/>
    <p:sldId id="466" r:id="rId16"/>
    <p:sldId id="468" r:id="rId17"/>
    <p:sldId id="469" r:id="rId18"/>
    <p:sldId id="539" r:id="rId19"/>
    <p:sldId id="53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2" userDrawn="1">
          <p15:clr>
            <a:srgbClr val="A4A3A4"/>
          </p15:clr>
        </p15:guide>
        <p15:guide id="2" pos="384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212"/>
        <p:guide pos="3846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1.png"/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9144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3716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8288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75340" y="88900"/>
            <a:ext cx="1043940" cy="1010285"/>
          </a:xfrm>
          <a:prstGeom prst="rect">
            <a:avLst/>
          </a:prstGeom>
        </p:spPr>
      </p:pic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515600"/>
            <a:ext cx="10969200" cy="473688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8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1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.bin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2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4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3632"/>
          <a:stretch>
            <a:fillRect/>
          </a:stretch>
        </p:blipFill>
        <p:spPr>
          <a:xfrm>
            <a:off x="11430" y="-23495"/>
            <a:ext cx="4867910" cy="677291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900680" y="1304290"/>
            <a:ext cx="9374505" cy="1379220"/>
          </a:xfrm>
        </p:spPr>
        <p:txBody>
          <a:bodyPr>
            <a:normAutofit/>
          </a:bodyPr>
          <a:p>
            <a:r>
              <a:rPr lang="en-US" altLang="zh-CN"/>
              <a:t>Verilog HDL</a:t>
            </a:r>
            <a:r>
              <a:rPr lang="zh-CN" altLang="en-US"/>
              <a:t>编程入门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223260" y="3318510"/>
            <a:ext cx="9051925" cy="202120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3200" b="1"/>
              <a:t>国家级计算机实验教学示范中心</a:t>
            </a:r>
            <a:endParaRPr lang="zh-CN" altLang="en-US" sz="3200" b="1"/>
          </a:p>
          <a:p>
            <a:pPr>
              <a:lnSpc>
                <a:spcPct val="150000"/>
              </a:lnSpc>
            </a:pPr>
            <a:r>
              <a:rPr lang="zh-CN" altLang="en-US" sz="3200" b="1"/>
              <a:t>王华</a:t>
            </a:r>
            <a:endParaRPr lang="zh-CN" altLang="en-US" sz="3200" b="1"/>
          </a:p>
          <a:p>
            <a:endParaRPr lang="zh-CN" altLang="en-US" sz="3200" b="1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330" y="816610"/>
            <a:ext cx="10968990" cy="5027930"/>
          </a:xfrm>
        </p:spPr>
        <p:txBody>
          <a:bodyPr>
            <a:normAutofit fontScale="30000"/>
          </a:bodyPr>
          <a:p>
            <a:r>
              <a:rPr lang="zh-CN" altLang="en-US" sz="9335" b="1">
                <a:solidFill>
                  <a:srgbClr val="7030A0"/>
                </a:solidFill>
              </a:rPr>
              <a:t>一个概念：</a:t>
            </a:r>
            <a:r>
              <a:rPr lang="zh-CN" altLang="en-US" sz="8000" b="1">
                <a:solidFill>
                  <a:srgbClr val="FF0000"/>
                </a:solidFill>
              </a:rPr>
              <a:t>硬件描述语言（</a:t>
            </a:r>
            <a:r>
              <a:rPr lang="en-US" altLang="zh-CN" sz="8000" b="1">
                <a:solidFill>
                  <a:srgbClr val="FF0000"/>
                </a:solidFill>
              </a:rPr>
              <a:t>Hardwar</a:t>
            </a:r>
            <a:r>
              <a:rPr lang="en-US" altLang="zh-CN" sz="8000" b="1">
                <a:solidFill>
                  <a:srgbClr val="FF0000"/>
                </a:solidFill>
                <a:sym typeface="+mn-ea"/>
              </a:rPr>
              <a:t>e Description Languages</a:t>
            </a:r>
            <a:r>
              <a:rPr sz="8000" b="1">
                <a:solidFill>
                  <a:srgbClr val="FF0000"/>
                </a:solidFill>
                <a:sym typeface="+mn-ea"/>
              </a:rPr>
              <a:t>）</a:t>
            </a:r>
            <a:r>
              <a:rPr sz="8000" b="1">
                <a:sym typeface="+mn-ea"/>
              </a:rPr>
              <a:t>：</a:t>
            </a:r>
            <a:endParaRPr sz="8000" b="1">
              <a:sym typeface="+mn-ea"/>
            </a:endParaRPr>
          </a:p>
          <a:p>
            <a:r>
              <a:rPr sz="8000" b="1">
                <a:sym typeface="+mn-ea"/>
              </a:rPr>
              <a:t>设计硬件时使用的语言，常用的有</a:t>
            </a:r>
            <a:r>
              <a:rPr lang="en-US" altLang="zh-CN" sz="8000" b="1">
                <a:solidFill>
                  <a:srgbClr val="FF0000"/>
                </a:solidFill>
                <a:sym typeface="+mn-ea"/>
              </a:rPr>
              <a:t>Verilog HDL</a:t>
            </a:r>
            <a:r>
              <a:rPr sz="8000" b="1">
                <a:sym typeface="+mn-ea"/>
              </a:rPr>
              <a:t>和</a:t>
            </a:r>
            <a:r>
              <a:rPr lang="en-US" altLang="zh-CN" sz="8000" b="1">
                <a:solidFill>
                  <a:srgbClr val="FF0000"/>
                </a:solidFill>
                <a:sym typeface="+mn-ea"/>
              </a:rPr>
              <a:t>VHDL</a:t>
            </a:r>
            <a:endParaRPr sz="8000" b="1">
              <a:solidFill>
                <a:srgbClr val="FF0000"/>
              </a:solidFill>
              <a:sym typeface="+mn-ea"/>
            </a:endParaRPr>
          </a:p>
          <a:p>
            <a:r>
              <a:rPr sz="8000" b="1">
                <a:solidFill>
                  <a:srgbClr val="FF0000"/>
                </a:solidFill>
                <a:sym typeface="+mn-ea"/>
              </a:rPr>
              <a:t>【注意】</a:t>
            </a:r>
            <a:endParaRPr sz="8000" b="1">
              <a:solidFill>
                <a:srgbClr val="FF0000"/>
              </a:solidFill>
              <a:sym typeface="+mn-ea"/>
            </a:endParaRPr>
          </a:p>
          <a:p>
            <a:r>
              <a:rPr lang="en-US" altLang="zh-CN" sz="8000" b="1">
                <a:sym typeface="+mn-ea"/>
              </a:rPr>
              <a:t>1. </a:t>
            </a:r>
            <a:r>
              <a:rPr sz="8000" b="1">
                <a:sym typeface="+mn-ea"/>
              </a:rPr>
              <a:t>两者均为常用硬件描述语言，都有各自的</a:t>
            </a:r>
            <a:r>
              <a:rPr lang="en-US" altLang="zh-CN" sz="8000" b="1">
                <a:sym typeface="+mn-ea"/>
              </a:rPr>
              <a:t>IEEE</a:t>
            </a:r>
            <a:r>
              <a:rPr sz="8000" b="1">
                <a:sym typeface="+mn-ea"/>
              </a:rPr>
              <a:t>标准；</a:t>
            </a:r>
            <a:endParaRPr sz="8000" b="1">
              <a:sym typeface="+mn-ea"/>
            </a:endParaRPr>
          </a:p>
          <a:p>
            <a:r>
              <a:rPr lang="en-US" altLang="zh-CN" sz="8000" b="1">
                <a:sym typeface="+mn-ea"/>
              </a:rPr>
              <a:t>2. </a:t>
            </a:r>
            <a:r>
              <a:rPr sz="8000" b="1">
                <a:sym typeface="+mn-ea"/>
              </a:rPr>
              <a:t>两者是不同的硬件描述语言；</a:t>
            </a:r>
            <a:endParaRPr sz="8000" b="1">
              <a:sym typeface="+mn-ea"/>
            </a:endParaRPr>
          </a:p>
          <a:p>
            <a:r>
              <a:rPr lang="en-US" altLang="zh-CN" sz="8000" b="1">
                <a:sym typeface="+mn-ea"/>
              </a:rPr>
              <a:t>3. Verilog HDL</a:t>
            </a:r>
            <a:r>
              <a:rPr sz="8000" b="1">
                <a:sym typeface="+mn-ea"/>
              </a:rPr>
              <a:t>带有</a:t>
            </a:r>
            <a:r>
              <a:rPr lang="en-US" altLang="zh-CN" sz="8000" b="1">
                <a:sym typeface="+mn-ea"/>
              </a:rPr>
              <a:t>C</a:t>
            </a:r>
            <a:r>
              <a:rPr sz="8000" b="1">
                <a:sym typeface="+mn-ea"/>
              </a:rPr>
              <a:t>语言的风格，是工业界常用的</a:t>
            </a:r>
            <a:r>
              <a:rPr lang="en-US" altLang="zh-CN" sz="8000" b="1">
                <a:sym typeface="+mn-ea"/>
              </a:rPr>
              <a:t>HDL</a:t>
            </a:r>
            <a:r>
              <a:rPr sz="8000" b="1">
                <a:sym typeface="+mn-ea"/>
              </a:rPr>
              <a:t>；</a:t>
            </a:r>
            <a:endParaRPr sz="8000" b="1">
              <a:sym typeface="+mn-ea"/>
            </a:endParaRPr>
          </a:p>
          <a:p>
            <a:r>
              <a:rPr lang="en-US" altLang="zh-CN" sz="8000" b="1">
                <a:sym typeface="+mn-ea"/>
              </a:rPr>
              <a:t>4. VHDL</a:t>
            </a:r>
            <a:r>
              <a:rPr sz="8000" b="1">
                <a:sym typeface="+mn-ea"/>
              </a:rPr>
              <a:t>带有</a:t>
            </a:r>
            <a:r>
              <a:rPr lang="en-US" altLang="zh-CN" sz="8000" b="1">
                <a:sym typeface="+mn-ea"/>
              </a:rPr>
              <a:t>C++</a:t>
            </a:r>
            <a:r>
              <a:rPr sz="8000" b="1">
                <a:sym typeface="+mn-ea"/>
              </a:rPr>
              <a:t>的风格；</a:t>
            </a:r>
            <a:endParaRPr lang="en-US" altLang="zh-CN" sz="8000" b="1">
              <a:sym typeface="+mn-ea"/>
            </a:endParaRPr>
          </a:p>
          <a:p>
            <a:r>
              <a:rPr lang="en-US" altLang="zh-CN" sz="8000" b="1">
                <a:sym typeface="+mn-ea"/>
              </a:rPr>
              <a:t>5. </a:t>
            </a:r>
            <a:r>
              <a:rPr sz="8000" b="1">
                <a:sym typeface="+mn-ea"/>
              </a:rPr>
              <a:t>本课程只使用Verilog HDL语言。</a:t>
            </a:r>
            <a:endParaRPr lang="zh-CN" altLang="en-US" sz="80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1895" y="2075815"/>
            <a:ext cx="2506980" cy="35204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7030A0"/>
                </a:solidFill>
              </a:rPr>
              <a:t>三种描述方式</a:t>
            </a:r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527175"/>
            <a:ext cx="10024745" cy="4876800"/>
          </a:xfrm>
        </p:spPr>
        <p:txBody>
          <a:bodyPr/>
          <a:p>
            <a:pPr latinLnBrk="0"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Ø"/>
            </a:pPr>
            <a:r>
              <a:rPr lang="zh-CN" altLang="en-US" sz="2800">
                <a:solidFill>
                  <a:srgbClr val="7030A0"/>
                </a:solidFill>
              </a:rPr>
              <a:t>结构型：</a:t>
            </a:r>
            <a:r>
              <a: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最接近实际硬件结构的描述方式，不易描述功能稍微复杂的电路。常用于实例化语句。</a:t>
            </a:r>
            <a:endParaRPr lang="zh-CN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atinLnBrk="0"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Ø"/>
            </a:pPr>
            <a:r>
              <a:rPr lang="zh-CN" altLang="en-US" sz="2800">
                <a:solidFill>
                  <a:srgbClr val="7030A0"/>
                </a:solidFill>
              </a:rPr>
              <a:t>数据流</a:t>
            </a:r>
            <a:r>
              <a: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：能比较直观地表达底层的逻辑行为，使用的语句多为和硬件行为一致的并行语句，也只适用于小规模的电路设计。</a:t>
            </a:r>
            <a:endParaRPr lang="zh-CN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atinLnBrk="0"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Ø"/>
            </a:pPr>
            <a:r>
              <a:rPr lang="zh-CN" altLang="en-US" sz="2800">
                <a:solidFill>
                  <a:srgbClr val="7030A0"/>
                </a:solidFill>
              </a:rPr>
              <a:t>行为级：</a:t>
            </a:r>
            <a:r>
              <a:rPr lang="zh-CN" altLang="en-US" sz="2800">
                <a:solidFill>
                  <a:schemeClr val="tx1">
                    <a:lumMod val="65000"/>
                    <a:lumOff val="35000"/>
                  </a:schemeClr>
                </a:solidFill>
              </a:rPr>
              <a:t>更加抽象，适合规模大些的电路设计。串行语句可以是其载体。</a:t>
            </a:r>
            <a:endParaRPr lang="zh-CN" altLang="en-US" sz="280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标题 1"/>
          <p:cNvSpPr>
            <a:spLocks noGrp="1"/>
          </p:cNvSpPr>
          <p:nvPr>
            <p:ph type="title"/>
          </p:nvPr>
        </p:nvSpPr>
        <p:spPr>
          <a:xfrm>
            <a:off x="918210" y="296545"/>
            <a:ext cx="7848600" cy="762000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结构型描述</a:t>
            </a:r>
            <a:r>
              <a:rPr lang="en-US" altLang="zh-CN" dirty="0"/>
              <a:t>:</a:t>
            </a:r>
            <a:endParaRPr lang="en-US" altLang="zh-CN" dirty="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>
          <a:xfrm>
            <a:off x="918210" y="1058545"/>
            <a:ext cx="7853045" cy="1238250"/>
          </a:xfrm>
        </p:spPr>
        <p:txBody>
          <a:bodyPr vert="horz" wrap="square" lIns="91440" tIns="45720" rIns="91440" bIns="45720" anchor="t" anchorCtr="0">
            <a:normAutofit fontScale="25000"/>
          </a:bodyPr>
          <a:p>
            <a:pPr marL="0" indent="0">
              <a:buNone/>
            </a:pPr>
            <a:r>
              <a:rPr lang="zh-CN" altLang="en-US" sz="9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侧重对模块内部结构实现的</a:t>
            </a:r>
            <a:r>
              <a:rPr lang="zh-CN" altLang="en-US" sz="9600" dirty="0">
                <a:solidFill>
                  <a:srgbClr val="FF0000"/>
                </a:solidFill>
              </a:rPr>
              <a:t>具体描述</a:t>
            </a:r>
            <a:r>
              <a:rPr lang="zh-CN" altLang="en-US" sz="9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。</a:t>
            </a:r>
            <a:endParaRPr lang="en-US" altLang="zh-CN" sz="9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r>
              <a:rPr lang="zh-CN" altLang="en-US" sz="9600" dirty="0">
                <a:solidFill>
                  <a:srgbClr val="FF0000"/>
                </a:solidFill>
              </a:rPr>
              <a:t>【举例】</a:t>
            </a:r>
            <a:r>
              <a:rPr lang="zh-CN" altLang="en-US" sz="9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构造一个电路实现逻辑表达式</a:t>
            </a:r>
            <a:endParaRPr lang="zh-CN" altLang="en-US" sz="9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220" y="1661160"/>
            <a:ext cx="1743075" cy="4953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85" y="2296795"/>
            <a:ext cx="4206875" cy="14871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3783965"/>
            <a:ext cx="2459990" cy="276733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2075" y="3971925"/>
            <a:ext cx="5913755" cy="18446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23945" y="6004560"/>
            <a:ext cx="82359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【注】如果是基本逻辑单元，元件名才可以忽略，详见</a:t>
            </a:r>
            <a:r>
              <a:rPr lang="en-US" altLang="zh-CN" sz="24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P16</a:t>
            </a:r>
            <a:endParaRPr lang="en-US" altLang="zh-CN" sz="24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数据流描述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/>
              <a:t>  </a:t>
            </a:r>
            <a:r>
              <a:rPr lang="zh-CN" altLang="en-US" sz="2400"/>
              <a:t>侧重对模块行为功能的</a:t>
            </a:r>
            <a:r>
              <a:rPr lang="zh-CN" altLang="en-US" sz="2400">
                <a:solidFill>
                  <a:srgbClr val="FF0000"/>
                </a:solidFill>
              </a:rPr>
              <a:t>较为抽象描述。</a:t>
            </a:r>
            <a:endParaRPr lang="zh-CN" altLang="en-US" sz="240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</a:rPr>
              <a:t>【举例】</a:t>
            </a:r>
            <a:r>
              <a:rPr lang="zh-CN" altLang="en-US" sz="2400"/>
              <a:t>上例</a:t>
            </a:r>
            <a:endParaRPr lang="zh-CN" altLang="en-US" sz="240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7790" y="2085975"/>
            <a:ext cx="1743075" cy="4953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2745105"/>
            <a:ext cx="4686935" cy="27641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行为描述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/>
              <a:t>  </a:t>
            </a:r>
            <a:r>
              <a:rPr lang="zh-CN" altLang="en-US" sz="2400"/>
              <a:t>侧重对模块行为功能的</a:t>
            </a:r>
            <a:r>
              <a:rPr lang="zh-CN" altLang="en-US" sz="2400">
                <a:solidFill>
                  <a:srgbClr val="FF0000"/>
                </a:solidFill>
              </a:rPr>
              <a:t>更为抽象描述。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</a:rPr>
              <a:t>【举例】</a:t>
            </a:r>
            <a:r>
              <a:rPr lang="zh-CN" altLang="en-US" sz="2400"/>
              <a:t>上例</a:t>
            </a:r>
            <a:endParaRPr lang="zh-CN" altLang="en-US" sz="240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71340" y="2882900"/>
            <a:ext cx="3449320" cy="318897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265" y="2099310"/>
            <a:ext cx="1743075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行为描述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  </a:t>
            </a:r>
            <a:r>
              <a:rPr lang="zh-CN" altLang="en-US" sz="2400"/>
              <a:t>侧重对模块行为功能的</a:t>
            </a:r>
            <a:r>
              <a:rPr lang="zh-CN" altLang="en-US" sz="2400">
                <a:solidFill>
                  <a:srgbClr val="FF0000"/>
                </a:solidFill>
              </a:rPr>
              <a:t>更为抽象描述</a:t>
            </a:r>
            <a:r>
              <a:rPr lang="zh-CN" altLang="en-US" sz="2400"/>
              <a:t>。</a:t>
            </a:r>
            <a:endParaRPr lang="zh-CN" altLang="en-US" sz="2400"/>
          </a:p>
          <a:p>
            <a:pPr marL="0" indent="0">
              <a:buNone/>
            </a:pPr>
            <a:r>
              <a:rPr lang="zh-CN" altLang="en-US" sz="2400">
                <a:solidFill>
                  <a:srgbClr val="FF0000"/>
                </a:solidFill>
              </a:rPr>
              <a:t>【举例】</a:t>
            </a:r>
            <a:r>
              <a:rPr lang="zh-CN" altLang="en-US" sz="2400"/>
              <a:t>设计一个寄存器堆</a:t>
            </a:r>
            <a:endParaRPr lang="zh-CN" altLang="en-US" sz="240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0" y="2159000"/>
            <a:ext cx="6553200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85520" y="873760"/>
            <a:ext cx="10591800" cy="5275580"/>
          </a:xfrm>
        </p:spPr>
        <p:txBody>
          <a:bodyPr>
            <a:normAutofit lnSpcReduction="10000"/>
          </a:bodyPr>
          <a:p>
            <a:r>
              <a:rPr lang="zh-CN" altLang="en-US" sz="3200" b="1">
                <a:solidFill>
                  <a:srgbClr val="7030A0"/>
                </a:solidFill>
              </a:rPr>
              <a:t>设计数字逻辑电路的步骤如下：</a:t>
            </a:r>
            <a:endParaRPr lang="zh-CN" altLang="en-US" sz="3200" b="1">
              <a:solidFill>
                <a:srgbClr val="7030A0"/>
              </a:solidFill>
            </a:endParaRPr>
          </a:p>
          <a:p>
            <a:r>
              <a:rPr lang="en-US" altLang="zh-CN" sz="2800" b="1"/>
              <a:t>1. </a:t>
            </a:r>
            <a:r>
              <a:rPr sz="2800" b="1"/>
              <a:t>根据问题的描述画出真值表（逻辑功能表）；</a:t>
            </a:r>
            <a:endParaRPr sz="2800" b="1"/>
          </a:p>
          <a:p>
            <a:r>
              <a:rPr lang="en-US" altLang="zh-CN" sz="2800" b="1"/>
              <a:t>2. </a:t>
            </a:r>
            <a:r>
              <a:rPr sz="2800" b="1"/>
              <a:t>化简（优化），得到输出信号的逻辑表达式；</a:t>
            </a:r>
            <a:endParaRPr sz="2800" b="1"/>
          </a:p>
          <a:p>
            <a:r>
              <a:rPr lang="en-US" altLang="zh-CN" sz="2800" b="1"/>
              <a:t>3. </a:t>
            </a:r>
            <a:r>
              <a:rPr sz="2800" b="1"/>
              <a:t>根据逻辑表达式画出逻辑电路图；</a:t>
            </a:r>
            <a:endParaRPr sz="2800" b="1"/>
          </a:p>
          <a:p>
            <a:r>
              <a:rPr lang="en-US" altLang="zh-CN" sz="2800" b="1">
                <a:solidFill>
                  <a:srgbClr val="FF0000"/>
                </a:solidFill>
                <a:sym typeface="Wingdings" panose="05000000000000000000" charset="0"/>
              </a:rPr>
              <a:t>     </a:t>
            </a:r>
            <a:r>
              <a:rPr sz="2800" b="1">
                <a:solidFill>
                  <a:srgbClr val="FF0000"/>
                </a:solidFill>
                <a:sym typeface="Wingdings" panose="05000000000000000000" charset="0"/>
              </a:rPr>
              <a:t>用硬件描述语言实现，这步可省略</a:t>
            </a:r>
            <a:endParaRPr sz="2800" b="1">
              <a:solidFill>
                <a:srgbClr val="FF0000"/>
              </a:solidFill>
            </a:endParaRPr>
          </a:p>
          <a:p>
            <a:r>
              <a:rPr lang="en-US" altLang="zh-CN" sz="2800" b="1"/>
              <a:t>4. </a:t>
            </a:r>
            <a:r>
              <a:rPr sz="2800" b="1"/>
              <a:t>搭建电路，验证电路功能。</a:t>
            </a:r>
            <a:endParaRPr sz="2800" b="1"/>
          </a:p>
          <a:p>
            <a:r>
              <a:rPr lang="en-US" altLang="zh-CN" sz="2800" b="1">
                <a:solidFill>
                  <a:srgbClr val="FF0000"/>
                </a:solidFill>
                <a:sym typeface="Wingdings" panose="05000000000000000000" charset="0"/>
              </a:rPr>
              <a:t>     </a:t>
            </a:r>
            <a:r>
              <a:rPr sz="2800" b="1">
                <a:solidFill>
                  <a:srgbClr val="FF0000"/>
                </a:solidFill>
                <a:sym typeface="Wingdings" panose="05000000000000000000" charset="0"/>
              </a:rPr>
              <a:t>仿真</a:t>
            </a:r>
            <a:r>
              <a:rPr sz="2800" b="1">
                <a:solidFill>
                  <a:srgbClr val="FF0000"/>
                </a:solidFill>
              </a:rPr>
              <a:t>检查其是否符合预期</a:t>
            </a:r>
            <a:r>
              <a:rPr sz="2800"/>
              <a:t>      </a:t>
            </a:r>
            <a:r>
              <a:t>                                                                   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135" y="60325"/>
            <a:ext cx="11251565" cy="5292725"/>
          </a:xfrm>
        </p:spPr>
        <p:txBody>
          <a:bodyPr>
            <a:noAutofit/>
          </a:bodyPr>
          <a:p>
            <a:r>
              <a:rPr lang="zh-CN" altLang="en-US" sz="2800" b="1">
                <a:solidFill>
                  <a:srgbClr val="FF0000"/>
                </a:solidFill>
              </a:rPr>
              <a:t>回顾一下基本的语法知识：</a:t>
            </a:r>
            <a:endParaRPr lang="zh-CN" altLang="en-US" sz="2800" b="1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sz="2400" b="1"/>
              <a:t>一个基本模块由关键字</a:t>
            </a:r>
            <a:r>
              <a:rPr lang="en-US" altLang="zh-CN" sz="2400" b="1"/>
              <a:t>module</a:t>
            </a:r>
            <a:r>
              <a:rPr sz="2400" b="1"/>
              <a:t>和</a:t>
            </a:r>
            <a:r>
              <a:rPr lang="en-US" altLang="zh-CN" sz="2400" b="1"/>
              <a:t>endmodule</a:t>
            </a:r>
            <a:r>
              <a:rPr sz="2400" b="1"/>
              <a:t>表示，它们</a:t>
            </a:r>
            <a:r>
              <a:rPr sz="2400" b="1">
                <a:solidFill>
                  <a:srgbClr val="0070C0"/>
                </a:solidFill>
              </a:rPr>
              <a:t>就像一对大括号</a:t>
            </a:r>
            <a:r>
              <a:rPr sz="2400" b="1"/>
              <a:t>，该括号内部描述该电路要完成的功能，</a:t>
            </a:r>
            <a:r>
              <a:rPr sz="2400" b="1">
                <a:solidFill>
                  <a:srgbClr val="0070C0"/>
                </a:solidFill>
              </a:rPr>
              <a:t>大多数语句后面要加分号</a:t>
            </a:r>
            <a:r>
              <a:rPr lang="en-US" altLang="zh-CN" sz="2400" b="1">
                <a:solidFill>
                  <a:srgbClr val="0070C0"/>
                </a:solidFill>
              </a:rPr>
              <a:t>“</a:t>
            </a:r>
            <a:r>
              <a:rPr sz="2400" b="1">
                <a:solidFill>
                  <a:srgbClr val="0070C0"/>
                </a:solidFill>
              </a:rPr>
              <a:t>；</a:t>
            </a:r>
            <a:r>
              <a:rPr lang="en-US" altLang="zh-CN" sz="2400" b="1">
                <a:solidFill>
                  <a:srgbClr val="0070C0"/>
                </a:solidFill>
              </a:rPr>
              <a:t>”</a:t>
            </a:r>
            <a:r>
              <a:rPr sz="2400" b="1"/>
              <a:t>代表该句结束；</a:t>
            </a:r>
            <a:endParaRPr sz="24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sz="2400" b="1"/>
              <a:t>module后面紧跟</a:t>
            </a:r>
            <a:r>
              <a:rPr sz="2400" b="1">
                <a:solidFill>
                  <a:srgbClr val="0070C0"/>
                </a:solidFill>
              </a:rPr>
              <a:t>模块名，由用户自定义</a:t>
            </a:r>
            <a:r>
              <a:rPr sz="2400" b="1"/>
              <a:t>；</a:t>
            </a:r>
            <a:endParaRPr sz="24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sz="2400" b="1"/>
              <a:t>模块名后面紧跟</a:t>
            </a:r>
            <a:r>
              <a:rPr sz="2400" b="1">
                <a:solidFill>
                  <a:srgbClr val="0070C0"/>
                </a:solidFill>
              </a:rPr>
              <a:t>该模块的所有输入输出信号</a:t>
            </a:r>
            <a:r>
              <a:rPr sz="2400" b="1"/>
              <a:t>；</a:t>
            </a:r>
            <a:endParaRPr sz="24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sz="2400" b="1">
                <a:solidFill>
                  <a:srgbClr val="0070C0"/>
                </a:solidFill>
              </a:rPr>
              <a:t>默认</a:t>
            </a:r>
            <a:r>
              <a:rPr sz="2400" b="1"/>
              <a:t>情况下，该块代码的文件名与模块名相同，只是增加一个扩展名</a:t>
            </a:r>
            <a:r>
              <a:rPr lang="en-US" altLang="zh-CN" sz="2400" b="1"/>
              <a:t>.v</a:t>
            </a:r>
            <a:r>
              <a:rPr sz="2400" b="1"/>
              <a:t>；</a:t>
            </a:r>
            <a:endParaRPr lang="en-US" altLang="zh-CN" sz="24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400" b="1"/>
              <a:t>input</a:t>
            </a:r>
            <a:r>
              <a:rPr sz="2400" b="1"/>
              <a:t>和</a:t>
            </a:r>
            <a:r>
              <a:rPr lang="en-US" altLang="zh-CN" sz="2400" b="1"/>
              <a:t>output</a:t>
            </a:r>
            <a:r>
              <a:rPr sz="2400" b="1"/>
              <a:t>是关键字，分别声明输入信号和输出信号；</a:t>
            </a:r>
            <a:endParaRPr sz="24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sz="2400" b="1">
                <a:sym typeface="+mn-ea"/>
              </a:rPr>
              <a:t>1bit</a:t>
            </a:r>
            <a:r>
              <a:rPr sz="2400" b="1"/>
              <a:t>输入输出信号的数据宽度不用特别指出，超出的，需要添加</a:t>
            </a:r>
            <a:r>
              <a:rPr lang="en-US" altLang="zh-CN" sz="2400" b="1"/>
              <a:t> [n:0]</a:t>
            </a:r>
            <a:r>
              <a:rPr sz="2400" b="1"/>
              <a:t>，代表信号是（</a:t>
            </a:r>
            <a:r>
              <a:rPr lang="en-US" altLang="zh-CN" sz="2400" b="1"/>
              <a:t>n+1</a:t>
            </a:r>
            <a:r>
              <a:rPr sz="2400" b="1"/>
              <a:t>）bits；</a:t>
            </a:r>
            <a:endParaRPr sz="2400" b="1"/>
          </a:p>
          <a:p>
            <a:pPr marL="285750" indent="-285750">
              <a:buFont typeface="Wingdings" panose="05000000000000000000" charset="0"/>
              <a:buChar char="Ø"/>
            </a:pPr>
            <a:r>
              <a:rPr sz="2400" b="1"/>
              <a:t>关键字</a:t>
            </a:r>
            <a:r>
              <a:rPr lang="en-US" altLang="zh-CN" sz="2400" b="1"/>
              <a:t>assign</a:t>
            </a:r>
            <a:r>
              <a:rPr sz="2400" b="1"/>
              <a:t>是对输出信号赋值，</a:t>
            </a:r>
            <a:r>
              <a:rPr lang="en-US" altLang="zh-CN" sz="2400" b="1"/>
              <a:t>~</a:t>
            </a:r>
            <a:r>
              <a:rPr sz="2400" b="1"/>
              <a:t>代表取反，</a:t>
            </a:r>
            <a:r>
              <a:rPr lang="en-US" altLang="zh-CN" sz="2400" b="1"/>
              <a:t>&amp;</a:t>
            </a:r>
            <a:r>
              <a:rPr altLang="zh-CN" sz="2400" b="1"/>
              <a:t>代表逻辑与，</a:t>
            </a:r>
            <a:r>
              <a:rPr lang="en-US" altLang="zh-CN" sz="2400" b="1"/>
              <a:t>|</a:t>
            </a:r>
            <a:r>
              <a:rPr sz="2400" b="1"/>
              <a:t>代表逻辑或，</a:t>
            </a:r>
            <a:r>
              <a:rPr sz="2400" b="1">
                <a:solidFill>
                  <a:srgbClr val="0070C0"/>
                </a:solidFill>
              </a:rPr>
              <a:t>优先级为：</a:t>
            </a:r>
            <a:r>
              <a:rPr lang="en-US" altLang="zh-CN" sz="2400" b="1">
                <a:solidFill>
                  <a:srgbClr val="0070C0"/>
                </a:solidFill>
              </a:rPr>
              <a:t>~</a:t>
            </a:r>
            <a:r>
              <a:rPr sz="2400" b="1">
                <a:solidFill>
                  <a:srgbClr val="0070C0"/>
                </a:solidFill>
              </a:rPr>
              <a:t>＞</a:t>
            </a:r>
            <a:r>
              <a:rPr lang="en-US" altLang="zh-CN" sz="2400" b="1">
                <a:solidFill>
                  <a:srgbClr val="0070C0"/>
                </a:solidFill>
              </a:rPr>
              <a:t>&amp;</a:t>
            </a:r>
            <a:r>
              <a:rPr sz="2400" b="1">
                <a:solidFill>
                  <a:srgbClr val="0070C0"/>
                </a:solidFill>
              </a:rPr>
              <a:t>＞</a:t>
            </a:r>
            <a:r>
              <a:rPr lang="en-US" altLang="zh-CN" sz="2400" b="1">
                <a:solidFill>
                  <a:srgbClr val="0070C0"/>
                </a:solidFill>
              </a:rPr>
              <a:t>|</a:t>
            </a:r>
            <a:r>
              <a:rPr sz="2400" b="1"/>
              <a:t>；</a:t>
            </a:r>
            <a:endParaRPr sz="2000" b="1"/>
          </a:p>
          <a:p>
            <a:pPr>
              <a:buFont typeface="Wingdings" panose="05000000000000000000" charset="0"/>
            </a:pPr>
            <a:endParaRPr lang="en-US" altLang="zh-CN" sz="2000" b="1">
              <a:solidFill>
                <a:srgbClr val="FF0000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46100" y="370205"/>
            <a:ext cx="10767695" cy="5334635"/>
          </a:xfrm>
        </p:spPr>
        <p:txBody>
          <a:bodyPr>
            <a:noAutofit/>
          </a:bodyPr>
          <a:p>
            <a:r>
              <a:rPr sz="2800" b="1">
                <a:solidFill>
                  <a:srgbClr val="7030A0"/>
                </a:solidFill>
              </a:rPr>
              <a:t>关于</a:t>
            </a:r>
            <a:r>
              <a:rPr lang="en-US" altLang="zh-CN" sz="2800" b="1">
                <a:solidFill>
                  <a:srgbClr val="7030A0"/>
                </a:solidFill>
              </a:rPr>
              <a:t>always</a:t>
            </a:r>
            <a:r>
              <a:rPr sz="2800" b="1">
                <a:solidFill>
                  <a:srgbClr val="7030A0"/>
                </a:solidFill>
              </a:rPr>
              <a:t>结构体（嵌入</a:t>
            </a:r>
            <a:r>
              <a:rPr lang="en-US" altLang="zh-CN" sz="2800" b="1">
                <a:solidFill>
                  <a:srgbClr val="7030A0"/>
                </a:solidFill>
              </a:rPr>
              <a:t>if-else</a:t>
            </a:r>
            <a:r>
              <a:rPr sz="2800" b="1">
                <a:solidFill>
                  <a:srgbClr val="7030A0"/>
                </a:solidFill>
              </a:rPr>
              <a:t>语句</a:t>
            </a:r>
            <a:r>
              <a:rPr lang="en-US" altLang="zh-CN" sz="2800" b="1">
                <a:solidFill>
                  <a:srgbClr val="7030A0"/>
                </a:solidFill>
              </a:rPr>
              <a:t>/if</a:t>
            </a:r>
            <a:r>
              <a:rPr sz="2800" b="1">
                <a:solidFill>
                  <a:srgbClr val="7030A0"/>
                </a:solidFill>
              </a:rPr>
              <a:t>语句）：</a:t>
            </a:r>
            <a:endParaRPr lang="zh-CN" altLang="en-US" sz="2800" b="1">
              <a:solidFill>
                <a:srgbClr val="7030A0"/>
              </a:solidFill>
            </a:endParaRPr>
          </a:p>
          <a:p>
            <a:r>
              <a:rPr sz="2400" b="1">
                <a:solidFill>
                  <a:srgbClr val="FF0000"/>
                </a:solidFill>
                <a:sym typeface="+mn-ea"/>
              </a:rPr>
              <a:t>【示例】</a:t>
            </a:r>
            <a:r>
              <a:rPr sz="2400" b="1">
                <a:sym typeface="+mn-ea"/>
              </a:rPr>
              <a:t>实现逻辑表达式</a:t>
            </a:r>
            <a:endParaRPr lang="zh-CN" altLang="en-US" sz="2400" b="1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endParaRPr lang="zh-CN" altLang="en-US" sz="2400"/>
          </a:p>
          <a:p>
            <a:r>
              <a:rPr lang="zh-CN" altLang="en-US" sz="2400" b="1"/>
              <a:t>【注意】</a:t>
            </a:r>
            <a:r>
              <a:rPr lang="en-US" altLang="zh-CN" sz="2400" b="1">
                <a:solidFill>
                  <a:srgbClr val="FF0000"/>
                </a:solidFill>
              </a:rPr>
              <a:t>always</a:t>
            </a:r>
            <a:r>
              <a:rPr sz="2400" b="1">
                <a:solidFill>
                  <a:srgbClr val="FF0000"/>
                </a:solidFill>
              </a:rPr>
              <a:t>内部不能使用</a:t>
            </a:r>
            <a:r>
              <a:rPr lang="en-US" altLang="zh-CN" sz="2400" b="1">
                <a:solidFill>
                  <a:srgbClr val="FF0000"/>
                </a:solidFill>
              </a:rPr>
              <a:t>assign</a:t>
            </a:r>
            <a:r>
              <a:rPr sz="2400" b="1">
                <a:solidFill>
                  <a:srgbClr val="FF0000"/>
                </a:solidFill>
              </a:rPr>
              <a:t>；</a:t>
            </a:r>
            <a:endParaRPr sz="2400" b="1">
              <a:solidFill>
                <a:srgbClr val="FF0000"/>
              </a:solidFill>
            </a:endParaRPr>
          </a:p>
          <a:p>
            <a:r>
              <a:rPr lang="en-US" altLang="zh-CN" sz="2400" b="1">
                <a:solidFill>
                  <a:srgbClr val="FF0000"/>
                </a:solidFill>
              </a:rPr>
              <a:t>              begin/end</a:t>
            </a:r>
            <a:r>
              <a:rPr sz="2400" b="1">
                <a:solidFill>
                  <a:srgbClr val="FF0000"/>
                </a:solidFill>
              </a:rPr>
              <a:t>后不加</a:t>
            </a:r>
            <a:r>
              <a:rPr lang="en-US" altLang="zh-CN" sz="2400" b="1">
                <a:solidFill>
                  <a:srgbClr val="FF0000"/>
                </a:solidFill>
              </a:rPr>
              <a:t>“</a:t>
            </a:r>
            <a:r>
              <a:rPr sz="2400" b="1">
                <a:solidFill>
                  <a:srgbClr val="FF0000"/>
                </a:solidFill>
              </a:rPr>
              <a:t>；</a:t>
            </a:r>
            <a:r>
              <a:rPr lang="en-US" altLang="zh-CN" sz="2400" b="1">
                <a:solidFill>
                  <a:srgbClr val="FF0000"/>
                </a:solidFill>
              </a:rPr>
              <a:t>”</a:t>
            </a:r>
            <a:r>
              <a:rPr sz="2400" b="1">
                <a:solidFill>
                  <a:srgbClr val="FF0000"/>
                </a:solidFill>
              </a:rPr>
              <a:t>且成对出现。</a:t>
            </a:r>
            <a:endParaRPr sz="2400" b="1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326630" y="1116965"/>
            <a:ext cx="4254500" cy="3948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always后面紧跟符号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@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以及所有将在其内部使用的输入变量；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0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always</a:t>
            </a:r>
            <a:r>
              <a:rPr lang="zh-CN" altLang="en-US" sz="20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里面被赋值的变量都要事先声明为</a:t>
            </a:r>
            <a:r>
              <a:rPr lang="en-US" altLang="zh-CN" sz="20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reg</a:t>
            </a:r>
            <a:r>
              <a:rPr lang="zh-CN" altLang="en-US" sz="20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类型；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always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中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对所有可能情况都要加以描述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，否则最后生成的电路中包含寄存器，寄存器属于时序电路（设计组合逻辑电路时必须注意）。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600" y="5065395"/>
            <a:ext cx="3481705" cy="145478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406525" y="1882140"/>
            <a:ext cx="5341620" cy="2973540"/>
            <a:chOff x="1118" y="3057"/>
            <a:chExt cx="10268" cy="5682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18" y="3057"/>
              <a:ext cx="10268" cy="5682"/>
            </a:xfrm>
            <a:prstGeom prst="rect">
              <a:avLst/>
            </a:prstGeom>
          </p:spPr>
        </p:pic>
        <p:cxnSp>
          <p:nvCxnSpPr>
            <p:cNvPr id="11" name="直接连接符 10"/>
            <p:cNvCxnSpPr/>
            <p:nvPr/>
          </p:nvCxnSpPr>
          <p:spPr>
            <a:xfrm>
              <a:off x="1972" y="4943"/>
              <a:ext cx="7214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1972" y="4929"/>
              <a:ext cx="0" cy="3348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1972" y="8249"/>
              <a:ext cx="7228" cy="0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9200" y="4929"/>
              <a:ext cx="0" cy="3306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右箭头 14"/>
          <p:cNvSpPr/>
          <p:nvPr/>
        </p:nvSpPr>
        <p:spPr>
          <a:xfrm rot="2340000">
            <a:off x="5510530" y="4482465"/>
            <a:ext cx="2508250" cy="347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42410" y="1116965"/>
          <a:ext cx="1972945" cy="467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965200" imgH="228600" progId="Equation.KSEE3">
                  <p:embed/>
                </p:oleObj>
              </mc:Choice>
              <mc:Fallback>
                <p:oleObj name="" r:id="rId3" imgW="965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42410" y="1116965"/>
                        <a:ext cx="1972945" cy="467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475050"/>
            <a:ext cx="10969200" cy="705600"/>
          </a:xfrm>
        </p:spPr>
        <p:txBody>
          <a:bodyPr/>
          <a:p>
            <a:r>
              <a:rPr lang="zh-CN" altLang="en-US">
                <a:solidFill>
                  <a:srgbClr val="7030A0"/>
                </a:solidFill>
              </a:rPr>
              <a:t>关于</a:t>
            </a:r>
            <a:r>
              <a:rPr lang="en-US" altLang="zh-CN">
                <a:solidFill>
                  <a:srgbClr val="7030A0"/>
                </a:solidFill>
              </a:rPr>
              <a:t>if</a:t>
            </a:r>
            <a:r>
              <a:rPr>
                <a:solidFill>
                  <a:srgbClr val="7030A0"/>
                </a:solidFill>
              </a:rPr>
              <a:t>语句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8400" y="1357050"/>
            <a:ext cx="10969200" cy="4759200"/>
          </a:xfrm>
        </p:spPr>
        <p:txBody>
          <a:bodyPr>
            <a:noAutofit/>
          </a:bodyPr>
          <a:p>
            <a:pPr marL="342900">
              <a:lnSpc>
                <a:spcPct val="14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</a:rPr>
              <a:t>条件语句必须在过程块中使用。所谓过程块语句是指由initial、always引导的执行语句集合；</a:t>
            </a:r>
            <a:endParaRPr lang="zh-CN" altLang="en-US" sz="2400">
              <a:solidFill>
                <a:srgbClr val="002060"/>
              </a:solidFill>
            </a:endParaRPr>
          </a:p>
          <a:p>
            <a:pPr marL="342900">
              <a:lnSpc>
                <a:spcPct val="14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</a:rPr>
              <a:t>除了这两个语句块引导的begin end块中可以编写条件语句外，模块中的其他地方都不能编写；</a:t>
            </a:r>
            <a:endParaRPr lang="zh-CN" altLang="en-US" sz="2400">
              <a:solidFill>
                <a:srgbClr val="002060"/>
              </a:solidFill>
            </a:endParaRPr>
          </a:p>
          <a:p>
            <a:pPr marL="342900">
              <a:lnSpc>
                <a:spcPct val="14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</a:rPr>
              <a:t>if 语句中的表达式一般为逻辑表达式或者关系表达式。系统对表达式的值进行判断；</a:t>
            </a:r>
            <a:endParaRPr lang="zh-CN" altLang="en-US" sz="24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>
                <a:solidFill>
                  <a:srgbClr val="FF0000"/>
                </a:solidFill>
              </a:rPr>
              <a:t>【注意】</a:t>
            </a:r>
            <a:r>
              <a:rPr lang="zh-CN" altLang="en-US" sz="2400">
                <a:solidFill>
                  <a:srgbClr val="002060"/>
                </a:solidFill>
              </a:rPr>
              <a:t>若判断值为0或z或X，按照假处理；若为1，按照真处理；</a:t>
            </a:r>
            <a:endParaRPr lang="zh-CN" altLang="en-US" sz="2400">
              <a:solidFill>
                <a:srgbClr val="002060"/>
              </a:solidFill>
            </a:endParaRPr>
          </a:p>
          <a:p>
            <a:pPr>
              <a:lnSpc>
                <a:spcPct val="140000"/>
              </a:lnSpc>
              <a:spcAft>
                <a:spcPts val="0"/>
              </a:spcAft>
            </a:pPr>
            <a:r>
              <a:rPr lang="zh-CN" altLang="en-US" sz="2400" b="1">
                <a:solidFill>
                  <a:srgbClr val="FF0000"/>
                </a:solidFill>
              </a:rPr>
              <a:t>【举例】</a:t>
            </a:r>
            <a:r>
              <a:rPr lang="zh-CN" altLang="en-US" sz="2400">
                <a:solidFill>
                  <a:srgbClr val="002060"/>
                </a:solidFill>
              </a:rPr>
              <a:t>if（a）等价于   if（a == 1）；</a:t>
            </a:r>
            <a:endParaRPr lang="zh-CN" altLang="en-US" sz="2400">
              <a:solidFill>
                <a:srgbClr val="002060"/>
              </a:solidFill>
            </a:endParaRPr>
          </a:p>
          <a:p>
            <a:pPr marL="342900">
              <a:lnSpc>
                <a:spcPct val="140000"/>
              </a:lnSpc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002060"/>
                </a:solidFill>
              </a:rPr>
              <a:t>if 语句可以嵌套使用</a:t>
            </a:r>
            <a:endParaRPr lang="zh-CN" altLang="en-US" sz="24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olidFill>
                  <a:srgbClr val="7030A0"/>
                </a:solidFill>
                <a:sym typeface="+mn-ea"/>
              </a:rPr>
              <a:t>关于</a:t>
            </a:r>
            <a:r>
              <a:rPr lang="en-US" altLang="zh-CN">
                <a:solidFill>
                  <a:srgbClr val="7030A0"/>
                </a:solidFill>
                <a:sym typeface="+mn-ea"/>
              </a:rPr>
              <a:t>if</a:t>
            </a:r>
            <a:r>
              <a:rPr>
                <a:solidFill>
                  <a:srgbClr val="7030A0"/>
                </a:solidFill>
                <a:sym typeface="+mn-ea"/>
              </a:rPr>
              <a:t>语句</a:t>
            </a:r>
            <a:endParaRPr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l">
              <a:lnSpc>
                <a:spcPct val="140000"/>
              </a:lnSpc>
              <a:spcAft>
                <a:spcPts val="0"/>
              </a:spcAft>
              <a:buClrTx/>
              <a:buSzTx/>
            </a:pPr>
            <a:r>
              <a:rPr sz="2400" b="1">
                <a:solidFill>
                  <a:srgbClr val="FF0000"/>
                </a:solidFill>
              </a:rPr>
              <a:t>【示例】</a:t>
            </a:r>
            <a:endParaRPr sz="2400" b="1">
              <a:solidFill>
                <a:srgbClr val="002060"/>
              </a:solidFill>
            </a:endParaRPr>
          </a:p>
          <a:p>
            <a:pPr lvl="4" algn="l">
              <a:lnSpc>
                <a:spcPct val="130000"/>
              </a:lnSpc>
              <a:spcAft>
                <a:spcPts val="0"/>
              </a:spcAft>
              <a:buClrTx/>
              <a:buSzTx/>
            </a:pPr>
            <a:r>
              <a:rPr sz="2400">
                <a:solidFill>
                  <a:srgbClr val="002060"/>
                </a:solidFill>
              </a:rPr>
              <a:t>always@（al or b）begin</a:t>
            </a:r>
            <a:endParaRPr sz="2400">
              <a:solidFill>
                <a:srgbClr val="002060"/>
              </a:solidFill>
            </a:endParaRPr>
          </a:p>
          <a:p>
            <a:pPr lvl="4" algn="l">
              <a:lnSpc>
                <a:spcPct val="130000"/>
              </a:lnSpc>
              <a:spcAft>
                <a:spcPts val="0"/>
              </a:spcAft>
              <a:buClrTx/>
              <a:buSzTx/>
            </a:pPr>
            <a:r>
              <a:rPr sz="2400">
                <a:solidFill>
                  <a:srgbClr val="002060"/>
                </a:solidFill>
              </a:rPr>
              <a:t>             if（a）q &lt;= d;</a:t>
            </a:r>
            <a:endParaRPr sz="2400">
              <a:solidFill>
                <a:srgbClr val="002060"/>
              </a:solidFill>
            </a:endParaRPr>
          </a:p>
          <a:p>
            <a:pPr lvl="4" algn="l">
              <a:lnSpc>
                <a:spcPct val="130000"/>
              </a:lnSpc>
              <a:spcAft>
                <a:spcPts val="0"/>
              </a:spcAft>
              <a:buClrTx/>
              <a:buSzTx/>
            </a:pPr>
            <a:r>
              <a:rPr sz="2400">
                <a:solidFill>
                  <a:srgbClr val="002060"/>
                </a:solidFill>
              </a:rPr>
              <a:t>end</a:t>
            </a:r>
            <a:endParaRPr sz="2400">
              <a:solidFill>
                <a:srgbClr val="002060"/>
              </a:solidFill>
            </a:endParaRPr>
          </a:p>
          <a:p>
            <a:pPr algn="l">
              <a:lnSpc>
                <a:spcPct val="150000"/>
              </a:lnSpc>
              <a:spcAft>
                <a:spcPts val="0"/>
              </a:spcAft>
              <a:buClrTx/>
              <a:buSzTx/>
            </a:pPr>
            <a:r>
              <a:rPr sz="2400">
                <a:solidFill>
                  <a:srgbClr val="002060"/>
                </a:solidFill>
              </a:rPr>
              <a:t>【分析】</a:t>
            </a:r>
            <a:endParaRPr sz="2400">
              <a:solidFill>
                <a:srgbClr val="002060"/>
              </a:solidFill>
            </a:endParaRPr>
          </a:p>
          <a:p>
            <a:pPr marL="342900" algn="l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sz="2400">
                <a:solidFill>
                  <a:srgbClr val="002060"/>
                </a:solidFill>
              </a:rPr>
              <a:t>上述代码只写了a==1时q应该的取值，a==0时的情况并不知道。</a:t>
            </a:r>
            <a:endParaRPr sz="2400">
              <a:solidFill>
                <a:srgbClr val="002060"/>
              </a:solidFill>
            </a:endParaRPr>
          </a:p>
          <a:p>
            <a:pPr marL="342900" algn="l">
              <a:lnSpc>
                <a:spcPct val="150000"/>
              </a:lnSpc>
              <a:spcAft>
                <a:spcPts val="0"/>
              </a:spcAft>
              <a:buClrTx/>
              <a:buSzTx/>
              <a:buFont typeface="Wingdings" panose="05000000000000000000" charset="0"/>
              <a:buChar char="Ø"/>
            </a:pPr>
            <a:r>
              <a:rPr sz="2400">
                <a:solidFill>
                  <a:srgbClr val="002060"/>
                </a:solidFill>
              </a:rPr>
              <a:t>在always块里面，</a:t>
            </a:r>
            <a:r>
              <a:rPr sz="2400">
                <a:solidFill>
                  <a:srgbClr val="FF0000"/>
                </a:solidFill>
              </a:rPr>
              <a:t>如果在给定的条件下变量没有被赋值，这个变量将会保持原来的值</a:t>
            </a:r>
            <a:r>
              <a:rPr sz="2400">
                <a:solidFill>
                  <a:srgbClr val="002060"/>
                </a:solidFill>
              </a:rPr>
              <a:t>，即：会生成一个锁存器。</a:t>
            </a:r>
            <a:endParaRPr sz="240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25" y="1893570"/>
            <a:ext cx="6882130" cy="347599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05" y="502285"/>
            <a:ext cx="10968990" cy="5327650"/>
          </a:xfrm>
        </p:spPr>
        <p:txBody>
          <a:bodyPr/>
          <a:p>
            <a:r>
              <a:rPr sz="2400" b="1">
                <a:solidFill>
                  <a:srgbClr val="7030A0"/>
                </a:solidFill>
                <a:sym typeface="+mn-ea"/>
              </a:rPr>
              <a:t>关于</a:t>
            </a:r>
            <a:r>
              <a:rPr lang="en-US" altLang="zh-CN" sz="2400" b="1">
                <a:solidFill>
                  <a:srgbClr val="7030A0"/>
                </a:solidFill>
                <a:sym typeface="+mn-ea"/>
              </a:rPr>
              <a:t>always</a:t>
            </a:r>
            <a:r>
              <a:rPr sz="2400" b="1">
                <a:solidFill>
                  <a:srgbClr val="7030A0"/>
                </a:solidFill>
                <a:sym typeface="+mn-ea"/>
              </a:rPr>
              <a:t>结构体（嵌入</a:t>
            </a:r>
            <a:r>
              <a:rPr lang="en-US" altLang="zh-CN" sz="2400" b="1">
                <a:solidFill>
                  <a:srgbClr val="7030A0"/>
                </a:solidFill>
                <a:sym typeface="+mn-ea"/>
              </a:rPr>
              <a:t>case</a:t>
            </a:r>
            <a:r>
              <a:rPr sz="2400" b="1">
                <a:solidFill>
                  <a:srgbClr val="7030A0"/>
                </a:solidFill>
                <a:sym typeface="+mn-ea"/>
              </a:rPr>
              <a:t>语句）：</a:t>
            </a:r>
            <a:endParaRPr sz="2400" b="1"/>
          </a:p>
          <a:p>
            <a:r>
              <a:rPr sz="2400" b="1">
                <a:solidFill>
                  <a:srgbClr val="FF0000"/>
                </a:solidFill>
                <a:sym typeface="+mn-ea"/>
              </a:rPr>
              <a:t>【示例】</a:t>
            </a:r>
            <a:r>
              <a:rPr sz="2400" b="1">
                <a:sym typeface="+mn-ea"/>
              </a:rPr>
              <a:t>实现逻辑表达式</a:t>
            </a:r>
            <a:endParaRPr lang="zh-CN" altLang="en-US" sz="2400" b="1"/>
          </a:p>
          <a:p>
            <a:endParaRPr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7670" y="2456815"/>
            <a:ext cx="5268595" cy="1801495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1198880" y="2800985"/>
            <a:ext cx="46075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219200" y="4679315"/>
            <a:ext cx="460756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1216660" y="2792095"/>
            <a:ext cx="0" cy="18859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5826760" y="2800985"/>
            <a:ext cx="0" cy="188595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右箭头 9"/>
          <p:cNvSpPr/>
          <p:nvPr/>
        </p:nvSpPr>
        <p:spPr>
          <a:xfrm rot="19620000">
            <a:off x="5848350" y="4069080"/>
            <a:ext cx="974725" cy="29337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5029200" y="5369560"/>
            <a:ext cx="68052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所有</a:t>
            </a:r>
            <a:r>
              <a:rPr lang="zh-CN" altLang="en-US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没涉及的</a:t>
            </a:r>
            <a:r>
              <a:rPr lang="en-US" altLang="zh-CN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case</a:t>
            </a:r>
            <a:r>
              <a:rPr lang="zh-CN" altLang="en-US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，都归类到</a:t>
            </a:r>
            <a:r>
              <a:rPr lang="en-US" altLang="zh-CN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default</a:t>
            </a:r>
            <a:r>
              <a:rPr lang="zh-CN" altLang="en-US" sz="24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语句当中</a:t>
            </a:r>
            <a:endParaRPr lang="zh-CN" altLang="en-US" sz="2400" b="1">
              <a:solidFill>
                <a:srgbClr val="0070C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2" name="上箭头 1"/>
          <p:cNvSpPr/>
          <p:nvPr/>
        </p:nvSpPr>
        <p:spPr>
          <a:xfrm>
            <a:off x="8846185" y="3902710"/>
            <a:ext cx="402590" cy="139954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2" name="对象 11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042410" y="1176655"/>
          <a:ext cx="1972945" cy="467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3" imgW="965200" imgH="228600" progId="Equation.KSEE3">
                  <p:embed/>
                </p:oleObj>
              </mc:Choice>
              <mc:Fallback>
                <p:oleObj name="" r:id="rId3" imgW="965200" imgH="2286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42410" y="1176655"/>
                        <a:ext cx="1972945" cy="467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169600"/>
            <a:ext cx="10969200" cy="4759200"/>
          </a:xfrm>
        </p:spPr>
        <p:txBody>
          <a:bodyPr/>
          <a:p>
            <a:r>
              <a:rPr sz="2400" b="1">
                <a:solidFill>
                  <a:srgbClr val="7030A0"/>
                </a:solidFill>
              </a:rPr>
              <a:t>关于</a:t>
            </a:r>
            <a:r>
              <a:rPr lang="en-US" altLang="zh-CN" sz="2400" b="1">
                <a:solidFill>
                  <a:srgbClr val="7030A0"/>
                </a:solidFill>
              </a:rPr>
              <a:t>initial</a:t>
            </a:r>
            <a:r>
              <a:rPr sz="2400" b="1">
                <a:solidFill>
                  <a:srgbClr val="7030A0"/>
                </a:solidFill>
              </a:rPr>
              <a:t>结构体：</a:t>
            </a:r>
            <a:r>
              <a:rPr sz="2400" b="1"/>
              <a:t>和</a:t>
            </a:r>
            <a:r>
              <a:rPr lang="en-US" altLang="zh-CN" sz="2400" b="1"/>
              <a:t>always</a:t>
            </a:r>
            <a:r>
              <a:rPr sz="2400" b="1"/>
              <a:t>语句一样，代表一个</a:t>
            </a:r>
            <a:r>
              <a:rPr sz="2400" b="1">
                <a:solidFill>
                  <a:srgbClr val="FF0000"/>
                </a:solidFill>
              </a:rPr>
              <a:t>独立的执行过程。</a:t>
            </a:r>
            <a:endParaRPr sz="2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1252855"/>
            <a:ext cx="2562860" cy="488759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600450" y="794385"/>
            <a:ext cx="7980045" cy="57645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所有在initial语句内的语句构成了一个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initial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块；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initial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块从仿真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时刻开始执行，在整个仿真过程中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只执行一次（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always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会循环往复直至仿真结束）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如果一个模块中有多个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initial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块，这些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initial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块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从仿真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0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时刻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并发执行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；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块内如果有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多条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行为语句，则用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begin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end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将其组合为一个块语句；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285750" indent="-28575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Wingdings" panose="05000000000000000000" charset="0"/>
              <a:buChar char="Ø"/>
            </a:pP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块内如果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只有一条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行为语句，则不必使用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begin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end</a:t>
            </a:r>
            <a:r>
              <a:rPr lang="zh-CN" altLang="en-US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，如下所示：</a:t>
            </a:r>
            <a:endParaRPr lang="zh-CN" altLang="en-US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zh-CN" altLang="en-US" sz="2000" b="1">
                <a:solidFill>
                  <a:srgbClr val="0070C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【示例】</a:t>
            </a: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initial  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	 m = 1'b0 ; //</a:t>
            </a:r>
            <a:r>
              <a:rPr lang="zh-CN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只有一条行为语句</a:t>
            </a:r>
            <a:endParaRPr lang="zh-CN" altLang="zh-CN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	 initial begin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	 #5 a = 1'b1;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	 #10 b = 1'b0;//</a:t>
            </a:r>
            <a:r>
              <a:rPr lang="zh-CN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有多条行为语句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</a:pPr>
            <a:r>
              <a:rPr lang="en-US" altLang="zh-CN" sz="2000" b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	 end</a:t>
            </a:r>
            <a:endParaRPr lang="en-US" altLang="zh-CN" sz="2000" b="1">
              <a:solidFill>
                <a:schemeClr val="tx1">
                  <a:lumMod val="65000"/>
                  <a:lumOff val="35000"/>
                </a:schemeClr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928745" y="4594225"/>
            <a:ext cx="582803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3060" y="3895090"/>
            <a:ext cx="4404995" cy="20745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05" y="4029710"/>
            <a:ext cx="3915410" cy="180467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1100" y="422965"/>
            <a:ext cx="10969200" cy="4759200"/>
          </a:xfrm>
        </p:spPr>
        <p:txBody>
          <a:bodyPr/>
          <a:p>
            <a:r>
              <a:rPr lang="zh-CN" altLang="en-US" sz="3200" b="1">
                <a:solidFill>
                  <a:srgbClr val="7030A0"/>
                </a:solidFill>
              </a:rPr>
              <a:t>关于模块调用（实例化）</a:t>
            </a:r>
            <a:endParaRPr lang="zh-CN" altLang="en-US" sz="3200" b="1">
              <a:solidFill>
                <a:srgbClr val="7030A0"/>
              </a:solidFill>
            </a:endParaRPr>
          </a:p>
          <a:p>
            <a:r>
              <a:rPr lang="zh-CN" altLang="en-US" sz="2000" b="1">
                <a:solidFill>
                  <a:srgbClr val="FF0000"/>
                </a:solidFill>
              </a:rPr>
              <a:t>【示例】</a:t>
            </a:r>
            <a:r>
              <a:rPr lang="zh-CN" altLang="en-US" sz="2000" b="1"/>
              <a:t>如图所示，实现一个</a:t>
            </a:r>
            <a:r>
              <a:rPr lang="en-US" altLang="zh-CN" sz="2000" b="1"/>
              <a:t>D</a:t>
            </a:r>
            <a:r>
              <a:rPr sz="2000" b="1"/>
              <a:t>锁存器（已知</a:t>
            </a:r>
            <a:r>
              <a:rPr lang="en-US" altLang="zh-CN" sz="2000" b="1"/>
              <a:t>RS</a:t>
            </a:r>
            <a:r>
              <a:rPr sz="2000" b="1"/>
              <a:t>锁存器）</a:t>
            </a:r>
            <a:endParaRPr sz="2000" b="1"/>
          </a:p>
          <a:p>
            <a:endParaRPr sz="20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" y="1798320"/>
            <a:ext cx="2776220" cy="18745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350" y="1864995"/>
            <a:ext cx="3481705" cy="1875155"/>
          </a:xfrm>
          <a:prstGeom prst="rect">
            <a:avLst/>
          </a:prstGeom>
        </p:spPr>
      </p:pic>
      <p:cxnSp>
        <p:nvCxnSpPr>
          <p:cNvPr id="9" name="曲线连接符 8"/>
          <p:cNvCxnSpPr/>
          <p:nvPr/>
        </p:nvCxnSpPr>
        <p:spPr>
          <a:xfrm rot="10800000">
            <a:off x="4578985" y="4196715"/>
            <a:ext cx="2608580" cy="1497965"/>
          </a:xfrm>
          <a:prstGeom prst="curvedConnector3">
            <a:avLst>
              <a:gd name="adj1" fmla="val 49976"/>
            </a:avLst>
          </a:prstGeom>
          <a:ln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21030" y="4304030"/>
            <a:ext cx="383349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274560" y="5701030"/>
            <a:ext cx="3833495" cy="0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274560" y="1311275"/>
            <a:ext cx="43160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【说明】下图中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r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和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s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定义为</a:t>
            </a:r>
            <a:r>
              <a:rPr lang="en-US" altLang="zh-CN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wire</a:t>
            </a:r>
            <a:r>
              <a:rPr lang="zh-CN" altLang="en-US" sz="2000" b="1">
                <a:solidFill>
                  <a:srgbClr val="FF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rPr>
              <a:t>类型</a:t>
            </a:r>
            <a:endParaRPr lang="zh-CN" altLang="en-US" sz="2000" b="1">
              <a:solidFill>
                <a:srgbClr val="FF0000"/>
              </a:solidFill>
              <a:uFillTx/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圆角右箭头 7"/>
          <p:cNvSpPr/>
          <p:nvPr/>
        </p:nvSpPr>
        <p:spPr>
          <a:xfrm rot="5400000">
            <a:off x="3414395" y="3188970"/>
            <a:ext cx="813435" cy="867410"/>
          </a:xfrm>
          <a:prstGeom prst="ben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035425" y="2802890"/>
            <a:ext cx="18757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用结构型描述构造一个</a:t>
            </a:r>
            <a:r>
              <a:rPr lang="en-US" altLang="zh-CN">
                <a:highlight>
                  <a:srgbClr val="FFFF00"/>
                </a:highlight>
              </a:rPr>
              <a:t>RS</a:t>
            </a:r>
            <a:r>
              <a:rPr lang="zh-CN" altLang="en-US">
                <a:highlight>
                  <a:srgbClr val="FFFF00"/>
                </a:highlight>
              </a:rPr>
              <a:t>锁存器</a:t>
            </a:r>
            <a:endParaRPr lang="zh-CN" altLang="en-US">
              <a:highlight>
                <a:srgbClr val="FFFF00"/>
              </a:highlight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93285" y="5601335"/>
            <a:ext cx="21844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highlight>
                  <a:srgbClr val="FFFF00"/>
                </a:highlight>
              </a:rPr>
              <a:t>调用</a:t>
            </a:r>
            <a:r>
              <a:rPr lang="en-US" altLang="zh-CN">
                <a:highlight>
                  <a:srgbClr val="FFFF00"/>
                </a:highlight>
              </a:rPr>
              <a:t>RS</a:t>
            </a:r>
            <a:r>
              <a:rPr lang="zh-CN" altLang="en-US">
                <a:highlight>
                  <a:srgbClr val="FFFF00"/>
                </a:highlight>
              </a:rPr>
              <a:t>锁存器模块</a:t>
            </a:r>
            <a:endParaRPr lang="zh-CN" altLang="en-US">
              <a:highlight>
                <a:srgbClr val="FFFF00"/>
              </a:highlight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olidFill>
                  <a:srgbClr val="7030A0"/>
                </a:solidFill>
              </a:rPr>
              <a:t>关于实例化的注意事项</a:t>
            </a:r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r>
              <a:rPr sz="2800" b="1">
                <a:solidFill>
                  <a:srgbClr val="FF0000"/>
                </a:solidFill>
                <a:sym typeface="+mn-ea"/>
              </a:rPr>
              <a:t>基本单元实例化：</a:t>
            </a:r>
            <a:r>
              <a:rPr sz="28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实例化名字可以省略，如下所示：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nand (c,b,a);  //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调用一个与非门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4" indent="0" algn="l">
              <a:lnSpc>
                <a:spcPct val="10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or (c,b,a);      //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调用一个或门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14400" lvl="4" indent="0" algn="l">
              <a:lnSpc>
                <a:spcPct val="100000"/>
              </a:lnSpc>
              <a:spcAft>
                <a:spcPts val="0"/>
              </a:spcAft>
              <a:buFont typeface="Wingdings" panose="05000000000000000000" charset="0"/>
              <a:buNone/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not (b,a);       //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调用一个非门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sz="2800" b="1">
                <a:solidFill>
                  <a:srgbClr val="FF0000"/>
                </a:solidFill>
                <a:sym typeface="+mn-ea"/>
              </a:rPr>
              <a:t>模块实例化：</a:t>
            </a:r>
            <a:r>
              <a:rPr sz="28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实例化名字不能省略，如下所示：</a:t>
            </a:r>
            <a:endParaRPr lang="zh-CN" altLang="en-US" sz="28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sym typeface="+mn-ea"/>
              </a:rPr>
              <a:t>【例】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假设需要调用一个自主创建的模块（如上例中的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rs_latch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.v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），调用方法如下：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>
              <a:buFont typeface="Wingdings" panose="05000000000000000000" charset="0"/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rs_latch rslatch(... ...);</a:t>
            </a:r>
            <a:endParaRPr lang="en-US" altLang="zh-CN" sz="20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charset="0"/>
              <a:buChar char="Ø"/>
            </a:pP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这里的</a:t>
            </a: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rs_latch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不是基本逻辑单元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>
              <a:buFont typeface="Wingdings" panose="05000000000000000000" charset="0"/>
              <a:buChar char="Ø"/>
            </a:pPr>
            <a:r>
              <a:rPr lang="en-US" altLang="zh-CN"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rslatch</a:t>
            </a:r>
            <a:r>
              <a:rPr sz="20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是实例化模块名，必须要加上</a:t>
            </a:r>
            <a:endParaRPr lang="zh-CN" altLang="en-US" sz="20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409645"/>
            <a:ext cx="10969200" cy="705600"/>
          </a:xfrm>
        </p:spPr>
        <p:txBody>
          <a:bodyPr/>
          <a:p>
            <a:r>
              <a:rPr lang="zh-CN" altLang="en-US">
                <a:solidFill>
                  <a:srgbClr val="7030A0"/>
                </a:solidFill>
              </a:rPr>
              <a:t>实例化时遇到引脚悬空如何处理？</a:t>
            </a:r>
            <a:endParaRPr lang="zh-CN" altLang="en-US">
              <a:solidFill>
                <a:srgbClr val="7030A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11575" y="1216715"/>
            <a:ext cx="10969200" cy="4759200"/>
          </a:xfrm>
        </p:spPr>
        <p:txBody>
          <a:bodyPr>
            <a:noAutofit/>
          </a:bodyPr>
          <a:p>
            <a:pPr marL="0" indent="0">
              <a:buNone/>
            </a:pPr>
            <a:r>
              <a:rPr sz="1900" b="1">
                <a:solidFill>
                  <a:srgbClr val="FF0000"/>
                </a:solidFill>
                <a:sym typeface="+mn-ea"/>
              </a:rPr>
              <a:t>【示例】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调用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一个寄存器模块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REGs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，其中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信号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b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和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d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悬空（不用），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其部分代码如下所示。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实例化模块为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reg1(Clock, clrn, Ain, Bin, Cout, Dout)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，该如何正确调用？</a:t>
            </a:r>
            <a:endParaRPr lang="en-US" altLang="zh-CN" sz="19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371600" lvl="3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module REGs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clk,reset,a,b,c,d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endParaRPr lang="zh-CN" altLang="en-US" sz="19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0" lvl="5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135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input clk,reset;</a:t>
            </a:r>
            <a:endParaRPr lang="en-US" altLang="zh-CN" sz="2135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0" lvl="5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135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input [31:0] a,b;</a:t>
            </a:r>
            <a:endParaRPr lang="en-US" altLang="zh-CN" sz="2135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0" lvl="5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2135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output [31:0] c,d;</a:t>
            </a:r>
            <a:endParaRPr lang="en-US" altLang="zh-CN" sz="2135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sym typeface="+mn-ea"/>
              </a:rPr>
              <a:t>调用方法一：</a:t>
            </a:r>
            <a:endParaRPr lang="zh-CN" altLang="en-US" sz="2000" b="1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wire [31:0] Bin, Dout;    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//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将悬空的引脚声明为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wire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类型</a:t>
            </a:r>
            <a:endParaRPr lang="en-US" altLang="zh-CN" sz="19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REGs reg1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Clock, clrn, Ain, Bin, Cout, Dout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;     </a:t>
            </a:r>
            <a:endParaRPr lang="en-US" altLang="zh-CN" sz="1900" b="1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sz="2000" b="1">
                <a:solidFill>
                  <a:srgbClr val="FF0000"/>
                </a:solidFill>
                <a:sym typeface="+mn-ea"/>
              </a:rPr>
              <a:t>调用方法二：</a:t>
            </a:r>
            <a:endParaRPr lang="zh-CN" altLang="en-US" sz="2000" b="1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REGs reg1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.clk(Clock), .reset(clrn), .a(Ain), .c(Cout)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;   //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直接省略悬空信号</a:t>
            </a:r>
            <a:endParaRPr sz="19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0" algn="l">
              <a:lnSpc>
                <a:spcPct val="130000"/>
              </a:lnSpc>
              <a:spcAft>
                <a:spcPts val="1000"/>
              </a:spcAft>
              <a:buClrTx/>
              <a:buSzTx/>
              <a:buNone/>
            </a:pPr>
            <a:r>
              <a:rPr sz="2000" b="1">
                <a:solidFill>
                  <a:srgbClr val="FF0000"/>
                </a:solidFill>
                <a:sym typeface="+mn-ea"/>
              </a:rPr>
              <a:t>调用方法三：</a:t>
            </a:r>
            <a:endParaRPr lang="zh-CN" altLang="en-US" sz="2000" b="1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REGs reg1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（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.clk(Clock), .reset(clrn), .a(Ain), .c(Cout), .b(), .d()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）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;  </a:t>
            </a: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//</a:t>
            </a:r>
            <a:r>
              <a:rPr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将悬空信号留白</a:t>
            </a:r>
            <a:endParaRPr lang="en-US" altLang="zh-CN" sz="19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altLang="zh-CN" sz="1900" b="1"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  </a:t>
            </a:r>
            <a:endParaRPr sz="1900" b="1"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2742</Words>
  <Application>WPS 演示</Application>
  <PresentationFormat>宽屏</PresentationFormat>
  <Paragraphs>159</Paragraphs>
  <Slides>17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</vt:lpstr>
      <vt:lpstr>Arial Unicode MS</vt:lpstr>
      <vt:lpstr>黑体</vt:lpstr>
      <vt:lpstr>Times New Roman</vt:lpstr>
      <vt:lpstr>Arial Narrow</vt:lpstr>
      <vt:lpstr>华文新魏</vt:lpstr>
      <vt:lpstr>Office 主题​​</vt:lpstr>
      <vt:lpstr>Equation.KSEE3</vt:lpstr>
      <vt:lpstr>Equation.KSEE3</vt:lpstr>
      <vt:lpstr>Verilog HDL编程入门</vt:lpstr>
      <vt:lpstr>PowerPoint 演示文稿</vt:lpstr>
      <vt:lpstr>三种描述方式</vt:lpstr>
      <vt:lpstr>结构型描述</vt:lpstr>
      <vt:lpstr>数据流描述</vt:lpstr>
      <vt:lpstr>行为描述</vt:lpstr>
      <vt:lpstr>行为描述</vt:lpstr>
      <vt:lpstr>PowerPoint 演示文稿</vt:lpstr>
      <vt:lpstr>PowerPoint 演示文稿</vt:lpstr>
      <vt:lpstr>PowerPoint 演示文稿</vt:lpstr>
      <vt:lpstr>关于if语句</vt:lpstr>
      <vt:lpstr>if语句</vt:lpstr>
      <vt:lpstr>PowerPoint 演示文稿</vt:lpstr>
      <vt:lpstr>PowerPoint 演示文稿</vt:lpstr>
      <vt:lpstr>PowerPoint 演示文稿</vt:lpstr>
      <vt:lpstr>关于实例化的注意事项</vt:lpstr>
      <vt:lpstr>实例化时遇到引脚悬空如何处理？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王华</cp:lastModifiedBy>
  <cp:revision>365</cp:revision>
  <dcterms:created xsi:type="dcterms:W3CDTF">2019-06-19T02:08:00Z</dcterms:created>
  <dcterms:modified xsi:type="dcterms:W3CDTF">2025-04-27T08:13:49Z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971574ABB5714027B7AFED5636623D7E</vt:lpwstr>
  </property>
</Properties>
</file>