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6" r:id="rId3"/>
    <p:sldId id="257" r:id="rId4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7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实验三 Verilog组合逻辑设计</a:t>
            </a: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6.xml"/><Relationship Id="rId1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b="3632"/>
          <a:stretch>
            <a:fillRect/>
          </a:stretch>
        </p:blipFill>
        <p:spPr>
          <a:xfrm>
            <a:off x="11430" y="-23495"/>
            <a:ext cx="4867910" cy="6772910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817495" y="1095375"/>
            <a:ext cx="9374505" cy="1379220"/>
          </a:xfrm>
        </p:spPr>
        <p:txBody>
          <a:bodyPr/>
          <a:p>
            <a:r>
              <a:rPr lang="en-US"/>
              <a:t>ISE</a:t>
            </a:r>
            <a:r>
              <a:rPr lang="zh-CN" altLang="en-US"/>
              <a:t>操作相关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223260" y="3318510"/>
            <a:ext cx="9051925" cy="2021205"/>
          </a:xfrm>
        </p:spPr>
        <p:txBody>
          <a:bodyPr>
            <a:normAutofit/>
          </a:bodyPr>
          <a:p>
            <a:pPr>
              <a:lnSpc>
                <a:spcPct val="150000"/>
              </a:lnSpc>
            </a:pPr>
            <a:r>
              <a:rPr lang="zh-CN" altLang="en-US" sz="3200" b="1"/>
              <a:t>国家级计算机实验教学示范中心</a:t>
            </a:r>
            <a:endParaRPr lang="zh-CN" altLang="en-US" sz="3200" b="1"/>
          </a:p>
          <a:p>
            <a:pPr>
              <a:lnSpc>
                <a:spcPct val="150000"/>
              </a:lnSpc>
            </a:pPr>
            <a:r>
              <a:rPr lang="zh-CN" altLang="en-US" sz="3200" b="1"/>
              <a:t>王华</a:t>
            </a:r>
            <a:endParaRPr lang="zh-CN" altLang="en-US" sz="3200" b="1"/>
          </a:p>
          <a:p>
            <a:endParaRPr lang="zh-CN" altLang="en-US" sz="3200" b="1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1506220" y="490220"/>
            <a:ext cx="9172575" cy="762000"/>
          </a:xfrm>
        </p:spPr>
        <p:txBody>
          <a:bodyPr vert="horz" wrap="square" lIns="91440" tIns="45720" rIns="91440" bIns="45720" anchor="b" anchorCtr="0">
            <a:normAutofit fontScale="90000"/>
          </a:bodyPr>
          <a:p>
            <a:r>
              <a:rPr lang="zh-CN" altLang="en-US" dirty="0"/>
              <a:t>操作步骤（以</a:t>
            </a:r>
            <a:r>
              <a:rPr lang="en-US" altLang="zh-CN" dirty="0"/>
              <a:t>ISE14.7</a:t>
            </a:r>
            <a:r>
              <a:rPr lang="zh-CN" altLang="en-US" dirty="0"/>
              <a:t>为例）</a:t>
            </a:r>
            <a:r>
              <a:rPr sz="2000" b="1">
                <a:solidFill>
                  <a:srgbClr val="FF0000"/>
                </a:solidFill>
                <a:sym typeface="+mn-ea"/>
              </a:rPr>
              <a:t>（可自行下载安装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vivado</a:t>
            </a:r>
            <a:r>
              <a:rPr sz="2000" b="1">
                <a:solidFill>
                  <a:srgbClr val="FF0000"/>
                </a:solidFill>
                <a:sym typeface="+mn-ea"/>
              </a:rPr>
              <a:t>）</a:t>
            </a:r>
            <a:endParaRPr lang="zh-CN" altLang="en-US" sz="20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1. </a:t>
            </a:r>
            <a:r>
              <a:rPr lang="zh-CN" altLang="en-US" sz="2000" dirty="0">
                <a:solidFill>
                  <a:schemeClr val="tx1"/>
                </a:solidFill>
              </a:rPr>
              <a:t>双击</a:t>
            </a:r>
            <a:r>
              <a:rPr lang="en-US" altLang="zh-CN" sz="2000" dirty="0">
                <a:solidFill>
                  <a:schemeClr val="tx1"/>
                </a:solidFill>
              </a:rPr>
              <a:t>ISE Design Suite 14.7</a:t>
            </a:r>
            <a:r>
              <a:rPr lang="zh-CN" altLang="en-US" sz="2000" dirty="0">
                <a:solidFill>
                  <a:schemeClr val="tx1"/>
                </a:solidFill>
              </a:rPr>
              <a:t>图标</a:t>
            </a:r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endParaRPr lang="en-US" altLang="zh-CN" sz="20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chemeClr val="tx1"/>
                </a:solidFill>
              </a:rPr>
              <a:t>2.</a:t>
            </a:r>
            <a:r>
              <a:rPr lang="zh-CN" altLang="en-US" sz="2000" dirty="0">
                <a:solidFill>
                  <a:schemeClr val="tx1"/>
                </a:solidFill>
              </a:rPr>
              <a:t>点击菜单</a:t>
            </a:r>
            <a:r>
              <a:rPr lang="en-US" altLang="zh-CN" sz="2000" dirty="0">
                <a:solidFill>
                  <a:schemeClr val="tx1"/>
                </a:solidFill>
              </a:rPr>
              <a:t>File-&gt;New Project</a:t>
            </a:r>
            <a:endParaRPr lang="en-US" altLang="zh-CN" sz="2000" dirty="0">
              <a:solidFill>
                <a:schemeClr val="tx1"/>
              </a:solidFill>
            </a:endParaRPr>
          </a:p>
        </p:txBody>
      </p:sp>
      <p:pic>
        <p:nvPicPr>
          <p:cNvPr id="1229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31778" y="1800225"/>
            <a:ext cx="1528762" cy="18303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8875" y="4123690"/>
            <a:ext cx="2254885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3.</a:t>
            </a:r>
            <a:r>
              <a:rPr lang="zh-CN" altLang="en-US" dirty="0"/>
              <a:t>创建项目</a:t>
            </a:r>
            <a:endParaRPr lang="zh-CN" altLang="en-US" dirty="0"/>
          </a:p>
        </p:txBody>
      </p:sp>
      <p:pic>
        <p:nvPicPr>
          <p:cNvPr id="13316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9945" y="1548765"/>
            <a:ext cx="5580380" cy="495554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8008938" y="2490788"/>
            <a:ext cx="3383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 Narrow" panose="020B0606020202030204" pitchFamily="34" charset="0"/>
              </a:rPr>
              <a:t>点击按钮选择项目文件保存路径</a:t>
            </a:r>
            <a:endParaRPr lang="zh-CN" altLang="en-US" dirty="0">
              <a:latin typeface="Arial Narrow" panose="020B0606020202030204" pitchFamily="34" charset="0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>
            <a:off x="7342505" y="2884805"/>
            <a:ext cx="645795" cy="469265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1" name="TextBox 10"/>
          <p:cNvSpPr txBox="1"/>
          <p:nvPr/>
        </p:nvSpPr>
        <p:spPr>
          <a:xfrm>
            <a:off x="8075613" y="4120198"/>
            <a:ext cx="15544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Arial Narrow" panose="020B0606020202030204" pitchFamily="34" charset="0"/>
              </a:rPr>
              <a:t>输入项目名称</a:t>
            </a:r>
            <a:endParaRPr lang="zh-CN" altLang="en-US" dirty="0">
              <a:latin typeface="Arial Narrow" panose="020B0606020202030204" pitchFamily="34" charset="0"/>
            </a:endParaRPr>
          </a:p>
        </p:txBody>
      </p:sp>
      <p:cxnSp>
        <p:nvCxnSpPr>
          <p:cNvPr id="12" name="直接箭头连接符 11"/>
          <p:cNvCxnSpPr>
            <a:stCxn id="11" idx="1"/>
          </p:cNvCxnSpPr>
          <p:nvPr/>
        </p:nvCxnSpPr>
        <p:spPr>
          <a:xfrm flipH="1" flipV="1">
            <a:off x="4331970" y="3125470"/>
            <a:ext cx="3743960" cy="1179195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4" name="TextBox 13"/>
          <p:cNvSpPr txBox="1"/>
          <p:nvPr/>
        </p:nvSpPr>
        <p:spPr>
          <a:xfrm>
            <a:off x="8075930" y="4709795"/>
            <a:ext cx="340741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sz="2800" b="1" dirty="0">
                <a:solidFill>
                  <a:schemeClr val="tx1"/>
                </a:solidFill>
                <a:latin typeface="Arial Narrow" panose="020B0606020202030204" pitchFamily="34" charset="0"/>
              </a:rPr>
              <a:t>由于</a:t>
            </a:r>
            <a:r>
              <a:rPr lang="en-US" altLang="zh-CN" sz="2800" b="1" dirty="0">
                <a:solidFill>
                  <a:schemeClr val="tx1"/>
                </a:solidFill>
                <a:latin typeface="Arial Narrow" panose="020B0606020202030204" pitchFamily="34" charset="0"/>
              </a:rPr>
              <a:t>ISE</a:t>
            </a:r>
            <a:r>
              <a:rPr lang="zh-CN" altLang="en-US" sz="2800" b="1" dirty="0">
                <a:solidFill>
                  <a:schemeClr val="tx1"/>
                </a:solidFill>
                <a:latin typeface="Arial Narrow" panose="020B0606020202030204" pitchFamily="34" charset="0"/>
              </a:rPr>
              <a:t>的局限，目录和项目名称中</a:t>
            </a:r>
            <a:r>
              <a:rPr lang="zh-CN" altLang="en-US" sz="2800" b="1" dirty="0">
                <a:solidFill>
                  <a:srgbClr val="FF0000"/>
                </a:solidFill>
                <a:latin typeface="Arial Narrow" panose="020B0606020202030204" pitchFamily="34" charset="0"/>
              </a:rPr>
              <a:t>不要有中文或空格</a:t>
            </a:r>
            <a:endParaRPr lang="zh-CN" altLang="en-US" sz="2800" b="1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8" grpId="0"/>
      <p:bldP spid="11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4.</a:t>
            </a:r>
            <a:r>
              <a:rPr lang="zh-CN" altLang="en-US" dirty="0"/>
              <a:t>项目设置</a:t>
            </a:r>
            <a:endParaRPr lang="zh-CN" altLang="en-US" dirty="0"/>
          </a:p>
        </p:txBody>
      </p:sp>
      <p:sp>
        <p:nvSpPr>
          <p:cNvPr id="14339" name="内容占位符 2"/>
          <p:cNvSpPr>
            <a:spLocks noGrp="1"/>
          </p:cNvSpPr>
          <p:nvPr>
            <p:ph idx="1"/>
          </p:nvPr>
        </p:nvSpPr>
        <p:spPr>
          <a:xfrm>
            <a:off x="8627745" y="4964430"/>
            <a:ext cx="3018790" cy="166687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dirty="0">
                <a:solidFill>
                  <a:schemeClr val="tx1"/>
                </a:solidFill>
              </a:rPr>
              <a:t>由于本课程不需要下载流文件，所以该步骤设置可采用默认值不变，</a:t>
            </a:r>
            <a:r>
              <a:rPr lang="zh-CN" dirty="0">
                <a:solidFill>
                  <a:srgbClr val="FF0000"/>
                </a:solidFill>
              </a:rPr>
              <a:t>直接点击</a:t>
            </a:r>
            <a:r>
              <a:rPr lang="en-US" altLang="zh-CN" dirty="0">
                <a:solidFill>
                  <a:srgbClr val="FF0000"/>
                </a:solidFill>
              </a:rPr>
              <a:t>Next</a:t>
            </a:r>
            <a:r>
              <a:rPr lang="zh-CN" altLang="en-US" dirty="0">
                <a:solidFill>
                  <a:schemeClr val="tx1"/>
                </a:solidFill>
              </a:rPr>
              <a:t>进入下一步操作。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4341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5235" y="1313815"/>
            <a:ext cx="5875020" cy="52165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5.</a:t>
            </a:r>
            <a:r>
              <a:rPr lang="zh-CN" altLang="en-US" dirty="0"/>
              <a:t>新建源文件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7129780" y="1473835"/>
            <a:ext cx="3181350" cy="1252538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点击右键，在弹出的菜单中</a:t>
            </a:r>
            <a:r>
              <a:rPr lang="zh-CN" altLang="en-US" kern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点击</a:t>
            </a:r>
            <a:r>
              <a:rPr lang="en-US" altLang="zh-CN" kern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New Source…</a:t>
            </a:r>
            <a:endParaRPr lang="en-US" altLang="zh-CN" kern="12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pic>
        <p:nvPicPr>
          <p:cNvPr id="15365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5635" y="1329690"/>
            <a:ext cx="4168140" cy="469011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277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6338" y="3124200"/>
            <a:ext cx="2114550" cy="27908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8" name="直接箭头连接符 7"/>
          <p:cNvCxnSpPr/>
          <p:nvPr/>
        </p:nvCxnSpPr>
        <p:spPr>
          <a:xfrm flipH="1">
            <a:off x="4930140" y="1751330"/>
            <a:ext cx="2139315" cy="1503680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6.</a:t>
            </a:r>
            <a:r>
              <a:rPr lang="zh-CN" altLang="en-US" dirty="0"/>
              <a:t>源文件相关设置</a:t>
            </a:r>
            <a:endParaRPr lang="zh-CN" altLang="en-US" dirty="0"/>
          </a:p>
        </p:txBody>
      </p:sp>
      <p:pic>
        <p:nvPicPr>
          <p:cNvPr id="1638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850" y="1290320"/>
            <a:ext cx="6534150" cy="512953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395970" y="1393825"/>
            <a:ext cx="2967990" cy="50990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dirty="0">
                <a:solidFill>
                  <a:schemeClr val="bg2">
                    <a:lumMod val="25000"/>
                  </a:schemeClr>
                </a:solidFill>
              </a:rPr>
              <a:t>选择文件类型</a:t>
            </a:r>
            <a:endParaRPr lang="zh-CN" alt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7" name="直接箭头连接符 6"/>
          <p:cNvCxnSpPr>
            <a:stCxn id="6" idx="1"/>
          </p:cNvCxnSpPr>
          <p:nvPr/>
        </p:nvCxnSpPr>
        <p:spPr>
          <a:xfrm flipH="1">
            <a:off x="3447415" y="1648778"/>
            <a:ext cx="4948555" cy="1744345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8" name="内容占位符 2"/>
          <p:cNvSpPr txBox="1"/>
          <p:nvPr/>
        </p:nvSpPr>
        <p:spPr bwMode="auto">
          <a:xfrm>
            <a:off x="8395970" y="3085465"/>
            <a:ext cx="2136140" cy="4629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kern="0" cap="none" spc="0" normalizeH="0" baseline="0" noProof="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rPr>
              <a:t>输入文件名</a:t>
            </a:r>
            <a:endParaRPr kumimoji="1" lang="zh-CN" altLang="en-US" kern="0" cap="none" spc="0" normalizeH="0" baseline="0" noProof="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9" name="直接箭头连接符 8"/>
          <p:cNvCxnSpPr>
            <a:stCxn id="8" idx="1"/>
          </p:cNvCxnSpPr>
          <p:nvPr/>
        </p:nvCxnSpPr>
        <p:spPr>
          <a:xfrm flipH="1">
            <a:off x="5893435" y="3317240"/>
            <a:ext cx="2502535" cy="633095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6" name="内容占位符 2"/>
          <p:cNvSpPr txBox="1"/>
          <p:nvPr/>
        </p:nvSpPr>
        <p:spPr bwMode="auto">
          <a:xfrm>
            <a:off x="8395970" y="5323840"/>
            <a:ext cx="1851660" cy="990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然后点击</a:t>
            </a:r>
            <a:r>
              <a:rPr kumimoji="1" lang="en-US" altLang="zh-CN" kern="0" cap="none" spc="0" normalizeH="0" baseline="0" noProof="0" dirty="0">
                <a:latin typeface="+mn-lt"/>
                <a:ea typeface="+mn-ea"/>
                <a:cs typeface="+mn-cs"/>
              </a:rPr>
              <a:t>Next</a:t>
            </a: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按钮，进入下一步操作</a:t>
            </a:r>
            <a:endParaRPr kumimoji="1" lang="zh-CN" altLang="en-US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 build="p"/>
      <p:bldP spid="8" grpId="0" build="p"/>
      <p:bldP spid="1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7.</a:t>
            </a:r>
            <a:r>
              <a:rPr lang="zh-CN" altLang="en-US" dirty="0"/>
              <a:t>编辑该文件的</a:t>
            </a:r>
            <a:r>
              <a:rPr lang="en-US" altLang="zh-CN" dirty="0"/>
              <a:t>Verilog</a:t>
            </a:r>
            <a:r>
              <a:rPr lang="zh-CN" altLang="en-US" dirty="0"/>
              <a:t>源代码</a:t>
            </a:r>
            <a:endParaRPr lang="zh-CN" altLang="en-US" dirty="0"/>
          </a:p>
        </p:txBody>
      </p:sp>
      <p:pic>
        <p:nvPicPr>
          <p:cNvPr id="1741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9880" y="1490345"/>
            <a:ext cx="6800215" cy="510032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2209800" y="64770"/>
            <a:ext cx="7772400" cy="7620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9.</a:t>
            </a:r>
            <a:r>
              <a:rPr lang="zh-CN" altLang="en-US" dirty="0"/>
              <a:t>语法检查</a:t>
            </a:r>
            <a:endParaRPr lang="zh-CN" altLang="en-US" dirty="0"/>
          </a:p>
        </p:txBody>
      </p:sp>
      <p:pic>
        <p:nvPicPr>
          <p:cNvPr id="22532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2510" y="936625"/>
            <a:ext cx="3892550" cy="5921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内容占位符 2"/>
          <p:cNvSpPr>
            <a:spLocks noGrp="1"/>
          </p:cNvSpPr>
          <p:nvPr>
            <p:ph idx="1"/>
          </p:nvPr>
        </p:nvSpPr>
        <p:spPr>
          <a:xfrm>
            <a:off x="6505575" y="1299210"/>
            <a:ext cx="3476625" cy="48069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选择源文件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H="1">
            <a:off x="4256405" y="1624965"/>
            <a:ext cx="2280920" cy="847090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11" name="直接箭头连接符 10"/>
          <p:cNvCxnSpPr/>
          <p:nvPr/>
        </p:nvCxnSpPr>
        <p:spPr>
          <a:xfrm flipH="1">
            <a:off x="3914140" y="4399915"/>
            <a:ext cx="2424430" cy="255905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2" name="内容占位符 2"/>
          <p:cNvSpPr txBox="1"/>
          <p:nvPr/>
        </p:nvSpPr>
        <p:spPr bwMode="auto">
          <a:xfrm>
            <a:off x="6428105" y="4155440"/>
            <a:ext cx="3884930" cy="3435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点击箭头处，进行综合</a:t>
            </a:r>
            <a:endParaRPr kumimoji="1" lang="zh-CN" altLang="en-US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cxnSp>
        <p:nvCxnSpPr>
          <p:cNvPr id="14" name="直接箭头连接符 13"/>
          <p:cNvCxnSpPr>
            <a:stCxn id="15" idx="1"/>
          </p:cNvCxnSpPr>
          <p:nvPr/>
        </p:nvCxnSpPr>
        <p:spPr>
          <a:xfrm flipH="1">
            <a:off x="3417570" y="5836920"/>
            <a:ext cx="2921000" cy="825500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5" name="内容占位符 2"/>
          <p:cNvSpPr txBox="1"/>
          <p:nvPr/>
        </p:nvSpPr>
        <p:spPr bwMode="auto">
          <a:xfrm>
            <a:off x="6338570" y="5483860"/>
            <a:ext cx="4064000" cy="7061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如果有错，根据提示信息修改错误，直到无误。警告信息也要注意，有些警告信息会影响仿真结果。</a:t>
            </a:r>
            <a:endParaRPr kumimoji="1" lang="zh-CN" altLang="en-US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8" grpId="0" build="p"/>
      <p:bldP spid="12" grpId="0" build="p"/>
      <p:bldP spid="1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355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835" y="1657350"/>
            <a:ext cx="2886075" cy="3152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3555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10. </a:t>
            </a:r>
            <a:r>
              <a:rPr lang="zh-CN" altLang="en-US" dirty="0"/>
              <a:t>新建测试文件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346190" y="2270125"/>
            <a:ext cx="4177030" cy="1033145"/>
          </a:xfrm>
        </p:spPr>
        <p:txBody>
          <a:bodyPr vert="horz" wrap="square" lIns="91440" tIns="45720" rIns="91440" bIns="45720" anchor="t" anchorCtr="0">
            <a:noAutofit/>
          </a:bodyPr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1700" dirty="0">
                <a:solidFill>
                  <a:schemeClr val="tx1"/>
                </a:solidFill>
              </a:rPr>
              <a:t>在空白处点击右键，在弹出菜单中</a:t>
            </a:r>
            <a:r>
              <a:rPr lang="zh-CN" altLang="en-US" sz="1700" kern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点击</a:t>
            </a:r>
            <a:endParaRPr lang="zh-CN" altLang="en-US" sz="1700" kern="12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sym typeface="+mn-ea"/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altLang="zh-CN" sz="1700" kern="12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sym typeface="+mn-ea"/>
              </a:rPr>
              <a:t>New Source…</a:t>
            </a:r>
            <a:endParaRPr lang="en-US" altLang="zh-CN" sz="1700" kern="12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sym typeface="+mn-ea"/>
            </a:endParaRPr>
          </a:p>
        </p:txBody>
      </p:sp>
      <p:pic>
        <p:nvPicPr>
          <p:cNvPr id="8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6373" y="3784600"/>
            <a:ext cx="2114550" cy="2790825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直接箭头连接符 6"/>
          <p:cNvCxnSpPr>
            <a:stCxn id="6" idx="1"/>
          </p:cNvCxnSpPr>
          <p:nvPr/>
        </p:nvCxnSpPr>
        <p:spPr>
          <a:xfrm flipH="1">
            <a:off x="5215890" y="2787015"/>
            <a:ext cx="1130300" cy="1133475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4578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5125" y="987425"/>
            <a:ext cx="5876925" cy="54625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4579" name="标题 1"/>
          <p:cNvSpPr>
            <a:spLocks noGrp="1"/>
          </p:cNvSpPr>
          <p:nvPr>
            <p:ph type="title"/>
          </p:nvPr>
        </p:nvSpPr>
        <p:spPr>
          <a:xfrm>
            <a:off x="608400" y="300425"/>
            <a:ext cx="10969200" cy="705600"/>
          </a:xfrm>
        </p:spPr>
        <p:txBody>
          <a:bodyPr vert="horz" wrap="square" lIns="91440" tIns="45720" rIns="91440" bIns="45720" anchor="b" anchorCtr="0"/>
          <a:p>
            <a:r>
              <a:rPr lang="en-US" altLang="zh-CN" dirty="0"/>
              <a:t>11. </a:t>
            </a:r>
            <a:r>
              <a:rPr lang="zh-CN" altLang="en-US" dirty="0"/>
              <a:t>测试文件</a:t>
            </a:r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7724775" y="2477135"/>
            <a:ext cx="2781935" cy="47561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选择文件类型为测试用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>
            <a:off x="3659188" y="2782888"/>
            <a:ext cx="3968750" cy="1477962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9" name="内容占位符 2"/>
          <p:cNvSpPr txBox="1"/>
          <p:nvPr/>
        </p:nvSpPr>
        <p:spPr bwMode="auto">
          <a:xfrm>
            <a:off x="7724775" y="3141980"/>
            <a:ext cx="3048635" cy="68770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输入测试文件名，建议在被测试文件名后面添加后缀，如：本例中添加了</a:t>
            </a:r>
            <a:r>
              <a:rPr kumimoji="1" lang="en-US" altLang="zh-CN" kern="0" cap="none" spc="0" normalizeH="0" baseline="0" noProof="0" dirty="0">
                <a:latin typeface="+mn-lt"/>
                <a:ea typeface="+mn-ea"/>
                <a:cs typeface="+mn-cs"/>
              </a:rPr>
              <a:t>_tb</a:t>
            </a: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，以示区别</a:t>
            </a:r>
            <a:endParaRPr kumimoji="1" lang="zh-CN" altLang="en-US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10" name="内容占位符 2"/>
          <p:cNvSpPr txBox="1"/>
          <p:nvPr/>
        </p:nvSpPr>
        <p:spPr bwMode="auto">
          <a:xfrm>
            <a:off x="7724775" y="5858510"/>
            <a:ext cx="3049270" cy="45593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然后点击</a:t>
            </a:r>
            <a:r>
              <a:rPr kumimoji="1" lang="en-US" altLang="zh-CN" kern="0" cap="none" spc="0" normalizeH="0" baseline="0" noProof="0" dirty="0">
                <a:latin typeface="+mn-lt"/>
                <a:ea typeface="+mn-ea"/>
                <a:cs typeface="+mn-cs"/>
              </a:rPr>
              <a:t>Next</a:t>
            </a: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按钮，进入下一步操作</a:t>
            </a:r>
            <a:endParaRPr kumimoji="1" lang="zh-CN" altLang="en-US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cxnSp>
        <p:nvCxnSpPr>
          <p:cNvPr id="13" name="直接箭头连接符 12"/>
          <p:cNvCxnSpPr>
            <a:stCxn id="9" idx="1"/>
          </p:cNvCxnSpPr>
          <p:nvPr/>
        </p:nvCxnSpPr>
        <p:spPr>
          <a:xfrm flipH="1">
            <a:off x="6236970" y="3486150"/>
            <a:ext cx="1487805" cy="382905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7" grpId="0" build="p"/>
      <p:bldP spid="9" grpId="0" build="p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12. </a:t>
            </a:r>
            <a:r>
              <a:rPr lang="zh-CN" altLang="en-US" dirty="0"/>
              <a:t>选择需要测试的模块</a:t>
            </a:r>
            <a:endParaRPr lang="zh-CN" altLang="en-US" dirty="0"/>
          </a:p>
        </p:txBody>
      </p:sp>
      <p:pic>
        <p:nvPicPr>
          <p:cNvPr id="2560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2600" y="1259205"/>
            <a:ext cx="6610350" cy="5191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内容占位符 2"/>
          <p:cNvSpPr txBox="1"/>
          <p:nvPr/>
        </p:nvSpPr>
        <p:spPr bwMode="auto">
          <a:xfrm>
            <a:off x="8432165" y="5777230"/>
            <a:ext cx="2529205" cy="6032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点击</a:t>
            </a:r>
            <a:r>
              <a:rPr kumimoji="1" lang="en-US" altLang="zh-CN" kern="0" cap="none" spc="0" normalizeH="0" baseline="0" noProof="0" dirty="0">
                <a:latin typeface="+mn-lt"/>
                <a:ea typeface="+mn-ea"/>
                <a:cs typeface="+mn-cs"/>
              </a:rPr>
              <a:t>Next</a:t>
            </a: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按钮，进入下一</a:t>
            </a:r>
            <a:r>
              <a:rPr kumimoji="1" lang="zh-CN" kern="0" cap="none" spc="0" normalizeH="0" baseline="0" noProof="0" dirty="0">
                <a:latin typeface="+mn-lt"/>
                <a:ea typeface="+mn-ea"/>
                <a:cs typeface="+mn-cs"/>
              </a:rPr>
              <a:t>步操作</a:t>
            </a:r>
            <a:endParaRPr kumimoji="1" lang="zh-CN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78910" y="4775835"/>
            <a:ext cx="3406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</a:rPr>
              <a:t>选择需要测试的源文件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3" name="直接箭头连接符 2"/>
          <p:cNvCxnSpPr/>
          <p:nvPr/>
        </p:nvCxnSpPr>
        <p:spPr>
          <a:xfrm flipH="1" flipV="1">
            <a:off x="2821305" y="2842260"/>
            <a:ext cx="2145030" cy="1933575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13. </a:t>
            </a:r>
            <a:r>
              <a:rPr lang="zh-CN" altLang="en-US" dirty="0"/>
              <a:t>进入仿真视图</a:t>
            </a:r>
            <a:endParaRPr lang="zh-CN" altLang="en-US" dirty="0"/>
          </a:p>
        </p:txBody>
      </p:sp>
      <p:pic>
        <p:nvPicPr>
          <p:cNvPr id="26628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7940" y="1410335"/>
            <a:ext cx="5491480" cy="526986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217535" y="982345"/>
            <a:ext cx="2204085" cy="52895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选择仿真视图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6259195" y="1224280"/>
            <a:ext cx="2016125" cy="1493520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9" name="直接箭头连接符 8"/>
          <p:cNvCxnSpPr/>
          <p:nvPr/>
        </p:nvCxnSpPr>
        <p:spPr>
          <a:xfrm flipH="1">
            <a:off x="5792470" y="2902585"/>
            <a:ext cx="2425065" cy="1067435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1" name="内容占位符 2"/>
          <p:cNvSpPr txBox="1"/>
          <p:nvPr/>
        </p:nvSpPr>
        <p:spPr bwMode="auto">
          <a:xfrm>
            <a:off x="8217535" y="2647315"/>
            <a:ext cx="2362835" cy="66484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选择测试文件，双击打开，对它进行编辑</a:t>
            </a:r>
            <a:endParaRPr kumimoji="1" lang="zh-CN" altLang="en-US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 build="p"/>
      <p:bldP spid="11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14. </a:t>
            </a:r>
            <a:r>
              <a:rPr lang="zh-CN" altLang="en-US" dirty="0"/>
              <a:t>编写激励代码</a:t>
            </a:r>
            <a:endParaRPr lang="zh-CN" altLang="en-US" dirty="0"/>
          </a:p>
        </p:txBody>
      </p:sp>
      <p:pic>
        <p:nvPicPr>
          <p:cNvPr id="2765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7008" y="1528445"/>
            <a:ext cx="6737350" cy="50530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9594850" y="1936750"/>
            <a:ext cx="2908300" cy="518795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输入激励代码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>
            <a:stCxn id="6" idx="1"/>
          </p:cNvCxnSpPr>
          <p:nvPr/>
        </p:nvCxnSpPr>
        <p:spPr>
          <a:xfrm flipH="1">
            <a:off x="8018145" y="2196465"/>
            <a:ext cx="1576705" cy="933450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16. </a:t>
            </a:r>
            <a:r>
              <a:rPr lang="zh-CN" altLang="en-US" dirty="0"/>
              <a:t>仿真设置（非必须）</a:t>
            </a:r>
            <a:endParaRPr lang="zh-CN" altLang="en-US" dirty="0"/>
          </a:p>
        </p:txBody>
      </p:sp>
      <p:pic>
        <p:nvPicPr>
          <p:cNvPr id="30724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8725" y="1492885"/>
            <a:ext cx="3726815" cy="497649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469505" y="4982210"/>
            <a:ext cx="4533265" cy="1701165"/>
          </a:xfrm>
        </p:spPr>
        <p:txBody>
          <a:bodyPr vert="horz" wrap="square" lIns="91440" tIns="45720" rIns="91440" bIns="45720" anchor="t" anchorCtr="0">
            <a:normAutofit fontScale="25000"/>
          </a:bodyPr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7200" dirty="0">
                <a:solidFill>
                  <a:schemeClr val="tx1"/>
                </a:solidFill>
              </a:rPr>
              <a:t>选中后点击右键，</a:t>
            </a:r>
            <a:endParaRPr lang="zh-CN" altLang="en-US" sz="7200" dirty="0">
              <a:solidFill>
                <a:schemeClr val="tx1"/>
              </a:solidFill>
            </a:endParaRPr>
          </a:p>
          <a:p>
            <a:pPr marL="0" indent="0" latinLnBrk="0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7200" noProof="0" dirty="0">
                <a:solidFill>
                  <a:schemeClr val="tx1"/>
                </a:solidFill>
                <a:sym typeface="+mn-ea"/>
              </a:rPr>
              <a:t>弹出菜单后点击</a:t>
            </a:r>
            <a:r>
              <a:rPr lang="en-US" altLang="zh-CN" sz="7200" noProof="0" dirty="0">
                <a:solidFill>
                  <a:schemeClr val="tx1"/>
                </a:solidFill>
                <a:sym typeface="+mn-ea"/>
              </a:rPr>
              <a:t>Process Properties…</a:t>
            </a:r>
            <a:endParaRPr lang="en-US" altLang="zh-CN" sz="7200" noProof="0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4198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560" y="5241925"/>
            <a:ext cx="1990725" cy="144145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7" name="直接箭头连接符 6"/>
          <p:cNvCxnSpPr/>
          <p:nvPr/>
        </p:nvCxnSpPr>
        <p:spPr>
          <a:xfrm flipH="1">
            <a:off x="6447790" y="5887720"/>
            <a:ext cx="1043940" cy="675640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2" name="直接箭头连接符 1"/>
          <p:cNvCxnSpPr/>
          <p:nvPr/>
        </p:nvCxnSpPr>
        <p:spPr>
          <a:xfrm flipH="1">
            <a:off x="4636770" y="5301615"/>
            <a:ext cx="2874645" cy="176530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1746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9413" y="1592263"/>
            <a:ext cx="5481637" cy="41052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1747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17. </a:t>
            </a:r>
            <a:r>
              <a:rPr lang="zh-CN" altLang="en-US" dirty="0"/>
              <a:t>修改仿真的运行时间（非必须）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353300" y="2562225"/>
            <a:ext cx="3982085" cy="967105"/>
          </a:xfrm>
        </p:spPr>
        <p:txBody>
          <a:bodyPr vert="horz" wrap="square" lIns="91440" tIns="45720" rIns="91440" bIns="45720" anchor="t" anchorCtr="0">
            <a:normAutofit/>
          </a:bodyPr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仿真运行时间缺省值为</a:t>
            </a:r>
            <a:r>
              <a:rPr lang="en-US" altLang="zh-CN" dirty="0">
                <a:solidFill>
                  <a:schemeClr val="tx1"/>
                </a:solidFill>
              </a:rPr>
              <a:t>1000ns</a:t>
            </a:r>
            <a:r>
              <a:rPr lang="zh-CN" altLang="en-US" dirty="0">
                <a:solidFill>
                  <a:schemeClr val="tx1"/>
                </a:solidFill>
              </a:rPr>
              <a:t>，可以修改，图中改为</a:t>
            </a:r>
            <a:r>
              <a:rPr lang="en-US" altLang="zh-CN" dirty="0">
                <a:solidFill>
                  <a:schemeClr val="tx1"/>
                </a:solidFill>
              </a:rPr>
              <a:t>1200ns</a:t>
            </a:r>
            <a:endParaRPr lang="en-US" altLang="zh-CN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5602923" y="2860675"/>
            <a:ext cx="1650365" cy="731520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11" name="内容占位符 2"/>
          <p:cNvSpPr txBox="1"/>
          <p:nvPr/>
        </p:nvSpPr>
        <p:spPr bwMode="auto">
          <a:xfrm>
            <a:off x="7253605" y="5283200"/>
            <a:ext cx="2529205" cy="4146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R="0" defTabSz="914400" eaLnBrk="0" hangingPunct="0">
              <a:spcBef>
                <a:spcPct val="20000"/>
              </a:spcBef>
              <a:buClr>
                <a:srgbClr val="FFFF00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然后点击</a:t>
            </a:r>
            <a:r>
              <a:rPr kumimoji="1" lang="en-US" altLang="zh-CN" kern="0" cap="none" spc="0" normalizeH="0" baseline="0" noProof="0" dirty="0">
                <a:latin typeface="+mn-lt"/>
                <a:ea typeface="+mn-ea"/>
                <a:cs typeface="+mn-cs"/>
              </a:rPr>
              <a:t>OK</a:t>
            </a:r>
            <a:r>
              <a:rPr kumimoji="1" lang="zh-CN" altLang="en-US" kern="0" cap="none" spc="0" normalizeH="0" baseline="0" noProof="0" dirty="0">
                <a:latin typeface="+mn-lt"/>
                <a:ea typeface="+mn-ea"/>
                <a:cs typeface="+mn-cs"/>
              </a:rPr>
              <a:t>按钮。</a:t>
            </a:r>
            <a:endParaRPr kumimoji="1" lang="zh-CN" altLang="en-US" kern="0" cap="none" spc="0" normalizeH="0" baseline="0" noProof="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 build="p"/>
      <p:bldP spid="1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18.</a:t>
            </a:r>
            <a:r>
              <a:rPr lang="zh-CN" altLang="en-US" dirty="0"/>
              <a:t>启动仿真</a:t>
            </a:r>
            <a:endParaRPr lang="zh-CN" altLang="en-US" dirty="0"/>
          </a:p>
        </p:txBody>
      </p:sp>
      <p:pic>
        <p:nvPicPr>
          <p:cNvPr id="3277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63353" y="1235075"/>
            <a:ext cx="4124325" cy="55054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8644255" y="2261870"/>
            <a:ext cx="2541270" cy="531495"/>
          </a:xfrm>
        </p:spPr>
        <p:txBody>
          <a:bodyPr vert="horz" wrap="square" lIns="91440" tIns="45720" rIns="91440" bIns="45720" anchor="t" anchorCtr="0">
            <a:normAutofit/>
          </a:bodyPr>
          <a:p>
            <a:pPr marL="0" indent="0">
              <a:buNone/>
            </a:pPr>
            <a:r>
              <a:rPr lang="zh-CN" altLang="en-US" dirty="0">
                <a:solidFill>
                  <a:schemeClr val="tx1"/>
                </a:solidFill>
              </a:rPr>
              <a:t>双击，开始仿真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H="1">
            <a:off x="6881178" y="2684463"/>
            <a:ext cx="1847850" cy="2976562"/>
          </a:xfrm>
          <a:prstGeom prst="straightConnector1">
            <a:avLst/>
          </a:prstGeom>
          <a:ln w="50800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1524000" y="304800"/>
            <a:ext cx="3890963" cy="762000"/>
          </a:xfrm>
        </p:spPr>
        <p:txBody>
          <a:bodyPr vert="horz" wrap="square" lIns="91440" tIns="45720" rIns="91440" bIns="45720" anchor="b" anchorCtr="0">
            <a:normAutofit fontScale="90000"/>
          </a:bodyPr>
          <a:p>
            <a:r>
              <a:rPr lang="en-US" altLang="zh-CN" dirty="0"/>
              <a:t>19. </a:t>
            </a:r>
            <a:r>
              <a:rPr lang="zh-CN" altLang="en-US" dirty="0"/>
              <a:t>查看仿真波形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2008505" y="2756535"/>
            <a:ext cx="809434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点击</a:t>
            </a:r>
            <a:r>
              <a:rPr lang="en-US" altLang="zh-CN"/>
              <a:t>                 zoom to full view</a:t>
            </a:r>
            <a:r>
              <a:rPr lang="zh-CN" altLang="en-US"/>
              <a:t>；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点击</a:t>
            </a:r>
            <a:r>
              <a:rPr lang="en-US" altLang="zh-CN"/>
              <a:t>                 </a:t>
            </a:r>
            <a:r>
              <a:rPr lang="zh-CN" altLang="en-US"/>
              <a:t>适当调节放大缩小波形图；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/>
              <a:t>选取需要的时段进行数据分析。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4165" y="2858770"/>
            <a:ext cx="1028700" cy="4095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4165" y="3268345"/>
            <a:ext cx="1066800" cy="371475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5290" y="1267460"/>
            <a:ext cx="6200775" cy="1390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99005" y="4068445"/>
            <a:ext cx="790384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【截图说明】</a:t>
            </a:r>
            <a:endParaRPr lang="zh-CN" altLang="en-US" sz="200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请大家尽量把</a:t>
            </a:r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Name</a:t>
            </a:r>
            <a:r>
              <a:rPr lang="zh-CN" altLang="en-US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和</a:t>
            </a:r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Value</a:t>
            </a:r>
            <a:r>
              <a:rPr lang="zh-CN" altLang="en-US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栏紧缩，给信号变化栏更多的空间，这样便于老师批阅实验报告。</a:t>
            </a:r>
            <a:endParaRPr lang="zh-CN" altLang="en-US" sz="2000"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</a:endParaRPr>
          </a:p>
          <a:p>
            <a:pPr marL="342900" indent="-342900">
              <a:buFont typeface="Wingdings" panose="05000000000000000000" charset="0"/>
              <a:buChar char="Ø"/>
            </a:pPr>
            <a:r>
              <a:rPr lang="zh-CN" altLang="en-US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对于计算类的题目，涉及多位信号的要以</a:t>
            </a:r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16</a:t>
            </a:r>
            <a:r>
              <a:rPr lang="zh-CN" altLang="en-US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</a:rPr>
              <a:t>进制进行显示，如上图所示，操作方法是：选择</a:t>
            </a:r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Value</a:t>
            </a:r>
            <a:r>
              <a:rPr lang="zh-CN" altLang="en-US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栏里需要转换的信号，点右键</a:t>
            </a:r>
            <a:r>
              <a:rPr lang="en-US" altLang="zh-CN" sz="2000">
                <a:latin typeface="华文新魏" panose="02010800040101010101" pitchFamily="2" charset="-122"/>
                <a:ea typeface="华文新魏" panose="02010800040101010101" pitchFamily="2" charset="-122"/>
                <a:cs typeface="华文新魏" panose="02010800040101010101" pitchFamily="2" charset="-122"/>
                <a:sym typeface="+mn-ea"/>
              </a:rPr>
              <a:t>-Radix-Hexadecimal</a:t>
            </a:r>
            <a:endParaRPr lang="en-US" altLang="zh-CN" sz="2000">
              <a:latin typeface="华文新魏" panose="02010800040101010101" pitchFamily="2" charset="-122"/>
              <a:ea typeface="华文新魏" panose="02010800040101010101" pitchFamily="2" charset="-122"/>
              <a:cs typeface="华文新魏" panose="02010800040101010101" pitchFamily="2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75" y="455365"/>
            <a:ext cx="10969200" cy="705600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</a:rPr>
              <a:t>有关平台</a:t>
            </a:r>
            <a:r>
              <a:rPr lang="en-US" altLang="zh-CN">
                <a:solidFill>
                  <a:schemeClr val="accent1"/>
                </a:solidFill>
              </a:rPr>
              <a:t>bug</a:t>
            </a:r>
            <a:r>
              <a:rPr>
                <a:solidFill>
                  <a:schemeClr val="accent1"/>
                </a:solidFill>
              </a:rPr>
              <a:t>的问题</a:t>
            </a:r>
            <a:endParaRPr>
              <a:solidFill>
                <a:schemeClr val="accent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t="3537" r="27606"/>
          <a:stretch>
            <a:fillRect/>
          </a:stretch>
        </p:blipFill>
        <p:spPr>
          <a:xfrm>
            <a:off x="4336415" y="3204210"/>
            <a:ext cx="3518535" cy="341185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11505" y="1160780"/>
            <a:ext cx="1059053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solidFill>
                  <a:srgbClr val="FF0000"/>
                </a:solidFill>
              </a:rPr>
              <a:t>【注意】</a:t>
            </a:r>
            <a:r>
              <a:rPr lang="zh-CN" altLang="en-US" sz="2000" b="1"/>
              <a:t>在初始化的时候，如果遇到</a:t>
            </a:r>
            <a:r>
              <a:rPr lang="en-US" altLang="zh-CN" sz="2000" b="1">
                <a:solidFill>
                  <a:srgbClr val="FF0000"/>
                </a:solidFill>
              </a:rPr>
              <a:t>initial</a:t>
            </a:r>
            <a:r>
              <a:rPr lang="zh-CN" altLang="en-US" sz="2000" b="1">
                <a:solidFill>
                  <a:srgbClr val="FF0000"/>
                </a:solidFill>
              </a:rPr>
              <a:t>语句</a:t>
            </a:r>
            <a:r>
              <a:rPr lang="zh-CN" altLang="en-US" sz="2000" b="1"/>
              <a:t>，注意</a:t>
            </a:r>
            <a:r>
              <a:rPr lang="zh-CN" altLang="en-US" sz="2000" b="1">
                <a:solidFill>
                  <a:srgbClr val="FF0000"/>
                </a:solidFill>
              </a:rPr>
              <a:t>赋值语句</a:t>
            </a:r>
            <a:r>
              <a:rPr lang="zh-CN" altLang="en-US" sz="2000" b="1"/>
              <a:t>后面注释语句的问题：</a:t>
            </a:r>
            <a:endParaRPr lang="zh-CN" altLang="en-US" sz="2000" b="1"/>
          </a:p>
          <a:p>
            <a:pPr marL="285750"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/>
              <a:t>图中</a:t>
            </a:r>
            <a:r>
              <a:rPr lang="en-US" altLang="zh-CN" sz="2000" b="1"/>
              <a:t>ram[5’h06]=32’h00000006</a:t>
            </a:r>
            <a:r>
              <a:rPr lang="zh-CN" altLang="zh-CN" sz="2000" b="1"/>
              <a:t>是</a:t>
            </a:r>
            <a:r>
              <a:rPr lang="zh-CN" altLang="zh-CN" sz="2000" b="1">
                <a:solidFill>
                  <a:srgbClr val="FF0000"/>
                </a:solidFill>
              </a:rPr>
              <a:t>无效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语句</a:t>
            </a:r>
            <a:r>
              <a:rPr lang="zh-CN" altLang="zh-CN" sz="2000" b="1"/>
              <a:t>；</a:t>
            </a:r>
            <a:endParaRPr lang="zh-CN" altLang="zh-CN" sz="2000" b="1"/>
          </a:p>
          <a:p>
            <a:pPr marL="285750"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sym typeface="+mn-ea"/>
              </a:rPr>
              <a:t>图中</a:t>
            </a:r>
            <a:r>
              <a:rPr lang="en-US" altLang="zh-CN" sz="2000" b="1">
                <a:sym typeface="+mn-ea"/>
              </a:rPr>
              <a:t>ram[5’h07]=32’h00000007</a:t>
            </a:r>
            <a:r>
              <a:rPr lang="zh-CN" altLang="en-US" sz="2000" b="1">
                <a:sym typeface="+mn-ea"/>
              </a:rPr>
              <a:t>是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有效语句</a:t>
            </a:r>
            <a:r>
              <a:rPr lang="zh-CN" altLang="en-US" sz="2000" b="1">
                <a:sym typeface="+mn-ea"/>
              </a:rPr>
              <a:t>；</a:t>
            </a:r>
            <a:endParaRPr lang="en-US" altLang="zh-CN" sz="2000" b="1">
              <a:sym typeface="+mn-ea"/>
            </a:endParaRPr>
          </a:p>
          <a:p>
            <a:pPr marL="285750" indent="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2000" b="1">
                <a:sym typeface="+mn-ea"/>
              </a:rPr>
              <a:t>图中</a:t>
            </a:r>
            <a:r>
              <a:rPr lang="en-US" altLang="zh-CN" sz="2000" b="1">
                <a:sym typeface="+mn-ea"/>
              </a:rPr>
              <a:t>ram[5’h08]=32’h00000008</a:t>
            </a:r>
            <a:r>
              <a:rPr lang="zh-CN" altLang="en-US" sz="2000" b="1">
                <a:sym typeface="+mn-ea"/>
              </a:rPr>
              <a:t>是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有效语句</a:t>
            </a:r>
            <a:r>
              <a:rPr lang="zh-CN" altLang="en-US" sz="2000" b="1">
                <a:sym typeface="+mn-ea"/>
              </a:rPr>
              <a:t>；</a:t>
            </a:r>
            <a:endParaRPr lang="zh-CN" altLang="en-US" sz="2000" b="1">
              <a:sym typeface="+mn-ea"/>
            </a:endParaRPr>
          </a:p>
          <a:p>
            <a:endParaRPr lang="zh-CN" altLang="en-US" sz="2000" b="1"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75" y="703015"/>
            <a:ext cx="10969200" cy="705600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</a:rPr>
              <a:t>有关平台</a:t>
            </a:r>
            <a:r>
              <a:rPr lang="en-US" altLang="zh-CN">
                <a:solidFill>
                  <a:schemeClr val="accent1"/>
                </a:solidFill>
              </a:rPr>
              <a:t>bug</a:t>
            </a:r>
            <a:r>
              <a:rPr>
                <a:solidFill>
                  <a:schemeClr val="accent1"/>
                </a:solidFill>
              </a:rPr>
              <a:t>的问题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05" y="1408430"/>
            <a:ext cx="10590530" cy="22453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sym typeface="+mn-ea"/>
              </a:rPr>
              <a:t>在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initial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语句</a:t>
            </a:r>
            <a:r>
              <a:rPr lang="zh-CN" altLang="en-US" sz="2000" b="1">
                <a:sym typeface="+mn-ea"/>
              </a:rPr>
              <a:t>中，可以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这样进行注释</a:t>
            </a:r>
            <a:r>
              <a:rPr lang="zh-CN" altLang="en-US" sz="2000" b="1">
                <a:sym typeface="+mn-ea"/>
              </a:rPr>
              <a:t>：</a:t>
            </a:r>
            <a:endParaRPr lang="zh-CN" altLang="en-US" sz="2000"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sym typeface="+mn-ea"/>
              </a:rPr>
              <a:t>1</a:t>
            </a:r>
            <a:r>
              <a:rPr lang="zh-CN" altLang="en-US" sz="2000" b="1">
                <a:sym typeface="+mn-ea"/>
              </a:rPr>
              <a:t>、单独一行进行注释（如图左一）；</a:t>
            </a:r>
            <a:endParaRPr lang="zh-CN" altLang="en-US" sz="2000"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sym typeface="+mn-ea"/>
              </a:rPr>
              <a:t>2</a:t>
            </a:r>
            <a:r>
              <a:rPr lang="zh-CN" altLang="en-US" sz="2000" b="1">
                <a:sym typeface="+mn-ea"/>
              </a:rPr>
              <a:t>、用</a:t>
            </a:r>
            <a:r>
              <a:rPr lang="en-US" altLang="zh-CN" sz="2000" b="1">
                <a:sym typeface="+mn-ea"/>
              </a:rPr>
              <a:t>/*...*/</a:t>
            </a:r>
            <a:r>
              <a:rPr lang="zh-CN" altLang="zh-CN" sz="2000" b="1">
                <a:sym typeface="+mn-ea"/>
              </a:rPr>
              <a:t>进行注释（如图左二）；</a:t>
            </a:r>
            <a:endParaRPr lang="zh-CN" altLang="zh-CN" sz="2000"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2000" b="1">
                <a:sym typeface="+mn-ea"/>
              </a:rPr>
              <a:t>3</a:t>
            </a:r>
            <a:r>
              <a:rPr lang="zh-CN" altLang="en-US" sz="2000" b="1">
                <a:sym typeface="+mn-ea"/>
              </a:rPr>
              <a:t>、在注释语句后增加回车，与下一行赋值语句隔开（如图右一）。</a:t>
            </a:r>
            <a:endParaRPr lang="zh-CN" altLang="en-US" sz="2000" b="1">
              <a:sym typeface="+mn-ea"/>
            </a:endParaRPr>
          </a:p>
          <a:p>
            <a:endParaRPr lang="zh-CN" altLang="en-US" sz="2000" b="1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3757" t="5646" r="30673"/>
          <a:stretch>
            <a:fillRect/>
          </a:stretch>
        </p:blipFill>
        <p:spPr>
          <a:xfrm>
            <a:off x="4120515" y="3759200"/>
            <a:ext cx="3234690" cy="200088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8248" t="24437" r="24095" b="16824"/>
          <a:stretch>
            <a:fillRect/>
          </a:stretch>
        </p:blipFill>
        <p:spPr>
          <a:xfrm>
            <a:off x="579755" y="3759200"/>
            <a:ext cx="3407410" cy="20796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rcRect l="4805" t="6585" r="2148" b="11918"/>
          <a:stretch>
            <a:fillRect/>
          </a:stretch>
        </p:blipFill>
        <p:spPr>
          <a:xfrm>
            <a:off x="7488555" y="3759200"/>
            <a:ext cx="4058920" cy="207899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1575" y="703015"/>
            <a:ext cx="10969200" cy="705600"/>
          </a:xfrm>
        </p:spPr>
        <p:txBody>
          <a:bodyPr/>
          <a:p>
            <a:r>
              <a:rPr lang="zh-CN" altLang="en-US">
                <a:solidFill>
                  <a:schemeClr val="accent1"/>
                </a:solidFill>
              </a:rPr>
              <a:t>有关平台</a:t>
            </a:r>
            <a:r>
              <a:rPr lang="en-US" altLang="zh-CN">
                <a:solidFill>
                  <a:schemeClr val="accent1"/>
                </a:solidFill>
              </a:rPr>
              <a:t>bug</a:t>
            </a:r>
            <a:r>
              <a:rPr>
                <a:solidFill>
                  <a:schemeClr val="accent1"/>
                </a:solidFill>
              </a:rPr>
              <a:t>的问题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1505" y="1408430"/>
            <a:ext cx="1059053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sym typeface="+mn-ea"/>
              </a:rPr>
              <a:t>在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其他语句</a:t>
            </a:r>
            <a:r>
              <a:rPr lang="zh-CN" altLang="en-US" sz="2000" b="1">
                <a:sym typeface="+mn-ea"/>
              </a:rPr>
              <a:t>中，注释</a:t>
            </a:r>
            <a:r>
              <a:rPr lang="zh-CN" altLang="en-US" sz="2000" b="1">
                <a:solidFill>
                  <a:srgbClr val="FF0000"/>
                </a:solidFill>
                <a:sym typeface="+mn-ea"/>
              </a:rPr>
              <a:t>没有发现类似的问题</a:t>
            </a:r>
            <a:r>
              <a:rPr lang="zh-CN" altLang="en-US" sz="2000" b="1">
                <a:sym typeface="+mn-ea"/>
              </a:rPr>
              <a:t>，如下图所示：</a:t>
            </a:r>
            <a:endParaRPr lang="zh-CN" altLang="en-US" sz="2000" b="1"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sz="2000" b="1">
                <a:sym typeface="+mn-ea"/>
              </a:rPr>
              <a:t>比如：</a:t>
            </a:r>
            <a:r>
              <a:rPr lang="en-US" altLang="zh-CN" sz="2000" b="1">
                <a:sym typeface="+mn-ea"/>
              </a:rPr>
              <a:t>always</a:t>
            </a:r>
            <a:r>
              <a:rPr lang="zh-CN" altLang="en-US" sz="2000" b="1">
                <a:sym typeface="+mn-ea"/>
              </a:rPr>
              <a:t>语句；</a:t>
            </a:r>
            <a:r>
              <a:rPr lang="en-US" altLang="zh-CN" sz="2000" b="1">
                <a:sym typeface="+mn-ea"/>
              </a:rPr>
              <a:t>input/output</a:t>
            </a:r>
            <a:r>
              <a:rPr lang="zh-CN" altLang="en-US" sz="2000" b="1">
                <a:sym typeface="+mn-ea"/>
              </a:rPr>
              <a:t>语句；</a:t>
            </a:r>
            <a:r>
              <a:rPr lang="en-US" altLang="zh-CN" sz="2000" b="1">
                <a:sym typeface="+mn-ea"/>
              </a:rPr>
              <a:t>assign</a:t>
            </a:r>
            <a:r>
              <a:rPr lang="zh-CN" altLang="en-US" sz="2000" b="1">
                <a:sym typeface="+mn-ea"/>
              </a:rPr>
              <a:t>语句等</a:t>
            </a:r>
            <a:endParaRPr lang="zh-CN" altLang="en-US" sz="2000" b="1">
              <a:sym typeface="+mn-ea"/>
            </a:endParaRPr>
          </a:p>
          <a:p>
            <a:endParaRPr lang="zh-CN" altLang="en-US" sz="2000" b="1"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1861" t="1130" r="22070" b="4204"/>
          <a:stretch>
            <a:fillRect/>
          </a:stretch>
        </p:blipFill>
        <p:spPr>
          <a:xfrm>
            <a:off x="1116965" y="2682240"/>
            <a:ext cx="5086350" cy="324612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t="4545" r="5547"/>
          <a:stretch>
            <a:fillRect/>
          </a:stretch>
        </p:blipFill>
        <p:spPr>
          <a:xfrm>
            <a:off x="6426200" y="2720340"/>
            <a:ext cx="3589655" cy="8001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l="4099" t="14286" b="16463"/>
          <a:stretch>
            <a:fillRect/>
          </a:stretch>
        </p:blipFill>
        <p:spPr>
          <a:xfrm>
            <a:off x="6426200" y="3950970"/>
            <a:ext cx="3580765" cy="32321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1220</Words>
  <Application>WPS 演示</Application>
  <PresentationFormat>宽屏</PresentationFormat>
  <Paragraphs>124</Paragraphs>
  <Slides>20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Arial Narrow</vt:lpstr>
      <vt:lpstr>华文新魏</vt:lpstr>
      <vt:lpstr>WPS</vt:lpstr>
      <vt:lpstr>Verilog HDL编程入门</vt:lpstr>
      <vt:lpstr>实验步骤（以ISE14.7为例）</vt:lpstr>
      <vt:lpstr>3.创建项目</vt:lpstr>
      <vt:lpstr>4.项目设置</vt:lpstr>
      <vt:lpstr>5.新建源文件</vt:lpstr>
      <vt:lpstr>6.源文件相关设置</vt:lpstr>
      <vt:lpstr>7.编辑该文件的Verilog源代码</vt:lpstr>
      <vt:lpstr>9.语法检查</vt:lpstr>
      <vt:lpstr>10. 新建测试文件</vt:lpstr>
      <vt:lpstr>11. 测试文件名称 </vt:lpstr>
      <vt:lpstr>12. 选择需要测试的模块</vt:lpstr>
      <vt:lpstr>13. 进入仿真视图</vt:lpstr>
      <vt:lpstr>14. 编写激励代码</vt:lpstr>
      <vt:lpstr>16. 仿真设置（非必须）</vt:lpstr>
      <vt:lpstr>17. 修改仿真的运行时间（非必须）</vt:lpstr>
      <vt:lpstr>18.启动仿真</vt:lpstr>
      <vt:lpstr>19. 查看仿真波形</vt:lpstr>
      <vt:lpstr>有关平台bug的问题</vt:lpstr>
      <vt:lpstr>有关平台bug的问题</vt:lpstr>
      <vt:lpstr>有关平台bug的问题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王华</cp:lastModifiedBy>
  <cp:revision>162</cp:revision>
  <dcterms:created xsi:type="dcterms:W3CDTF">2019-06-19T02:08:00Z</dcterms:created>
  <dcterms:modified xsi:type="dcterms:W3CDTF">2025-04-27T07:23:22Z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6C0E4F8E1EF14778AABB8376D996C91F_11</vt:lpwstr>
  </property>
</Properties>
</file>