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684" r:id="rId2"/>
    <p:sldMasterId id="2147483758" r:id="rId3"/>
  </p:sldMasterIdLst>
  <p:notesMasterIdLst>
    <p:notesMasterId r:id="rId27"/>
  </p:notesMasterIdLst>
  <p:sldIdLst>
    <p:sldId id="677" r:id="rId4"/>
    <p:sldId id="765" r:id="rId5"/>
    <p:sldId id="741" r:id="rId6"/>
    <p:sldId id="764" r:id="rId7"/>
    <p:sldId id="742" r:id="rId8"/>
    <p:sldId id="743" r:id="rId9"/>
    <p:sldId id="744" r:id="rId10"/>
    <p:sldId id="755" r:id="rId11"/>
    <p:sldId id="759" r:id="rId12"/>
    <p:sldId id="760" r:id="rId13"/>
    <p:sldId id="761" r:id="rId14"/>
    <p:sldId id="745" r:id="rId15"/>
    <p:sldId id="747" r:id="rId16"/>
    <p:sldId id="748" r:id="rId17"/>
    <p:sldId id="749" r:id="rId18"/>
    <p:sldId id="751" r:id="rId19"/>
    <p:sldId id="752" r:id="rId20"/>
    <p:sldId id="753" r:id="rId21"/>
    <p:sldId id="754" r:id="rId22"/>
    <p:sldId id="762" r:id="rId23"/>
    <p:sldId id="757" r:id="rId24"/>
    <p:sldId id="758" r:id="rId25"/>
    <p:sldId id="766" r:id="rId26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195"/>
    <p:restoredTop sz="93206"/>
  </p:normalViewPr>
  <p:slideViewPr>
    <p:cSldViewPr>
      <p:cViewPr varScale="1">
        <p:scale>
          <a:sx n="66" d="100"/>
          <a:sy n="66" d="100"/>
        </p:scale>
        <p:origin x="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3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099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fld id="{CCE1CB92-246E-4AEE-87D8-46CF818036BD}" type="datetime1">
              <a:rPr lang="zh-CN" altLang="en-US"/>
              <a:pPr>
                <a:defRPr/>
              </a:pPr>
              <a:t>17/10/31</a:t>
            </a:fld>
            <a:endParaRPr lang="zh-CN" altLang="en-US" sz="1300"/>
          </a:p>
        </p:txBody>
      </p:sp>
      <p:sp>
        <p:nvSpPr>
          <p:cNvPr id="2355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备注占位符 4"/>
          <p:cNvSpPr>
            <a:spLocks noGrp="1" noRot="1" noChangeAspect="1" noChangeArrowheads="1"/>
          </p:cNvSpPr>
          <p:nvPr/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ctr"/>
          <a:lstStyle>
            <a:lvl1pPr defTabSz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defTabSz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defTabSz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defTabSz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defTabSz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  <a:defRPr/>
            </a:pPr>
            <a:r>
              <a:rPr lang="zh-CN" altLang="en-US" sz="1200" smtClean="0"/>
              <a:t>单击此处编辑母版文本样式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 smtClean="0"/>
              <a:t>第二级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 smtClean="0"/>
              <a:t>第三级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 smtClean="0"/>
              <a:t>第四级</a:t>
            </a:r>
          </a:p>
          <a:p>
            <a:pPr>
              <a:spcBef>
                <a:spcPct val="30000"/>
              </a:spcBef>
              <a:defRPr/>
            </a:pPr>
            <a:r>
              <a:rPr lang="zh-CN" altLang="en-US" sz="1200" smtClean="0"/>
              <a:t>第五级</a:t>
            </a:r>
          </a:p>
        </p:txBody>
      </p:sp>
      <p:sp>
        <p:nvSpPr>
          <p:cNvPr id="4102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3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103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mtClean="0"/>
            </a:lvl1pPr>
          </a:lstStyle>
          <a:p>
            <a:pPr>
              <a:defRPr/>
            </a:pPr>
            <a:fld id="{AC55BF76-95A1-4675-A041-A90056FAE2EC}" type="slidenum">
              <a:rPr lang="zh-CN" altLang="en-US"/>
              <a:pPr>
                <a:defRPr/>
              </a:pPr>
              <a:t>‹#›</a:t>
            </a:fld>
            <a:endParaRPr lang="zh-CN" altLang="en-US" sz="1300"/>
          </a:p>
        </p:txBody>
      </p:sp>
    </p:spTree>
    <p:extLst>
      <p:ext uri="{BB962C8B-B14F-4D97-AF65-F5344CB8AC3E}">
        <p14:creationId xmlns:p14="http://schemas.microsoft.com/office/powerpoint/2010/main" val="54370504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宋体" charset="0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宋体" charset="0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宋体" charset="0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宋体" charset="0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宋体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5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660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6648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47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22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34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729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323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Georgia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685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18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62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935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4448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11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62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064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7360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420918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Georgia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74607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240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530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23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981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007049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89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943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62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538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84279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72103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1560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25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" name="圆角矩形 14"/>
          <p:cNvSpPr>
            <a:spLocks noChangeArrowheads="1"/>
          </p:cNvSpPr>
          <p:nvPr/>
        </p:nvSpPr>
        <p:spPr bwMode="auto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defRPr/>
            </a:pPr>
            <a:endParaRPr lang="zh-CN" altLang="zh-CN" smtClean="0">
              <a:solidFill>
                <a:srgbClr val="FFFFFF"/>
              </a:solidFill>
              <a:latin typeface="Georgia" charset="0"/>
              <a:sym typeface="Georgia" charset="0"/>
            </a:endParaRPr>
          </a:p>
        </p:txBody>
      </p:sp>
      <p:sp useBgFill="1">
        <p:nvSpPr>
          <p:cNvPr id="1027" name="圆角矩形 16"/>
          <p:cNvSpPr>
            <a:spLocks noChangeArrowheads="1"/>
          </p:cNvSpPr>
          <p:nvPr/>
        </p:nvSpPr>
        <p:spPr bwMode="auto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algn="ctr">
              <a:defRPr/>
            </a:pPr>
            <a:endParaRPr lang="zh-CN" altLang="zh-CN" smtClean="0">
              <a:solidFill>
                <a:srgbClr val="FFFFFF"/>
              </a:solidFill>
              <a:latin typeface="Georgia" charset="0"/>
              <a:sym typeface="Georgia" charset="0"/>
            </a:endParaRPr>
          </a:p>
        </p:txBody>
      </p:sp>
      <p:sp>
        <p:nvSpPr>
          <p:cNvPr id="1028" name="矩形 5"/>
          <p:cNvSpPr>
            <a:spLocks noChangeArrowheads="1"/>
          </p:cNvSpPr>
          <p:nvPr/>
        </p:nvSpPr>
        <p:spPr bwMode="auto">
          <a:xfrm>
            <a:off x="144463" y="0"/>
            <a:ext cx="8999537" cy="420688"/>
          </a:xfrm>
          <a:prstGeom prst="rect">
            <a:avLst/>
          </a:prstGeom>
          <a:blipFill dpi="0" rotWithShape="1">
            <a:blip r:embed="rId13">
              <a:alphaModFix amt="28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ct val="50000"/>
              </a:spcAft>
              <a:defRPr/>
            </a:pPr>
            <a:endParaRPr lang="zh-CN" altLang="zh-CN" b="1" i="1" smtClean="0">
              <a:sym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1" r:id="rId1"/>
    <p:sldLayoutId id="2147484432" r:id="rId2"/>
    <p:sldLayoutId id="2147484433" r:id="rId3"/>
    <p:sldLayoutId id="2147484434" r:id="rId4"/>
    <p:sldLayoutId id="2147484435" r:id="rId5"/>
    <p:sldLayoutId id="2147484436" r:id="rId6"/>
    <p:sldLayoutId id="2147484437" r:id="rId7"/>
    <p:sldLayoutId id="2147484438" r:id="rId8"/>
    <p:sldLayoutId id="2147484439" r:id="rId9"/>
    <p:sldLayoutId id="2147484440" r:id="rId10"/>
    <p:sldLayoutId id="214748444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宋体" charset="0"/>
          <a:sym typeface="Trebuchet MS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9pPr>
    </p:titleStyle>
    <p:bodyStyle>
      <a:lvl1pPr marL="365125" indent="-255588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宋体" charset="0"/>
          <a:sym typeface="Georgia" pitchFamily="18" charset="0"/>
        </a:defRPr>
      </a:lvl1pPr>
      <a:lvl2pPr marL="657225" indent="-246063" algn="l" defTabSz="0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>
          <a:solidFill>
            <a:schemeClr val="accent2"/>
          </a:solidFill>
          <a:latin typeface="+mn-lt"/>
          <a:ea typeface="+mn-ea"/>
          <a:cs typeface="宋体" charset="0"/>
          <a:sym typeface="Georgia" pitchFamily="18" charset="0"/>
        </a:defRPr>
      </a:lvl2pPr>
      <a:lvl3pPr marL="922338" indent="-217488" algn="l" defTabSz="0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>
          <a:solidFill>
            <a:schemeClr val="accent1"/>
          </a:solidFill>
          <a:latin typeface="+mn-lt"/>
          <a:ea typeface="+mn-ea"/>
          <a:cs typeface="宋体" charset="0"/>
          <a:sym typeface="Georgia" pitchFamily="18" charset="0"/>
        </a:defRPr>
      </a:lvl3pPr>
      <a:lvl4pPr marL="1179513" indent="-198438" algn="l" defTabSz="0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>
          <a:solidFill>
            <a:schemeClr val="accent1"/>
          </a:solidFill>
          <a:latin typeface="+mn-lt"/>
          <a:ea typeface="+mn-ea"/>
          <a:cs typeface="宋体" charset="0"/>
          <a:sym typeface="Georgia" pitchFamily="18" charset="0"/>
        </a:defRPr>
      </a:lvl4pPr>
      <a:lvl5pPr marL="13890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cs typeface="宋体" charset="0"/>
          <a:sym typeface="Georgia" pitchFamily="18" charset="0"/>
        </a:defRPr>
      </a:lvl5pPr>
      <a:lvl6pPr marL="18462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6pPr>
      <a:lvl7pPr marL="23034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7pPr>
      <a:lvl8pPr marL="27606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8pPr>
      <a:lvl9pPr marL="32178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409" r:id="rId1"/>
    <p:sldLayoutId id="2147484410" r:id="rId2"/>
    <p:sldLayoutId id="2147484411" r:id="rId3"/>
    <p:sldLayoutId id="2147484412" r:id="rId4"/>
    <p:sldLayoutId id="2147484413" r:id="rId5"/>
    <p:sldLayoutId id="2147484414" r:id="rId6"/>
    <p:sldLayoutId id="2147484415" r:id="rId7"/>
    <p:sldLayoutId id="2147484416" r:id="rId8"/>
    <p:sldLayoutId id="2147484417" r:id="rId9"/>
    <p:sldLayoutId id="2147484418" r:id="rId10"/>
    <p:sldLayoutId id="21474844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宋体" charset="0"/>
          <a:sym typeface="Trebuchet MS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cs typeface="宋体" charset="0"/>
          <a:sym typeface="Trebuchet MS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宋体" pitchFamily="2" charset="-122"/>
          <a:sym typeface="Trebuchet MS" pitchFamily="34" charset="0"/>
        </a:defRPr>
      </a:lvl9pPr>
    </p:titleStyle>
    <p:bodyStyle>
      <a:lvl1pPr marL="365125" indent="-255588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宋体" charset="0"/>
          <a:sym typeface="Georgia" pitchFamily="18" charset="0"/>
        </a:defRPr>
      </a:lvl1pPr>
      <a:lvl2pPr marL="657225" indent="-246063" algn="l" defTabSz="0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>
          <a:solidFill>
            <a:schemeClr val="accent2"/>
          </a:solidFill>
          <a:latin typeface="+mn-lt"/>
          <a:ea typeface="+mn-ea"/>
          <a:cs typeface="宋体" charset="0"/>
          <a:sym typeface="Georgia" pitchFamily="18" charset="0"/>
        </a:defRPr>
      </a:lvl2pPr>
      <a:lvl3pPr marL="922338" indent="-217488" algn="l" defTabSz="0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>
          <a:solidFill>
            <a:schemeClr val="accent1"/>
          </a:solidFill>
          <a:latin typeface="+mn-lt"/>
          <a:ea typeface="+mn-ea"/>
          <a:cs typeface="宋体" charset="0"/>
          <a:sym typeface="Georgia" pitchFamily="18" charset="0"/>
        </a:defRPr>
      </a:lvl3pPr>
      <a:lvl4pPr marL="1179513" indent="-198438" algn="l" defTabSz="0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>
          <a:solidFill>
            <a:schemeClr val="accent1"/>
          </a:solidFill>
          <a:latin typeface="+mn-lt"/>
          <a:ea typeface="+mn-ea"/>
          <a:cs typeface="宋体" charset="0"/>
          <a:sym typeface="Georgia" pitchFamily="18" charset="0"/>
        </a:defRPr>
      </a:lvl4pPr>
      <a:lvl5pPr marL="13890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cs typeface="宋体" charset="0"/>
          <a:sym typeface="Georgia" pitchFamily="18" charset="0"/>
        </a:defRPr>
      </a:lvl5pPr>
      <a:lvl6pPr marL="18462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6pPr>
      <a:lvl7pPr marL="23034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7pPr>
      <a:lvl8pPr marL="27606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8pPr>
      <a:lvl9pPr marL="3217863" indent="-182563" algn="l" defTabSz="0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>
          <a:solidFill>
            <a:srgbClr val="A04DA3"/>
          </a:solidFill>
          <a:latin typeface="+mn-lt"/>
          <a:ea typeface="+mn-ea"/>
          <a:sym typeface="Georgia" pitchFamily="18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  <p:sldLayoutId id="2147484422" r:id="rId3"/>
    <p:sldLayoutId id="2147484423" r:id="rId4"/>
    <p:sldLayoutId id="2147484424" r:id="rId5"/>
    <p:sldLayoutId id="2147484425" r:id="rId6"/>
    <p:sldLayoutId id="2147484426" r:id="rId7"/>
    <p:sldLayoutId id="2147484427" r:id="rId8"/>
    <p:sldLayoutId id="2147484428" r:id="rId9"/>
    <p:sldLayoutId id="2147484429" r:id="rId10"/>
    <p:sldLayoutId id="2147484430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宋体" charset="0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cs typeface="宋体" charset="0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cs typeface="宋体" charset="0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cs typeface="宋体" charset="0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cs typeface="宋体" charset="0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宋体" charset="0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宋体" charset="0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宋体" charset="0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宋体" charset="0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宋体" charset="0"/>
          <a:sym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hyperlink" Target="mailto:jiansu.pu@uestc.edu.cn" TargetMode="External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1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1" name="矩形 13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52" name="Titel 1"/>
          <p:cNvSpPr>
            <a:spLocks noChangeArrowheads="1"/>
          </p:cNvSpPr>
          <p:nvPr/>
        </p:nvSpPr>
        <p:spPr bwMode="auto">
          <a:xfrm>
            <a:off x="642938" y="1214438"/>
            <a:ext cx="7786687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r>
              <a:rPr lang="zh-CN" altLang="en-US" sz="6000" b="1" dirty="0">
                <a:solidFill>
                  <a:schemeClr val="bg1"/>
                </a:solidFill>
                <a:latin typeface="宋体" pitchFamily="2" charset="-122"/>
                <a:sym typeface="Meiryo UI" pitchFamily="34" charset="-128"/>
              </a:rPr>
              <a:t>数据挖掘实验指导</a:t>
            </a:r>
            <a:endParaRPr lang="zh-CN" altLang="en-US" sz="4400" b="1" dirty="0">
              <a:solidFill>
                <a:schemeClr val="bg1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053" name="TextBox 6"/>
          <p:cNvSpPr>
            <a:spLocks noChangeArrowheads="1"/>
          </p:cNvSpPr>
          <p:nvPr/>
        </p:nvSpPr>
        <p:spPr bwMode="auto">
          <a:xfrm>
            <a:off x="3203848" y="3933056"/>
            <a:ext cx="4429125" cy="1909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342900" lvl="0" indent="-342900" algn="r"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zh-CN" altLang="en-US" sz="2800" kern="0" dirty="0">
                <a:solidFill>
                  <a:srgbClr val="000000"/>
                </a:solidFill>
                <a:latin typeface="SimSun" charset="-122"/>
                <a:ea typeface="SimSun" charset="-122"/>
              </a:rPr>
              <a:t>蒲剑苏</a:t>
            </a:r>
            <a:endParaRPr lang="en-US" altLang="zh-CN" sz="2800" kern="0" dirty="0">
              <a:solidFill>
                <a:srgbClr val="000000"/>
              </a:solidFill>
              <a:latin typeface="SimSun" charset="-122"/>
              <a:ea typeface="SimSun" charset="-122"/>
            </a:endParaRPr>
          </a:p>
          <a:p>
            <a:pPr marL="342900" lvl="0" indent="-342900" algn="r"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zh-CN" altLang="en-US" sz="2400" kern="0" dirty="0">
                <a:solidFill>
                  <a:srgbClr val="000000"/>
                </a:solidFill>
                <a:latin typeface="SimSun" charset="-122"/>
                <a:ea typeface="SimSun" charset="-122"/>
              </a:rPr>
              <a:t>计算机科学与工程学院</a:t>
            </a:r>
            <a:endParaRPr lang="en-US" altLang="zh-CN" sz="2400" kern="0" dirty="0">
              <a:solidFill>
                <a:srgbClr val="000000"/>
              </a:solidFill>
              <a:latin typeface="SimSun" charset="-122"/>
              <a:ea typeface="SimSun" charset="-122"/>
            </a:endParaRPr>
          </a:p>
          <a:p>
            <a:pPr marL="342900" lvl="0" indent="-342900" algn="r"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zh-CN" altLang="en-US" sz="2400" kern="0" dirty="0">
                <a:solidFill>
                  <a:srgbClr val="000000"/>
                </a:solidFill>
                <a:latin typeface="SimSun" charset="-122"/>
                <a:ea typeface="SimSun" charset="-122"/>
              </a:rPr>
              <a:t>电子科技大学</a:t>
            </a:r>
          </a:p>
          <a:p>
            <a:pPr marL="342900" lvl="0" indent="-342900" algn="r" eaLnBrk="1" hangingPunct="1">
              <a:lnSpc>
                <a:spcPct val="1100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000" kern="0" dirty="0">
                <a:solidFill>
                  <a:srgbClr val="000000"/>
                </a:solidFill>
                <a:latin typeface="Calibri" charset="0"/>
                <a:ea typeface="宋体" charset="-122"/>
              </a:rPr>
              <a:t>Email: </a:t>
            </a:r>
            <a:r>
              <a:rPr lang="en-US" altLang="zh-CN" sz="2000" kern="0" dirty="0">
                <a:solidFill>
                  <a:srgbClr val="000000"/>
                </a:solidFill>
                <a:latin typeface="Calibri" charset="0"/>
                <a:ea typeface="宋体" charset="-122"/>
                <a:hlinkClick r:id="rId2"/>
              </a:rPr>
              <a:t>jiansu.pu@uestc.edu.cn</a:t>
            </a:r>
            <a:endParaRPr lang="en-US" altLang="zh-CN" sz="2000" kern="0" dirty="0">
              <a:solidFill>
                <a:srgbClr val="000000"/>
              </a:solidFill>
              <a:latin typeface="Calibri" charset="0"/>
              <a:ea typeface="宋体" charset="-122"/>
            </a:endParaRPr>
          </a:p>
        </p:txBody>
      </p:sp>
      <p:pic>
        <p:nvPicPr>
          <p:cNvPr id="205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414908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996970"/>
            <a:ext cx="8229600" cy="1143000"/>
          </a:xfrm>
        </p:spPr>
        <p:txBody>
          <a:bodyPr/>
          <a:lstStyle/>
          <a:p>
            <a:pPr lvl="0"/>
            <a:r>
              <a:rPr lang="zh-CN" altLang="en-US" sz="6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itchFamily="34" charset="-122"/>
              </a:rPr>
              <a:t>实验报告要求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itchFamily="34" charset="-122"/>
              </a:rPr>
              <a:t/>
            </a:r>
            <a:b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itchFamily="34" charset="-122"/>
              </a:rPr>
            </a:b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492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itchFamily="34" charset="-122"/>
              </a:rPr>
              <a:t>  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itchFamily="34" charset="-122"/>
            </a:endParaRPr>
          </a:p>
        </p:txBody>
      </p:sp>
      <p:sp>
        <p:nvSpPr>
          <p:cNvPr id="6146" name="Rectangle 3"/>
          <p:cNvSpPr txBox="1">
            <a:spLocks noChangeArrowheads="1"/>
          </p:cNvSpPr>
          <p:nvPr/>
        </p:nvSpPr>
        <p:spPr bwMode="auto">
          <a:xfrm>
            <a:off x="323850" y="126885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按照模板格式撰写报告（附件：报告模版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.doc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）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四个实验报告写在一个报告文件中，最终到计算机实验中心提交到实验系统中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给出能够体现实验操作结果的截图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给出完整实验代码，并要求给出代码的详细注释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代码实现不限语言，推荐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C++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，不鼓励使用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，可选择其他语言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  <a:defRPr/>
            </a:pPr>
            <a:endParaRPr lang="zh-CN" altLang="en-US" sz="22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6146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实验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指导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PPT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中，没有特别说明的实验为必做内容，标明了选作的实验可以选择性完成，完成选作内容可以获得额外加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分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独立完成，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基本算法必须自己动手实现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，如发现代码中引用相关算法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package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，酌情评分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实验报告提交截止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时间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  <a:defRPr/>
            </a:pPr>
            <a:endParaRPr lang="zh-CN" altLang="en-US" sz="22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00034" y="2285992"/>
            <a:ext cx="8229600" cy="850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defRPr/>
            </a:pPr>
            <a:r>
              <a:rPr lang="zh-CN" altLang="en-US" b="1" dirty="0" smtClean="0">
                <a:latin typeface="+mn-ea"/>
                <a:ea typeface="+mn-ea"/>
                <a:sym typeface="黑体" pitchFamily="49" charset="-122"/>
              </a:rPr>
              <a:t>实验一</a:t>
            </a:r>
            <a:r>
              <a:rPr lang="en-US" altLang="zh-CN" b="1" dirty="0" smtClean="0">
                <a:latin typeface="+mn-ea"/>
                <a:ea typeface="+mn-ea"/>
                <a:sym typeface="黑体" pitchFamily="49" charset="-122"/>
              </a:rPr>
              <a:t/>
            </a:r>
            <a:br>
              <a:rPr lang="en-US" altLang="zh-CN" b="1" dirty="0" smtClean="0">
                <a:latin typeface="+mn-ea"/>
                <a:ea typeface="+mn-ea"/>
                <a:sym typeface="黑体" pitchFamily="49" charset="-122"/>
              </a:rPr>
            </a:br>
            <a:r>
              <a:rPr lang="zh-CN" altLang="en-US" b="1" dirty="0" smtClean="0">
                <a:latin typeface="+mn-ea"/>
                <a:ea typeface="+mn-ea"/>
                <a:sym typeface="黑体" pitchFamily="49" charset="-122"/>
              </a:rPr>
              <a:t> </a:t>
            </a:r>
            <a:br>
              <a:rPr lang="zh-CN" altLang="en-US" b="1" dirty="0" smtClean="0">
                <a:latin typeface="+mn-ea"/>
                <a:ea typeface="+mn-ea"/>
                <a:sym typeface="黑体" pitchFamily="49" charset="-122"/>
              </a:rPr>
            </a:br>
            <a:r>
              <a:rPr lang="zh-CN" altLang="en-US" b="1" dirty="0" smtClean="0">
                <a:latin typeface="+mn-ea"/>
                <a:ea typeface="+mn-ea"/>
              </a:rPr>
              <a:t>认识数据与数据预处理</a:t>
            </a:r>
            <a:r>
              <a:rPr lang="en-US" altLang="zh-CN" b="1" dirty="0" smtClean="0">
                <a:latin typeface="+mn-ea"/>
                <a:ea typeface="+mn-ea"/>
              </a:rPr>
              <a:t> </a:t>
            </a:r>
            <a:endParaRPr lang="zh-CN" altLang="en-US" b="1" dirty="0" smtClean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一、实验目的</a:t>
            </a:r>
          </a:p>
        </p:txBody>
      </p:sp>
      <p:sp>
        <p:nvSpPr>
          <p:cNvPr id="5124" name="Rectangle 3"/>
          <p:cNvSpPr txBox="1">
            <a:spLocks noChangeArrowheads="1"/>
          </p:cNvSpPr>
          <p:nvPr/>
        </p:nvSpPr>
        <p:spPr bwMode="auto">
          <a:xfrm>
            <a:off x="261938" y="155687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、了解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工具包及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编程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平台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、认识和了解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、对数据能进行简单的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预处理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二、实验内容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00034" y="1545092"/>
            <a:ext cx="8286808" cy="531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、安装并配置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和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（已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配置）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、使用图形界面的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工具包，完成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数据归一化、缺失值处理、特征筛选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的数据预处理操作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1200"/>
              </a:spcAft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下调用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Weka.jar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包，完成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数据归一化、缺失值处理、特征筛选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的数据预处理操作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800" dirty="0">
              <a:latin typeface="+mn-ea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三、实验原理</a:t>
            </a:r>
          </a:p>
        </p:txBody>
      </p:sp>
      <p:sp>
        <p:nvSpPr>
          <p:cNvPr id="7172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数据属性最小最大归一化（可尝试其它方法：如 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ZSCORE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是属性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的某个观测值，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minA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maxA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分别是属性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的最小值和最大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值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上述公式将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属性的取值映射到区间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new_minA,new_maxA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]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如果令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new_maxA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= 1,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new_minA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= 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，则将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属性映射到区间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[0,1]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，实现了数据归一化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graphicFrame>
        <p:nvGraphicFramePr>
          <p:cNvPr id="717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660336"/>
              </p:ext>
            </p:extLst>
          </p:nvPr>
        </p:nvGraphicFramePr>
        <p:xfrm>
          <a:off x="775494" y="2254587"/>
          <a:ext cx="7469187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公式" r:id="rId3" imgW="3771720" imgH="406080" progId="Equation.3">
                  <p:embed/>
                </p:oleObj>
              </mc:Choice>
              <mc:Fallback>
                <p:oleObj name="公式" r:id="rId3" imgW="3771720" imgH="40608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494" y="2254587"/>
                        <a:ext cx="7469187" cy="8143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14282" y="1244622"/>
            <a:ext cx="8677451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、缺失值处理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对于数据中属性的缺失值，使用该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属性的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平均值来填补缺失值</a:t>
            </a: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</p:txBody>
      </p:sp>
      <p:sp>
        <p:nvSpPr>
          <p:cNvPr id="8194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三、实验原理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246293"/>
              </p:ext>
            </p:extLst>
          </p:nvPr>
        </p:nvGraphicFramePr>
        <p:xfrm>
          <a:off x="352122" y="3148010"/>
          <a:ext cx="4071940" cy="317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9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79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79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79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V1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V2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V3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V4 </a:t>
                      </a:r>
                      <a:endParaRPr lang="zh-CN" altLang="en-US" sz="2000" dirty="0"/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0.2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0.8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0.1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0.0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 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0.6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？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0.6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0.2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0.1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0.3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lang="zh-CN" alt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39" marR="91439" marT="45725" marB="45725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8244" name="TextBox 7"/>
          <p:cNvSpPr txBox="1">
            <a:spLocks noChangeArrowheads="1"/>
          </p:cNvSpPr>
          <p:nvPr/>
        </p:nvSpPr>
        <p:spPr bwMode="auto">
          <a:xfrm>
            <a:off x="4553650" y="3140980"/>
            <a:ext cx="428625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B2CB9"/>
                </a:solidFill>
              </a:rPr>
              <a:t>Strategy:</a:t>
            </a:r>
          </a:p>
          <a:p>
            <a:endParaRPr lang="en-US" altLang="zh-CN" sz="2400" b="1" dirty="0">
              <a:solidFill>
                <a:srgbClr val="0B2CB9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Mean = (0.2+0.8+0.1+0.4 +0.2+0.1)/6 = 0.3</a:t>
            </a:r>
          </a:p>
          <a:p>
            <a:endParaRPr lang="en-US" altLang="zh-CN" sz="2400" b="1" dirty="0">
              <a:solidFill>
                <a:srgbClr val="0B2CB9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?</a:t>
            </a:r>
            <a:r>
              <a:rPr lang="en-US" altLang="zh-CN" sz="2400" b="1" dirty="0">
                <a:solidFill>
                  <a:srgbClr val="0B2CB9"/>
                </a:solidFill>
              </a:rPr>
              <a:t> = 0.3</a:t>
            </a:r>
            <a:endParaRPr lang="zh-CN" altLang="en-US" sz="2400" b="1" dirty="0">
              <a:solidFill>
                <a:srgbClr val="0B2CB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705" y="126885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、特征筛选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信息增益是用来进行特征筛选的常用算法，基本思想是选择那些特征对分类变量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信息增益大，删除那些对分类无用的特征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信息熵：</a:t>
            </a: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400" dirty="0">
              <a:latin typeface="+mn-ea"/>
              <a:sym typeface="微软雅黑" pitchFamily="34" charset="-122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条件信息熵：</a:t>
            </a: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400" dirty="0">
              <a:latin typeface="+mn-ea"/>
              <a:sym typeface="微软雅黑" pitchFamily="34" charset="-122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400" dirty="0">
              <a:latin typeface="+mn-ea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itchFamily="34" charset="-122"/>
              </a:rPr>
              <a:t>信息增益：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9218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三、实验原理</a:t>
            </a:r>
          </a:p>
        </p:txBody>
      </p:sp>
      <p:pic>
        <p:nvPicPr>
          <p:cNvPr id="9221" name="图片 11" descr="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333" y="3068975"/>
            <a:ext cx="4214812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图片 4" descr="5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621"/>
          <a:stretch>
            <a:fillRect/>
          </a:stretch>
        </p:blipFill>
        <p:spPr bwMode="auto">
          <a:xfrm>
            <a:off x="2483855" y="4231270"/>
            <a:ext cx="43719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3" name="TextBox 9"/>
          <p:cNvSpPr txBox="1">
            <a:spLocks noChangeArrowheads="1"/>
          </p:cNvSpPr>
          <p:nvPr/>
        </p:nvSpPr>
        <p:spPr bwMode="auto">
          <a:xfrm>
            <a:off x="2411850" y="5589150"/>
            <a:ext cx="464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 dirty="0"/>
              <a:t>IG(Y|X) = H(Y) – H(Y|X)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705" y="74612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/>
            <a:r>
              <a:rPr lang="en-US" altLang="zh-CN" sz="36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Weka</a:t>
            </a:r>
            <a:r>
              <a:rPr lang="zh-CN" altLang="en-US" sz="36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包常用类介绍</a:t>
            </a:r>
            <a:endParaRPr lang="zh-CN" altLang="en-US" sz="3600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9349"/>
              </p:ext>
            </p:extLst>
          </p:nvPr>
        </p:nvGraphicFramePr>
        <p:xfrm>
          <a:off x="0" y="742340"/>
          <a:ext cx="9144001" cy="6115660"/>
        </p:xfrm>
        <a:graphic>
          <a:graphicData uri="http://schemas.openxmlformats.org/drawingml/2006/table">
            <a:tbl>
              <a:tblPr/>
              <a:tblGrid>
                <a:gridCol w="14523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823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44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1488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108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类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所在包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描述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常用函数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041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DataSource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weka.core.converters.ConverterUtils.DataSource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下用来读取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arff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数据的类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构造函数DataSource(string 数据路径)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getDataSet() 返回一个Instances对象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0417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Instances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weka.core.Instances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数据集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numInstances() 返回数据的个数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numAttributes() 返回数据的属性数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attribute(int i) 返回数据的第i个属性名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instance(int i) 返回数据集中的第i个数据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20417"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Instance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weka.core.Instance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表示一个数据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toString() 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返回该数据的属性描述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isMissing(int i) 返回该数据第i维是否缺失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3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setValue(int I, double value) 为数据第i维赋值 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value(int i) 返回数据第i维的值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3375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weka.filters.Filter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所有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的父类，提供了所有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公用基础函数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useFilter(Instances arg0, Filter arg1) 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类函数,用来产生预处理后的数据</a:t>
                      </a:r>
                      <a:endParaRPr kumimoji="0" lang="en-US" altLang="zh-CN" sz="14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33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setInputFormat(Instances instances) 设置Filter需要处理的数据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3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Normalize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weka.filters.unsupervised.attribute.Normalize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子类，实现归一化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 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433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ReplaceMissingValues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weka.filters.unsupervised.attribute.ReplaceMissingValues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子类，使用均值填补缺失值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 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4337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InfoGainAttributeEval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weka.attributeSelection.InfoGainAttributeEval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ASEvaluation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类的子类，评估各属性的信息增益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 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433755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Ranker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weka.attributeSelection.Ranker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ASSearch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类的子类，根据对属性的评估筛选属性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setNumToSelect(int i) 设置选择的特征数目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2041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setThreshold(double value) 设置评估阈值 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20417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AttributeSelection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weka.filters.supervised.attribute.AttributeSelection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Filter子类，实现特征筛选，需要设置Evaluator和Search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setSearch(ASSearch search) 设置search</a:t>
                      </a: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433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宋体" pitchFamily="2" charset="-122"/>
                          <a:sym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setEvaluator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ASEvaluation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 ae) 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设置Evaluator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7080" marR="7080" marT="7079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、配置实验环境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2.1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图形界面工具完成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归一化</a:t>
            </a:r>
          </a:p>
          <a:p>
            <a:pPr marL="637200" indent="-45720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打开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GUI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工具</a:t>
            </a:r>
          </a:p>
          <a:p>
            <a:pPr marL="637200" indent="-45720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选择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Explorer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637200" indent="-45720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点击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Open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file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637200" indent="-457200" eaLnBrk="1" hangingPunct="1">
              <a:lnSpc>
                <a:spcPct val="150000"/>
              </a:lnSpc>
              <a:spcBef>
                <a:spcPts val="1200"/>
              </a:spcBef>
              <a:buFont typeface="+mj-lt"/>
              <a:buAutoNum type="arabicParenR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选择数据文件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iris.arff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180000" eaLnBrk="1" hangingPunct="1">
              <a:lnSpc>
                <a:spcPct val="150000"/>
              </a:lnSpc>
              <a:spcBef>
                <a:spcPts val="1200"/>
              </a:spcBef>
              <a:buFont typeface="Arial" pitchFamily="34" charset="0"/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（在目录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../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/data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下）</a:t>
            </a: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pic>
        <p:nvPicPr>
          <p:cNvPr id="11270" name="对象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2" r="-37" b="-461"/>
          <a:stretch>
            <a:fillRect/>
          </a:stretch>
        </p:blipFill>
        <p:spPr bwMode="auto">
          <a:xfrm>
            <a:off x="4552950" y="3212985"/>
            <a:ext cx="426720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12292" name="Rectangle 3"/>
          <p:cNvSpPr txBox="1">
            <a:spLocks noChangeArrowheads="1"/>
          </p:cNvSpPr>
          <p:nvPr/>
        </p:nvSpPr>
        <p:spPr bwMode="auto">
          <a:xfrm>
            <a:off x="323995" y="126885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5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Filter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栏目下，选择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Choose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grpSp>
        <p:nvGrpSpPr>
          <p:cNvPr id="12294" name="Group 11"/>
          <p:cNvGrpSpPr>
            <a:grpSpLocks/>
          </p:cNvGrpSpPr>
          <p:nvPr/>
        </p:nvGrpSpPr>
        <p:grpSpPr bwMode="auto">
          <a:xfrm>
            <a:off x="261938" y="2435344"/>
            <a:ext cx="8702367" cy="2433756"/>
            <a:chOff x="-13091" y="3356995"/>
            <a:chExt cx="9144000" cy="2491681"/>
          </a:xfrm>
        </p:grpSpPr>
        <p:pic>
          <p:nvPicPr>
            <p:cNvPr id="12295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091" y="3356995"/>
              <a:ext cx="9144000" cy="2491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3"/>
            <p:cNvSpPr/>
            <p:nvPr/>
          </p:nvSpPr>
          <p:spPr bwMode="auto">
            <a:xfrm>
              <a:off x="178997" y="4725039"/>
              <a:ext cx="1008062" cy="431680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en-US">
                <a:solidFill>
                  <a:schemeClr val="tx1"/>
                </a:solidFill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13316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8201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6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择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-&gt;filters-&gt;unsupervised-&gt;attribute-&gt;Normalize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grpSp>
        <p:nvGrpSpPr>
          <p:cNvPr id="13318" name="Group 2"/>
          <p:cNvGrpSpPr>
            <a:grpSpLocks/>
          </p:cNvGrpSpPr>
          <p:nvPr/>
        </p:nvGrpSpPr>
        <p:grpSpPr bwMode="auto">
          <a:xfrm>
            <a:off x="2915886" y="2210283"/>
            <a:ext cx="3312230" cy="4674957"/>
            <a:chOff x="5651500" y="1628775"/>
            <a:chExt cx="3492500" cy="4929188"/>
          </a:xfrm>
        </p:grpSpPr>
        <p:pic>
          <p:nvPicPr>
            <p:cNvPr id="13319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1500" y="1628775"/>
              <a:ext cx="3487243" cy="4612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0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6757" y="6223538"/>
              <a:ext cx="3487243" cy="334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820150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7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点击“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Normalize –S 1.0 –T 0.0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”所在区域可以调整参数，由于本例选择将数据归一化到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[0,1]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，使用默认的参数即可实现，点击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Apply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将数据归一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化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7"/>
            </a:pP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7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查看数据各个属性的值，已经归一化到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[0,1]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（注：其中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class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不是数据属性，而是数据类别标签，不会被归一化），将实验结果截图放入实验报告中</a:t>
            </a: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7"/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4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14338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pic>
        <p:nvPicPr>
          <p:cNvPr id="1434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0" y="2924965"/>
            <a:ext cx="8640456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4" b="26373"/>
          <a:stretch/>
        </p:blipFill>
        <p:spPr bwMode="auto">
          <a:xfrm>
            <a:off x="173840" y="5373135"/>
            <a:ext cx="8789007" cy="151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 txBox="1">
            <a:spLocks noChangeArrowheads="1"/>
          </p:cNvSpPr>
          <p:nvPr/>
        </p:nvSpPr>
        <p:spPr bwMode="auto">
          <a:xfrm>
            <a:off x="323705" y="1268850"/>
            <a:ext cx="8827909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2.2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图形界面工具完成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数据缺失值处理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Font typeface="Arial" pitchFamily="34" charset="0"/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过程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略，提示：数据使用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labor.arff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filter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ReplaceMissingValues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参数默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认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2.3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图形界面工具完成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特征筛选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  <a:buFont typeface="Arial" pitchFamily="34" charset="0"/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过程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略，提示：数据使用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iris.arff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filter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AttributeSelection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，其中参数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evaluator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选择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InfoGainAttributeEval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search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Ranker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，需要调节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Ranker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的参数，选择最大特征数目（需小于原始的特征数目）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16386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3.1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下调用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Weka.jar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包完成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数据归一化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先，新建一个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工程，如下图 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pic>
        <p:nvPicPr>
          <p:cNvPr id="17415" name="Picture 5" descr="23378_3119220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83" b="4167"/>
          <a:stretch>
            <a:fillRect/>
          </a:stretch>
        </p:blipFill>
        <p:spPr bwMode="auto">
          <a:xfrm>
            <a:off x="2294790" y="2480940"/>
            <a:ext cx="4898986" cy="440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3995" y="126885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2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下来，导入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weka.jar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如下图</a:t>
            </a:r>
            <a:r>
              <a:rPr lang="zh-CN" altLang="en-US" sz="2000" dirty="0">
                <a:latin typeface="+mn-ea"/>
                <a:sym typeface="Calibri" pitchFamily="34" charset="0"/>
              </a:rPr>
              <a:t>  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800" dirty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 2" pitchFamily="18" charset="2"/>
              <a:buNone/>
            </a:pPr>
            <a:endParaRPr lang="zh-CN" altLang="en-US" sz="2200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18434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pic>
        <p:nvPicPr>
          <p:cNvPr id="18440" name="Picture 1" descr="23378_3119220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93" y="1989225"/>
            <a:ext cx="5616390" cy="476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19460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3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建一个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package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New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-〉package -&gt;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输入 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cn.uestc.preprocessing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4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文件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包下面创建一个新的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class: TestNormalize.java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 New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-&gt; Class -&gt;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输入 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TestNormalize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5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TestNormalize.java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文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件，导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入包：</a:t>
            </a:r>
            <a:r>
              <a:rPr lang="zh-CN" altLang="en-US" sz="2400" dirty="0">
                <a:latin typeface="+mn-ea"/>
                <a:ea typeface="+mn-ea"/>
                <a:sym typeface="Calibri" pitchFamily="34" charset="0"/>
              </a:rPr>
              <a:t>	</a:t>
            </a:r>
            <a:endParaRPr lang="zh-CN" altLang="en-US" sz="2400" dirty="0" smtClean="0">
              <a:latin typeface="+mn-ea"/>
              <a:ea typeface="+mn-ea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b="1" dirty="0">
                <a:latin typeface="+mn-ea"/>
                <a:ea typeface="+mn-ea"/>
                <a:sym typeface="Calibri" pitchFamily="34" charset="0"/>
              </a:rPr>
              <a:t>	</a:t>
            </a:r>
            <a:r>
              <a:rPr lang="zh-CN" altLang="en-US" sz="2400" b="1" dirty="0" smtClean="0">
                <a:latin typeface="+mn-ea"/>
                <a:ea typeface="+mn-ea"/>
                <a:sym typeface="Calibri" pitchFamily="34" charset="0"/>
              </a:rPr>
              <a:t>	</a:t>
            </a:r>
            <a:endParaRPr lang="zh-CN" altLang="en-US" b="1" dirty="0">
              <a:latin typeface="+mn-ea"/>
              <a:ea typeface="+mn-ea"/>
              <a:sym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288" y="4493300"/>
            <a:ext cx="64171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weka.core.Attribute</a:t>
            </a:r>
            <a:r>
              <a:rPr lang="en-US" alt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weka.core.Instance</a:t>
            </a:r>
            <a:r>
              <a:rPr lang="en-US" alt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weka.core.Instances</a:t>
            </a:r>
            <a:r>
              <a:rPr lang="en-US" alt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weka.core.converters.ConverterUtils.DataSource</a:t>
            </a:r>
            <a:r>
              <a:rPr lang="en-US" alt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weka.filters.Filter</a:t>
            </a:r>
            <a:r>
              <a:rPr lang="en-US" altLang="en-US" dirty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 smtClean="0">
                <a:latin typeface="+mn-ea"/>
              </a:rPr>
              <a:t>import </a:t>
            </a:r>
            <a:r>
              <a:rPr lang="en-US" altLang="en-US" dirty="0" err="1">
                <a:latin typeface="+mn-ea"/>
              </a:rPr>
              <a:t>weka.filters.unsupervised.attribute.Normalize</a:t>
            </a:r>
            <a:r>
              <a:rPr lang="en-US" altLang="en-US" dirty="0" smtClean="0">
                <a:latin typeface="+mn-ea"/>
              </a:rPr>
              <a:t>;</a:t>
            </a:r>
            <a:endParaRPr lang="zh-CN" altLang="en-US" dirty="0">
              <a:latin typeface="+mn-ea"/>
              <a:sym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0484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8496445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6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main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函数中完成数据归一化，相关代码如下：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>
                <a:latin typeface="+mn-ea"/>
                <a:ea typeface="+mn-ea"/>
              </a:rPr>
              <a:t>//</a:t>
            </a:r>
            <a:r>
              <a:rPr lang="zh-CN" altLang="en-US" dirty="0" smtClean="0">
                <a:latin typeface="+mn-ea"/>
                <a:ea typeface="+mn-ea"/>
              </a:rPr>
              <a:t>读取数据</a:t>
            </a:r>
            <a:endParaRPr lang="en-US" altLang="en-US" dirty="0" smtClean="0">
              <a:latin typeface="+mn-ea"/>
              <a:ea typeface="+mn-ea"/>
            </a:endParaRPr>
          </a:p>
          <a:p>
            <a:pPr lvl="1"/>
            <a:r>
              <a:rPr lang="en-US" altLang="en-US" dirty="0" err="1" smtClean="0">
                <a:latin typeface="+mn-ea"/>
                <a:ea typeface="+mn-ea"/>
              </a:rPr>
              <a:t>DataSource</a:t>
            </a:r>
            <a:r>
              <a:rPr lang="en-US" altLang="en-US" dirty="0" smtClean="0">
                <a:latin typeface="+mn-ea"/>
                <a:ea typeface="+mn-ea"/>
              </a:rPr>
              <a:t> source = new </a:t>
            </a:r>
            <a:r>
              <a:rPr lang="en-US" altLang="en-US" dirty="0" err="1" smtClean="0">
                <a:latin typeface="+mn-ea"/>
                <a:ea typeface="+mn-ea"/>
              </a:rPr>
              <a:t>DataSource</a:t>
            </a:r>
            <a:r>
              <a:rPr lang="en-US" altLang="en-US" dirty="0" smtClean="0">
                <a:latin typeface="+mn-ea"/>
                <a:ea typeface="+mn-ea"/>
              </a:rPr>
              <a:t>(“D:/weka-3-7-7/weka-3-7-7/data/</a:t>
            </a:r>
            <a:r>
              <a:rPr lang="en-US" altLang="en-US" dirty="0" err="1" smtClean="0">
                <a:latin typeface="+mn-ea"/>
                <a:ea typeface="+mn-ea"/>
              </a:rPr>
              <a:t>iris.arff</a:t>
            </a:r>
            <a:r>
              <a:rPr lang="en-US" altLang="en-US" dirty="0" smtClean="0">
                <a:latin typeface="+mn-ea"/>
                <a:ea typeface="+mn-ea"/>
              </a:rPr>
              <a:t>”); //</a:t>
            </a:r>
            <a:r>
              <a:rPr lang="zh-CN" altLang="en-US" dirty="0" smtClean="0">
                <a:latin typeface="+mn-ea"/>
                <a:ea typeface="+mn-ea"/>
              </a:rPr>
              <a:t>获取数据源</a:t>
            </a:r>
            <a:r>
              <a:rPr lang="en-US" altLang="en-US" dirty="0" smtClean="0">
                <a:latin typeface="+mn-ea"/>
                <a:ea typeface="+mn-ea"/>
              </a:rPr>
              <a:t> </a:t>
            </a: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Instances instances = </a:t>
            </a:r>
            <a:r>
              <a:rPr lang="en-US" altLang="en-US" dirty="0" err="1" smtClean="0">
                <a:latin typeface="+mn-ea"/>
                <a:ea typeface="+mn-ea"/>
              </a:rPr>
              <a:t>source.getDataSet</a:t>
            </a:r>
            <a:r>
              <a:rPr lang="en-US" altLang="en-US" dirty="0" smtClean="0">
                <a:latin typeface="+mn-ea"/>
                <a:ea typeface="+mn-ea"/>
              </a:rPr>
              <a:t>();//</a:t>
            </a:r>
            <a:r>
              <a:rPr lang="zh-CN" altLang="en-US" dirty="0" smtClean="0">
                <a:latin typeface="+mn-ea"/>
                <a:ea typeface="+mn-ea"/>
              </a:rPr>
              <a:t>导入数据</a:t>
            </a:r>
          </a:p>
          <a:p>
            <a:pPr lvl="1"/>
            <a:endParaRPr lang="en-US" altLang="en-US" dirty="0" smtClean="0">
              <a:latin typeface="+mn-ea"/>
              <a:ea typeface="+mn-ea"/>
            </a:endParaRP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//</a:t>
            </a:r>
            <a:r>
              <a:rPr lang="zh-CN" altLang="en-US" dirty="0" smtClean="0">
                <a:latin typeface="+mn-ea"/>
                <a:ea typeface="+mn-ea"/>
              </a:rPr>
              <a:t>归一化</a:t>
            </a:r>
            <a:endParaRPr lang="en-US" altLang="en-US" dirty="0" smtClean="0">
              <a:latin typeface="+mn-ea"/>
              <a:ea typeface="+mn-ea"/>
            </a:endParaRP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 </a:t>
            </a:r>
            <a:r>
              <a:rPr lang="en-US" altLang="en-US" dirty="0" err="1" smtClean="0">
                <a:latin typeface="+mn-ea"/>
                <a:ea typeface="+mn-ea"/>
              </a:rPr>
              <a:t>System.out.println</a:t>
            </a:r>
            <a:r>
              <a:rPr lang="en-US" altLang="en-US" dirty="0" smtClean="0">
                <a:latin typeface="+mn-ea"/>
                <a:ea typeface="+mn-ea"/>
              </a:rPr>
              <a:t>("Step 2. </a:t>
            </a:r>
            <a:r>
              <a:rPr lang="zh-CN" altLang="en-US" dirty="0" smtClean="0">
                <a:latin typeface="+mn-ea"/>
                <a:ea typeface="+mn-ea"/>
              </a:rPr>
              <a:t>归一化</a:t>
            </a:r>
            <a:r>
              <a:rPr lang="en-US" altLang="en-US" dirty="0" smtClean="0">
                <a:latin typeface="+mn-ea"/>
                <a:ea typeface="+mn-ea"/>
              </a:rPr>
              <a:t>...");</a:t>
            </a: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 Normalize norm = new Normalize();</a:t>
            </a:r>
            <a:r>
              <a:rPr lang="en-US" altLang="zh-CN" dirty="0" smtClean="0">
                <a:latin typeface="+mn-ea"/>
                <a:ea typeface="+mn-ea"/>
              </a:rPr>
              <a:t>//</a:t>
            </a:r>
            <a:r>
              <a:rPr lang="zh-CN" altLang="en-US" dirty="0" smtClean="0">
                <a:latin typeface="+mn-ea"/>
                <a:ea typeface="+mn-ea"/>
              </a:rPr>
              <a:t>建立一个归一化</a:t>
            </a:r>
            <a:r>
              <a:rPr lang="en-US" altLang="zh-CN" dirty="0" smtClean="0">
                <a:latin typeface="+mn-ea"/>
                <a:ea typeface="+mn-ea"/>
              </a:rPr>
              <a:t>filter</a:t>
            </a:r>
            <a:endParaRPr lang="en-US" altLang="en-US" dirty="0" smtClean="0">
              <a:latin typeface="+mn-ea"/>
              <a:ea typeface="+mn-ea"/>
            </a:endParaRP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 </a:t>
            </a:r>
            <a:r>
              <a:rPr lang="en-US" altLang="en-US" dirty="0" err="1" smtClean="0">
                <a:latin typeface="+mn-ea"/>
                <a:ea typeface="+mn-ea"/>
              </a:rPr>
              <a:t>norm.setInputFormat</a:t>
            </a:r>
            <a:r>
              <a:rPr lang="en-US" altLang="en-US" dirty="0" smtClean="0">
                <a:latin typeface="+mn-ea"/>
                <a:ea typeface="+mn-ea"/>
              </a:rPr>
              <a:t>(instances);//</a:t>
            </a:r>
            <a:r>
              <a:rPr lang="zh-CN" altLang="en-US" dirty="0" smtClean="0">
                <a:latin typeface="+mn-ea"/>
                <a:ea typeface="+mn-ea"/>
              </a:rPr>
              <a:t>为</a:t>
            </a:r>
            <a:r>
              <a:rPr lang="en-US" altLang="zh-CN" dirty="0" smtClean="0">
                <a:latin typeface="+mn-ea"/>
                <a:ea typeface="+mn-ea"/>
              </a:rPr>
              <a:t>filter</a:t>
            </a:r>
            <a:r>
              <a:rPr lang="zh-CN" altLang="en-US" dirty="0" smtClean="0">
                <a:latin typeface="+mn-ea"/>
                <a:ea typeface="+mn-ea"/>
              </a:rPr>
              <a:t>导入数据</a:t>
            </a:r>
            <a:endParaRPr lang="en-US" altLang="en-US" dirty="0" smtClean="0">
              <a:latin typeface="+mn-ea"/>
              <a:ea typeface="+mn-ea"/>
            </a:endParaRPr>
          </a:p>
          <a:p>
            <a:pPr lvl="1"/>
            <a:r>
              <a:rPr lang="en-US" altLang="en-US" dirty="0" smtClean="0">
                <a:latin typeface="+mn-ea"/>
                <a:ea typeface="+mn-ea"/>
              </a:rPr>
              <a:t> Instances </a:t>
            </a:r>
            <a:r>
              <a:rPr lang="en-US" altLang="en-US" dirty="0" err="1" smtClean="0">
                <a:latin typeface="+mn-ea"/>
                <a:ea typeface="+mn-ea"/>
              </a:rPr>
              <a:t>newInstances</a:t>
            </a:r>
            <a:r>
              <a:rPr lang="en-US" altLang="en-US" dirty="0" smtClean="0">
                <a:latin typeface="+mn-ea"/>
                <a:ea typeface="+mn-ea"/>
              </a:rPr>
              <a:t> = </a:t>
            </a:r>
            <a:r>
              <a:rPr lang="en-US" altLang="en-US" dirty="0" err="1" smtClean="0">
                <a:latin typeface="+mn-ea"/>
                <a:ea typeface="+mn-ea"/>
              </a:rPr>
              <a:t>Filter.useFilter</a:t>
            </a:r>
            <a:r>
              <a:rPr lang="en-US" altLang="en-US" dirty="0" smtClean="0">
                <a:latin typeface="+mn-ea"/>
                <a:ea typeface="+mn-ea"/>
              </a:rPr>
              <a:t>(instances, norm);</a:t>
            </a:r>
            <a:r>
              <a:rPr lang="en-US" altLang="zh-CN" dirty="0" smtClean="0">
                <a:latin typeface="+mn-ea"/>
                <a:ea typeface="+mn-ea"/>
              </a:rPr>
              <a:t>//</a:t>
            </a:r>
            <a:r>
              <a:rPr lang="zh-CN" altLang="en-US" dirty="0" smtClean="0">
                <a:latin typeface="+mn-ea"/>
                <a:ea typeface="+mn-ea"/>
              </a:rPr>
              <a:t>得到归一化后的数据</a:t>
            </a:r>
          </a:p>
          <a:p>
            <a:pPr lvl="1"/>
            <a:endParaRPr lang="zh-CN" altLang="en-US" dirty="0" smtClean="0">
              <a:latin typeface="+mn-ea"/>
              <a:ea typeface="+mn-ea"/>
            </a:endParaRPr>
          </a:p>
          <a:p>
            <a:pPr lvl="1"/>
            <a:r>
              <a:rPr lang="en-US" altLang="zh-CN" dirty="0" smtClean="0">
                <a:latin typeface="+mn-ea"/>
                <a:ea typeface="+mn-ea"/>
              </a:rPr>
              <a:t>//</a:t>
            </a:r>
            <a:r>
              <a:rPr lang="zh-CN" altLang="en-US" dirty="0" smtClean="0">
                <a:latin typeface="+mn-ea"/>
                <a:ea typeface="+mn-ea"/>
              </a:rPr>
              <a:t>打印结果（</a:t>
            </a:r>
            <a:r>
              <a:rPr lang="en-US" altLang="en-US" dirty="0" err="1" smtClean="0">
                <a:latin typeface="+mn-ea"/>
                <a:ea typeface="+mn-ea"/>
              </a:rPr>
              <a:t>printAttribute</a:t>
            </a:r>
            <a:r>
              <a:rPr lang="zh-CN" altLang="en-US" dirty="0" smtClean="0">
                <a:latin typeface="+mn-ea"/>
                <a:ea typeface="+mn-ea"/>
              </a:rPr>
              <a:t>函数在后面给出）</a:t>
            </a:r>
          </a:p>
          <a:p>
            <a:pPr lvl="1"/>
            <a:r>
              <a:rPr lang="zh-CN" altLang="en-US" dirty="0" smtClean="0">
                <a:latin typeface="+mn-ea"/>
                <a:ea typeface="+mn-ea"/>
              </a:rPr>
              <a:t> </a:t>
            </a:r>
            <a:r>
              <a:rPr lang="en-US" altLang="en-US" dirty="0" err="1" smtClean="0">
                <a:latin typeface="+mn-ea"/>
                <a:ea typeface="+mn-ea"/>
              </a:rPr>
              <a:t>printAttribute</a:t>
            </a:r>
            <a:r>
              <a:rPr lang="en-US" altLang="en-US" dirty="0" smtClean="0">
                <a:latin typeface="+mn-ea"/>
                <a:ea typeface="+mn-ea"/>
              </a:rPr>
              <a:t>(</a:t>
            </a:r>
            <a:r>
              <a:rPr lang="en-US" altLang="en-US" dirty="0" err="1" smtClean="0">
                <a:latin typeface="+mn-ea"/>
                <a:ea typeface="+mn-ea"/>
              </a:rPr>
              <a:t>newInstances</a:t>
            </a:r>
            <a:r>
              <a:rPr lang="en-US" altLang="en-US" dirty="0" smtClean="0">
                <a:latin typeface="+mn-ea"/>
                <a:ea typeface="+mn-ea"/>
              </a:rPr>
              <a:t>);</a:t>
            </a:r>
          </a:p>
          <a:p>
            <a:pPr marL="514350" indent="-51435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arenR" startAt="7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察数据是否已经归一化，打印实验结果，截图</a:t>
            </a:r>
          </a:p>
          <a:p>
            <a:endParaRPr lang="en-US" altLang="en-US" dirty="0">
              <a:latin typeface="+mn-ea"/>
              <a:ea typeface="+mn-ea"/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995" y="1268850"/>
            <a:ext cx="849630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400" dirty="0" err="1" smtClean="0">
                <a:latin typeface="Microsoft YaHei" charset="0"/>
                <a:ea typeface="Microsoft YaHei" charset="0"/>
                <a:cs typeface="Microsoft YaHei" charset="0"/>
              </a:rPr>
              <a:t>printAttribute</a:t>
            </a:r>
            <a:r>
              <a:rPr lang="zh-CN" altLang="en-US" sz="2400" dirty="0" smtClean="0">
                <a:latin typeface="Microsoft YaHei" charset="0"/>
                <a:ea typeface="Microsoft YaHei" charset="0"/>
                <a:cs typeface="Microsoft YaHei" charset="0"/>
              </a:rPr>
              <a:t>函数，用于输出属性的值，然后截图</a:t>
            </a:r>
            <a:endParaRPr lang="zh-CN" altLang="en-US" sz="2400" dirty="0">
              <a:latin typeface="Microsoft YaHei" charset="0"/>
              <a:ea typeface="Microsoft YaHei" charset="0"/>
              <a:cs typeface="Microsoft YaHei" charset="0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Microsoft YaHei" charset="0"/>
              <a:ea typeface="Microsoft YaHei" charset="0"/>
              <a:cs typeface="Microsoft YaHei" charset="0"/>
              <a:sym typeface="Calibri" pitchFamily="34" charset="0"/>
            </a:endParaRPr>
          </a:p>
          <a:p>
            <a:pPr eaLnBrk="1" hangingPunct="1">
              <a:spcBef>
                <a:spcPct val="20000"/>
              </a:spcBef>
              <a:buFont typeface="Wingdings 2" pitchFamily="18" charset="2"/>
              <a:buNone/>
            </a:pPr>
            <a:endParaRPr lang="zh-CN" altLang="en-US" sz="2400" dirty="0">
              <a:latin typeface="Microsoft YaHei" charset="0"/>
              <a:ea typeface="Microsoft YaHei" charset="0"/>
              <a:cs typeface="Microsoft YaHei" charset="0"/>
              <a:sym typeface="微软雅黑" pitchFamily="34" charset="-122"/>
            </a:endParaRPr>
          </a:p>
        </p:txBody>
      </p:sp>
      <p:sp>
        <p:nvSpPr>
          <p:cNvPr id="21506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21511" name="TextBox 4"/>
          <p:cNvSpPr txBox="1">
            <a:spLocks noChangeArrowheads="1"/>
          </p:cNvSpPr>
          <p:nvPr/>
        </p:nvSpPr>
        <p:spPr bwMode="auto">
          <a:xfrm>
            <a:off x="-108325" y="1916895"/>
            <a:ext cx="8707833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public static void </a:t>
            </a:r>
            <a:r>
              <a:rPr lang="en-US" altLang="en-US" dirty="0" err="1">
                <a:latin typeface="+mn-ea"/>
                <a:ea typeface="+mn-ea"/>
              </a:rPr>
              <a:t>printAttribute</a:t>
            </a:r>
            <a:r>
              <a:rPr lang="en-US" altLang="en-US" dirty="0">
                <a:latin typeface="+mn-ea"/>
                <a:ea typeface="+mn-ea"/>
              </a:rPr>
              <a:t>(Instances instances)</a:t>
            </a:r>
          </a:p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	{</a:t>
            </a:r>
          </a:p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		</a:t>
            </a:r>
            <a:r>
              <a:rPr lang="en-US" altLang="en-US" dirty="0" err="1">
                <a:latin typeface="+mn-ea"/>
                <a:ea typeface="+mn-ea"/>
              </a:rPr>
              <a:t>int</a:t>
            </a:r>
            <a:r>
              <a:rPr lang="en-US" altLang="en-US" dirty="0">
                <a:latin typeface="+mn-ea"/>
                <a:ea typeface="+mn-ea"/>
              </a:rPr>
              <a:t> </a:t>
            </a:r>
            <a:r>
              <a:rPr lang="en-US" altLang="en-US" dirty="0" err="1">
                <a:latin typeface="+mn-ea"/>
                <a:ea typeface="+mn-ea"/>
              </a:rPr>
              <a:t>numOfAttributes</a:t>
            </a:r>
            <a:r>
              <a:rPr lang="en-US" altLang="en-US" dirty="0">
                <a:latin typeface="+mn-ea"/>
                <a:ea typeface="+mn-ea"/>
              </a:rPr>
              <a:t> = </a:t>
            </a:r>
            <a:r>
              <a:rPr lang="en-US" altLang="en-US" dirty="0" err="1">
                <a:latin typeface="+mn-ea"/>
                <a:ea typeface="+mn-ea"/>
              </a:rPr>
              <a:t>instances.numAttributes</a:t>
            </a:r>
            <a:r>
              <a:rPr lang="en-US" altLang="en-US" dirty="0">
                <a:latin typeface="+mn-ea"/>
                <a:ea typeface="+mn-ea"/>
              </a:rPr>
              <a:t>();  </a:t>
            </a:r>
          </a:p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		for(</a:t>
            </a:r>
            <a:r>
              <a:rPr lang="en-US" altLang="en-US" dirty="0" err="1">
                <a:latin typeface="+mn-ea"/>
                <a:ea typeface="+mn-ea"/>
              </a:rPr>
              <a:t>int</a:t>
            </a:r>
            <a:r>
              <a:rPr lang="en-US" altLang="en-US" dirty="0">
                <a:latin typeface="+mn-ea"/>
                <a:ea typeface="+mn-ea"/>
              </a:rPr>
              <a:t> 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 = 0; 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 &lt; </a:t>
            </a:r>
            <a:r>
              <a:rPr lang="en-US" altLang="en-US" dirty="0" err="1">
                <a:latin typeface="+mn-ea"/>
                <a:ea typeface="+mn-ea"/>
              </a:rPr>
              <a:t>numOfAttributes</a:t>
            </a:r>
            <a:r>
              <a:rPr lang="en-US" altLang="en-US" dirty="0">
                <a:latin typeface="+mn-ea"/>
                <a:ea typeface="+mn-ea"/>
              </a:rPr>
              <a:t> ;++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)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{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     Attribute attribute = instances.attribute(i);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     System.out.print(attribute.name() + "     ");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 }              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System.out.println();  </a:t>
            </a:r>
          </a:p>
          <a:p>
            <a:pPr marL="742950" lvl="1" indent="-285750"/>
            <a:r>
              <a:rPr lang="zh-CN" altLang="en-US" dirty="0">
                <a:latin typeface="+mn-ea"/>
                <a:ea typeface="+mn-ea"/>
              </a:rPr>
              <a:t>		</a:t>
            </a:r>
            <a:r>
              <a:rPr lang="en-US" altLang="zh-CN" dirty="0">
                <a:latin typeface="+mn-ea"/>
                <a:ea typeface="+mn-ea"/>
              </a:rPr>
              <a:t>//</a:t>
            </a:r>
            <a:r>
              <a:rPr lang="zh-CN" altLang="en-US" dirty="0">
                <a:latin typeface="+mn-ea"/>
                <a:ea typeface="+mn-ea"/>
              </a:rPr>
              <a:t>打印实例  </a:t>
            </a:r>
          </a:p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		</a:t>
            </a:r>
            <a:r>
              <a:rPr lang="en-US" altLang="en-US" dirty="0" err="1">
                <a:latin typeface="+mn-ea"/>
                <a:ea typeface="+mn-ea"/>
              </a:rPr>
              <a:t>int</a:t>
            </a:r>
            <a:r>
              <a:rPr lang="en-US" altLang="en-US" dirty="0">
                <a:latin typeface="+mn-ea"/>
                <a:ea typeface="+mn-ea"/>
              </a:rPr>
              <a:t> </a:t>
            </a:r>
            <a:r>
              <a:rPr lang="en-US" altLang="en-US" dirty="0" err="1">
                <a:latin typeface="+mn-ea"/>
                <a:ea typeface="+mn-ea"/>
              </a:rPr>
              <a:t>numOfInstance</a:t>
            </a:r>
            <a:r>
              <a:rPr lang="en-US" altLang="en-US" dirty="0">
                <a:latin typeface="+mn-ea"/>
                <a:ea typeface="+mn-ea"/>
              </a:rPr>
              <a:t> = </a:t>
            </a:r>
            <a:r>
              <a:rPr lang="en-US" altLang="en-US" dirty="0" err="1">
                <a:latin typeface="+mn-ea"/>
                <a:ea typeface="+mn-ea"/>
              </a:rPr>
              <a:t>instances.numInstances</a:t>
            </a:r>
            <a:r>
              <a:rPr lang="en-US" altLang="en-US" dirty="0">
                <a:latin typeface="+mn-ea"/>
                <a:ea typeface="+mn-ea"/>
              </a:rPr>
              <a:t>();  </a:t>
            </a:r>
          </a:p>
          <a:p>
            <a:pPr marL="742950" lvl="1" indent="-285750"/>
            <a:r>
              <a:rPr lang="en-US" altLang="en-US" dirty="0">
                <a:latin typeface="+mn-ea"/>
                <a:ea typeface="+mn-ea"/>
              </a:rPr>
              <a:t>		for(</a:t>
            </a:r>
            <a:r>
              <a:rPr lang="en-US" altLang="en-US" dirty="0" err="1">
                <a:latin typeface="+mn-ea"/>
                <a:ea typeface="+mn-ea"/>
              </a:rPr>
              <a:t>int</a:t>
            </a:r>
            <a:r>
              <a:rPr lang="en-US" altLang="en-US" dirty="0">
                <a:latin typeface="+mn-ea"/>
                <a:ea typeface="+mn-ea"/>
              </a:rPr>
              <a:t> 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 = 0; 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 &lt; </a:t>
            </a:r>
            <a:r>
              <a:rPr lang="en-US" altLang="en-US" dirty="0" err="1">
                <a:latin typeface="+mn-ea"/>
                <a:ea typeface="+mn-ea"/>
              </a:rPr>
              <a:t>numOfInstance</a:t>
            </a:r>
            <a:r>
              <a:rPr lang="en-US" altLang="en-US" dirty="0">
                <a:latin typeface="+mn-ea"/>
                <a:ea typeface="+mn-ea"/>
              </a:rPr>
              <a:t>; ++</a:t>
            </a:r>
            <a:r>
              <a:rPr lang="en-US" altLang="en-US" dirty="0" err="1">
                <a:latin typeface="+mn-ea"/>
                <a:ea typeface="+mn-ea"/>
              </a:rPr>
              <a:t>i</a:t>
            </a:r>
            <a:r>
              <a:rPr lang="en-US" altLang="en-US" dirty="0">
                <a:latin typeface="+mn-ea"/>
                <a:ea typeface="+mn-ea"/>
              </a:rPr>
              <a:t>)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{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    Instance instance = instances.instance(i);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    System.out.print(instance.toString() + “</a:t>
            </a:r>
            <a:r>
              <a:rPr lang="de-DE" altLang="en-US" dirty="0">
                <a:solidFill>
                  <a:srgbClr val="FF0000"/>
                </a:solidFill>
                <a:latin typeface="+mn-ea"/>
                <a:ea typeface="+mn-ea"/>
              </a:rPr>
              <a:t>     </a:t>
            </a:r>
            <a:r>
              <a:rPr lang="de-DE" altLang="en-US" dirty="0">
                <a:latin typeface="+mn-ea"/>
                <a:ea typeface="+mn-ea"/>
              </a:rPr>
              <a:t>”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+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‘\n’</a:t>
            </a:r>
            <a:r>
              <a:rPr lang="de-DE" altLang="en-US" dirty="0">
                <a:latin typeface="+mn-ea"/>
                <a:ea typeface="+mn-ea"/>
              </a:rPr>
              <a:t>);  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	}</a:t>
            </a:r>
          </a:p>
          <a:p>
            <a:pPr marL="742950" lvl="1" indent="-285750"/>
            <a:r>
              <a:rPr lang="de-DE" altLang="en-US" dirty="0">
                <a:latin typeface="+mn-ea"/>
                <a:ea typeface="+mn-ea"/>
              </a:rPr>
              <a:t>	}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1512" name="Rectangle 3"/>
          <p:cNvSpPr txBox="1">
            <a:spLocks noChangeArrowheads="1"/>
          </p:cNvSpPr>
          <p:nvPr/>
        </p:nvSpPr>
        <p:spPr bwMode="auto">
          <a:xfrm>
            <a:off x="323850" y="1268413"/>
            <a:ext cx="3024188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None/>
            </a:pPr>
            <a:endParaRPr lang="zh-CN" altLang="en-US" sz="2400" dirty="0">
              <a:latin typeface="+mn-ea"/>
              <a:ea typeface="+mn-ea"/>
              <a:sym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705" y="1268850"/>
            <a:ext cx="8827909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3.2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下调用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Weka.jar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包完成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数据缺失值处理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过程略，在处理缺失值时，可以自己编写函数完成数据缺失值处理，也可以调用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包中的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ReplaceMissingValues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类来处理缺失值，操作过程与归一化处理类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似，示例代码：</a:t>
            </a:r>
          </a:p>
          <a:p>
            <a:r>
              <a:rPr lang="zh-CN" altLang="en-US" b="1" dirty="0" smtClean="0">
                <a:latin typeface="+mn-ea"/>
                <a:ea typeface="+mn-ea"/>
              </a:rPr>
              <a:t>	</a:t>
            </a:r>
          </a:p>
          <a:p>
            <a:r>
              <a:rPr lang="en-US" dirty="0" err="1" smtClean="0">
                <a:latin typeface="+mn-ea"/>
                <a:ea typeface="+mn-ea"/>
                <a:cs typeface="Arial" charset="0"/>
              </a:rPr>
              <a:t>ReplaceMissingValues</a:t>
            </a:r>
            <a:r>
              <a:rPr lang="en-US" dirty="0" smtClean="0">
                <a:latin typeface="+mn-ea"/>
                <a:ea typeface="+mn-ea"/>
                <a:cs typeface="Arial" charset="0"/>
              </a:rPr>
              <a:t> </a:t>
            </a:r>
            <a:r>
              <a:rPr lang="en-US" dirty="0" err="1">
                <a:latin typeface="+mn-ea"/>
                <a:ea typeface="+mn-ea"/>
                <a:cs typeface="Arial" charset="0"/>
              </a:rPr>
              <a:t>rmv</a:t>
            </a:r>
            <a:r>
              <a:rPr lang="en-US" dirty="0">
                <a:latin typeface="+mn-ea"/>
                <a:ea typeface="+mn-ea"/>
                <a:cs typeface="Arial" charset="0"/>
              </a:rPr>
              <a:t> = new </a:t>
            </a:r>
            <a:r>
              <a:rPr lang="en-US" dirty="0" err="1">
                <a:latin typeface="+mn-ea"/>
                <a:ea typeface="+mn-ea"/>
                <a:cs typeface="Arial" charset="0"/>
              </a:rPr>
              <a:t>ReplaceMissingValues</a:t>
            </a:r>
            <a:r>
              <a:rPr lang="en-US" dirty="0" smtClean="0">
                <a:latin typeface="+mn-ea"/>
                <a:ea typeface="+mn-ea"/>
                <a:cs typeface="Arial" charset="0"/>
              </a:rPr>
              <a:t>();</a:t>
            </a:r>
            <a:endParaRPr lang="zh-CN" altLang="en-US" dirty="0" smtClean="0">
              <a:latin typeface="+mn-ea"/>
              <a:ea typeface="+mn-ea"/>
              <a:cs typeface="Arial" charset="0"/>
            </a:endParaRPr>
          </a:p>
          <a:p>
            <a:r>
              <a:rPr lang="en-US" dirty="0" err="1" smtClean="0">
                <a:latin typeface="+mn-ea"/>
                <a:ea typeface="+mn-ea"/>
                <a:cs typeface="Arial" charset="0"/>
              </a:rPr>
              <a:t>rmv.setInputFormat</a:t>
            </a:r>
            <a:r>
              <a:rPr lang="en-US" dirty="0" smtClean="0">
                <a:latin typeface="+mn-ea"/>
                <a:ea typeface="+mn-ea"/>
                <a:cs typeface="Arial" charset="0"/>
              </a:rPr>
              <a:t>(instances</a:t>
            </a:r>
            <a:r>
              <a:rPr lang="en-US" dirty="0">
                <a:latin typeface="+mn-ea"/>
                <a:ea typeface="+mn-ea"/>
                <a:cs typeface="Arial" charset="0"/>
              </a:rPr>
              <a:t>);</a:t>
            </a:r>
          </a:p>
          <a:p>
            <a:r>
              <a:rPr lang="en-US" dirty="0" smtClean="0">
                <a:latin typeface="+mn-ea"/>
                <a:ea typeface="+mn-ea"/>
                <a:cs typeface="Arial" charset="0"/>
              </a:rPr>
              <a:t>Instances </a:t>
            </a:r>
            <a:r>
              <a:rPr lang="en-US" dirty="0" err="1">
                <a:latin typeface="+mn-ea"/>
                <a:ea typeface="+mn-ea"/>
                <a:cs typeface="Arial" charset="0"/>
              </a:rPr>
              <a:t>newInstances</a:t>
            </a:r>
            <a:r>
              <a:rPr lang="en-US" dirty="0">
                <a:latin typeface="+mn-ea"/>
                <a:ea typeface="+mn-ea"/>
                <a:cs typeface="Arial" charset="0"/>
              </a:rPr>
              <a:t> = </a:t>
            </a:r>
            <a:r>
              <a:rPr lang="en-US" dirty="0" err="1">
                <a:latin typeface="+mn-ea"/>
                <a:ea typeface="+mn-ea"/>
                <a:cs typeface="Arial" charset="0"/>
              </a:rPr>
              <a:t>Filter.</a:t>
            </a:r>
            <a:r>
              <a:rPr lang="en-US" i="1" dirty="0" err="1">
                <a:latin typeface="+mn-ea"/>
                <a:ea typeface="+mn-ea"/>
                <a:cs typeface="Arial" charset="0"/>
              </a:rPr>
              <a:t>useFilter</a:t>
            </a:r>
            <a:r>
              <a:rPr lang="en-US" i="1" dirty="0">
                <a:latin typeface="+mn-ea"/>
                <a:ea typeface="+mn-ea"/>
                <a:cs typeface="Arial" charset="0"/>
              </a:rPr>
              <a:t>(instances, </a:t>
            </a:r>
            <a:r>
              <a:rPr lang="en-US" i="1" dirty="0" err="1">
                <a:latin typeface="+mn-ea"/>
                <a:ea typeface="+mn-ea"/>
                <a:cs typeface="Arial" charset="0"/>
              </a:rPr>
              <a:t>rmv</a:t>
            </a:r>
            <a:r>
              <a:rPr lang="en-US" i="1" dirty="0">
                <a:latin typeface="+mn-ea"/>
                <a:ea typeface="+mn-ea"/>
                <a:cs typeface="Arial" charset="0"/>
              </a:rPr>
              <a:t>);</a:t>
            </a:r>
            <a:endParaRPr lang="zh-CN" altLang="en-US" dirty="0">
              <a:latin typeface="+mn-ea"/>
              <a:ea typeface="+mn-ea"/>
              <a:cs typeface="Arial" charset="0"/>
              <a:sym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8"/>
          <p:cNvSpPr>
            <a:spLocks noChangeArrowheads="1"/>
          </p:cNvSpPr>
          <p:nvPr/>
        </p:nvSpPr>
        <p:spPr bwMode="auto">
          <a:xfrm>
            <a:off x="0" y="0"/>
            <a:ext cx="9144000" cy="1000125"/>
          </a:xfrm>
          <a:prstGeom prst="rect">
            <a:avLst/>
          </a:prstGeom>
          <a:solidFill>
            <a:srgbClr val="17365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buFont typeface="Arial" pitchFamily="34" charset="0"/>
              <a:buNone/>
            </a:pPr>
            <a:endParaRPr lang="zh-CN" altLang="zh-CN">
              <a:solidFill>
                <a:srgbClr val="FFFFFF"/>
              </a:solidFill>
              <a:latin typeface="宋体" pitchFamily="2" charset="-122"/>
              <a:sym typeface="宋体" pitchFamily="2" charset="-122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188913"/>
            <a:ext cx="82296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l" eaLnBrk="1" hangingPunct="1"/>
            <a:r>
              <a:rPr lang="zh-CN" altLang="en-US" sz="3600" b="1" dirty="0">
                <a:solidFill>
                  <a:schemeClr val="bg1"/>
                </a:solidFill>
                <a:latin typeface="黑体" pitchFamily="49" charset="-122"/>
                <a:ea typeface="黑体" pitchFamily="49" charset="-122"/>
                <a:sym typeface="黑体" pitchFamily="49" charset="-122"/>
              </a:rPr>
              <a:t>四、实验步骤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23850" y="4162425"/>
            <a:ext cx="101425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908175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2997200"/>
            <a:ext cx="98996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latin typeface="Arial" charset="0"/>
              <a:ea typeface="宋体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705" y="1268850"/>
            <a:ext cx="8827909" cy="228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3.3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、在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Eclipse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下调用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Weka.jar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包完成特征筛选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过程略，提示：建立一个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AttributeSelection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对象，该对象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需设置参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Evaluator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Search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，分别选择是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InfoGainAttributeEval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对象和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Ranker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对象。其中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InfoGainAttributeEval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对象用来评估特征；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Ranker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对象负责根据对属性的评估筛选属性，需要设置特征阈值和筛选特征的数目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Calibri" pitchFamily="34" charset="0"/>
              </a:rPr>
              <a:t>。示例代码：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704" y="3717020"/>
            <a:ext cx="86406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InfoGainAttributeEval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 </a:t>
            </a:r>
            <a:r>
              <a:rPr lang="en-US" dirty="0">
                <a:latin typeface="SimSun" charset="0"/>
                <a:ea typeface="SimSun" charset="0"/>
                <a:cs typeface="SimSun" charset="0"/>
              </a:rPr>
              <a:t>ae = new </a:t>
            </a:r>
            <a:r>
              <a:rPr lang="en-US" dirty="0" err="1">
                <a:latin typeface="SimSun" charset="0"/>
                <a:ea typeface="SimSun" charset="0"/>
                <a:cs typeface="SimSun" charset="0"/>
              </a:rPr>
              <a:t>InfoGainAttributeEval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选择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evaluator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为信息增益</a:t>
            </a:r>
            <a:r>
              <a:rPr lang="en-US" dirty="0">
                <a:latin typeface="SimSun" charset="0"/>
                <a:ea typeface="SimSun" charset="0"/>
                <a:cs typeface="SimSun" charset="0"/>
              </a:rPr>
              <a:t>		</a:t>
            </a:r>
          </a:p>
          <a:p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Ranker </a:t>
            </a:r>
            <a:r>
              <a:rPr lang="en-US" dirty="0">
                <a:latin typeface="SimSun" charset="0"/>
                <a:ea typeface="SimSun" charset="0"/>
                <a:cs typeface="SimSun" charset="0"/>
              </a:rPr>
              <a:t>ranker = new Ranker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评估函数选择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ranker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ranker.setNumToSelect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(3);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设置筛选的最大特征数目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ranker.setThreshold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(0.0);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评估特征值低于该阈值的特征被筛去，在此表示只留下信息增益大于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0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的特征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AttributeSelection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 </a:t>
            </a:r>
            <a:r>
              <a:rPr lang="en-US" dirty="0">
                <a:latin typeface="SimSun" charset="0"/>
                <a:ea typeface="SimSun" charset="0"/>
                <a:cs typeface="SimSun" charset="0"/>
              </a:rPr>
              <a:t>as = new </a:t>
            </a:r>
            <a:r>
              <a:rPr lang="en-US" dirty="0" err="1">
                <a:latin typeface="SimSun" charset="0"/>
                <a:ea typeface="SimSun" charset="0"/>
                <a:cs typeface="SimSun" charset="0"/>
              </a:rPr>
              <a:t>AttributeSelection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建立特征筛选对象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as.setEvaluator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(ae);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设置筛选对象所用的评估函数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as.setSearch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(ranker);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设置筛选对象的选择函数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  <a:p>
            <a:r>
              <a:rPr lang="en-US" dirty="0" err="1" smtClean="0">
                <a:latin typeface="SimSun" charset="0"/>
                <a:ea typeface="SimSun" charset="0"/>
                <a:cs typeface="SimSun" charset="0"/>
              </a:rPr>
              <a:t>as.setInputFormat</a:t>
            </a:r>
            <a:r>
              <a:rPr lang="en-US" dirty="0" smtClean="0">
                <a:latin typeface="SimSun" charset="0"/>
                <a:ea typeface="SimSun" charset="0"/>
                <a:cs typeface="SimSun" charset="0"/>
              </a:rPr>
              <a:t>(instances);</a:t>
            </a:r>
            <a:r>
              <a:rPr lang="en-US" altLang="zh-CN" dirty="0" smtClean="0">
                <a:latin typeface="SimSun" charset="0"/>
                <a:ea typeface="SimSun" charset="0"/>
                <a:cs typeface="SimSun" charset="0"/>
              </a:rPr>
              <a:t>//</a:t>
            </a:r>
            <a:r>
              <a:rPr lang="zh-CN" altLang="en-US" dirty="0" smtClean="0">
                <a:latin typeface="SimSun" charset="0"/>
                <a:ea typeface="SimSun" charset="0"/>
                <a:cs typeface="SimSun" charset="0"/>
              </a:rPr>
              <a:t>为该特征筛选对象传入数据源</a:t>
            </a:r>
            <a:endParaRPr lang="en-US" dirty="0">
              <a:latin typeface="SimSun" charset="0"/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39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_都市">
  <a:themeElements>
    <a:clrScheme name="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FFFFFF"/>
      </a:accent3>
      <a:accent4>
        <a:srgbClr val="000000"/>
      </a:accent4>
      <a:accent5>
        <a:srgbClr val="B3B3C4"/>
      </a:accent5>
      <a:accent6>
        <a:srgbClr val="3C7379"/>
      </a:accent6>
      <a:hlink>
        <a:srgbClr val="67AFBD"/>
      </a:hlink>
      <a:folHlink>
        <a:srgbClr val="C2A874"/>
      </a:folHlink>
    </a:clrScheme>
    <a:fontScheme name="12_都市">
      <a:majorFont>
        <a:latin typeface="Trebuchet MS"/>
        <a:ea typeface="宋体"/>
        <a:cs typeface=""/>
      </a:majorFont>
      <a:minorFont>
        <a:latin typeface="Georg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13_都市">
  <a:themeElements>
    <a:clrScheme name="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FFFFFF"/>
      </a:accent3>
      <a:accent4>
        <a:srgbClr val="000000"/>
      </a:accent4>
      <a:accent5>
        <a:srgbClr val="B3B3C4"/>
      </a:accent5>
      <a:accent6>
        <a:srgbClr val="3C7379"/>
      </a:accent6>
      <a:hlink>
        <a:srgbClr val="67AFBD"/>
      </a:hlink>
      <a:folHlink>
        <a:srgbClr val="C2A874"/>
      </a:folHlink>
    </a:clrScheme>
    <a:fontScheme name="13_都市">
      <a:majorFont>
        <a:latin typeface="Trebuchet MS"/>
        <a:ea typeface="宋体"/>
        <a:cs typeface=""/>
      </a:majorFont>
      <a:minorFont>
        <a:latin typeface="Georg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FFFFFF"/>
      </a:accent3>
      <a:accent4>
        <a:srgbClr val="000000"/>
      </a:accent4>
      <a:accent5>
        <a:srgbClr val="B3B3C4"/>
      </a:accent5>
      <a:accent6>
        <a:srgbClr val="3C7379"/>
      </a:accent6>
      <a:hlink>
        <a:srgbClr val="67AFBD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Pages>0</Pages>
  <Words>1263</Words>
  <Characters>0</Characters>
  <Application>Microsoft Macintosh PowerPoint</Application>
  <DocSecurity>0</DocSecurity>
  <PresentationFormat>全屏显示(4:3)</PresentationFormat>
  <Lines>0</Lines>
  <Paragraphs>232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Georgia</vt:lpstr>
      <vt:lpstr>Meiryo UI</vt:lpstr>
      <vt:lpstr>Microsoft YaHei</vt:lpstr>
      <vt:lpstr>SimSun</vt:lpstr>
      <vt:lpstr>Trebuchet MS</vt:lpstr>
      <vt:lpstr>Wingdings 2</vt:lpstr>
      <vt:lpstr>黑体</vt:lpstr>
      <vt:lpstr>宋体</vt:lpstr>
      <vt:lpstr>微软雅黑</vt:lpstr>
      <vt:lpstr>Arial</vt:lpstr>
      <vt:lpstr>Calibri</vt:lpstr>
      <vt:lpstr>Times New Roman</vt:lpstr>
      <vt:lpstr>12_都市</vt:lpstr>
      <vt:lpstr>13_都市</vt:lpstr>
      <vt:lpstr>Office 主题</vt:lpstr>
      <vt:lpstr>公式</vt:lpstr>
      <vt:lpstr>PowerPoint 演示文稿</vt:lpstr>
      <vt:lpstr>实验报告要求 </vt:lpstr>
      <vt:lpstr>PowerPoint 演示文稿</vt:lpstr>
      <vt:lpstr>PowerPoint 演示文稿</vt:lpstr>
      <vt:lpstr>实验一   认识数据与数据预处理 </vt:lpstr>
      <vt:lpstr>一、实验目的</vt:lpstr>
      <vt:lpstr>二、实验内容</vt:lpstr>
      <vt:lpstr>三、实验原理</vt:lpstr>
      <vt:lpstr>三、实验原理</vt:lpstr>
      <vt:lpstr>三、实验原理</vt:lpstr>
      <vt:lpstr>Weka包常用类介绍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  <vt:lpstr>四、实验步骤</vt:lpstr>
    </vt:vector>
  </TitlesOfParts>
  <LinksUpToDate>false</LinksUpToDate>
  <CharactersWithSpaces>0</CharactersWithSpaces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蒲剑苏</cp:lastModifiedBy>
  <cp:revision>93</cp:revision>
  <dcterms:created xsi:type="dcterms:W3CDTF">2016-03-10T06:21:02Z</dcterms:created>
  <dcterms:modified xsi:type="dcterms:W3CDTF">2017-10-31T09:31:34Z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2052-9.1.0.4994</vt:lpwstr>
  </property>
</Properties>
</file>