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94" r:id="rId2"/>
    <p:sldId id="342" r:id="rId3"/>
    <p:sldId id="343" r:id="rId4"/>
    <p:sldId id="308" r:id="rId5"/>
    <p:sldId id="344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F5F5F"/>
    <a:srgbClr val="286E24"/>
    <a:srgbClr val="8B0707"/>
    <a:srgbClr val="D38269"/>
    <a:srgbClr val="99FF33"/>
    <a:srgbClr val="FF00FF"/>
    <a:srgbClr val="CC0099"/>
    <a:srgbClr val="916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8"/>
    <p:restoredTop sz="86456"/>
  </p:normalViewPr>
  <p:slideViewPr>
    <p:cSldViewPr snapToGrid="0" snapToObjects="1" showGuides="1">
      <p:cViewPr varScale="1">
        <p:scale>
          <a:sx n="100" d="100"/>
          <a:sy n="100" d="100"/>
        </p:scale>
        <p:origin x="153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84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4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kumimoji="1" sz="12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dirty="0"/>
              <a:t>‹#›</a:t>
            </a:fld>
            <a:endParaRPr lang="zh-CN" alt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14424967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 Narrow" panose="020B0606020202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7315200" cy="9144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6145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1981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30043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eaLnBrk="1" hangingPunct="1"/>
            <a:fld id="{9A0DB2DC-4C9A-4742-B13C-FB6460FD3503}" type="slidenum"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‹#›</a:t>
            </a:fld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791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791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762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 </a:t>
            </a:r>
          </a:p>
        </p:txBody>
      </p:sp>
      <p:sp>
        <p:nvSpPr>
          <p:cNvPr id="1027" name="Rectangle 12"/>
          <p:cNvSpPr>
            <a:spLocks noGrp="1"/>
          </p:cNvSpPr>
          <p:nvPr>
            <p:ph type="body"/>
          </p:nvPr>
        </p:nvSpPr>
        <p:spPr>
          <a:xfrm>
            <a:off x="457200" y="1219200"/>
            <a:ext cx="8229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0431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1879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60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eaLnBrk="1" hangingPunct="1"/>
            <a:fld id="{9A0DB2DC-4C9A-4742-B13C-FB6460FD3503}" type="slidenum">
              <a:rPr lang="zh-CN" altLang="en-US" smtClean="0"/>
              <a:pPr eaLnBrk="1" hangingPunct="1"/>
              <a:t>‹#›</a:t>
            </a:fld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华文新魏" panose="02010800040101010101" pitchFamily="2" charset="-122"/>
          <a:ea typeface="华文新魏" panose="0201080004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Lab  1 MIPS  Programming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3910013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zh-CN" dirty="0"/>
              <a:t>Overview</a:t>
            </a:r>
          </a:p>
          <a:p>
            <a:r>
              <a:rPr lang="en-US" altLang="zh-CN" dirty="0"/>
              <a:t>C programming</a:t>
            </a:r>
          </a:p>
          <a:p>
            <a:r>
              <a:rPr lang="en-US" altLang="zh-CN" dirty="0"/>
              <a:t>Load MIPS system onto FPGA board</a:t>
            </a:r>
          </a:p>
          <a:p>
            <a:r>
              <a:rPr lang="en-US" altLang="zh-CN" dirty="0"/>
              <a:t>Load the code using the UART</a:t>
            </a:r>
          </a:p>
          <a:p>
            <a:r>
              <a:rPr lang="en-US" altLang="zh-CN" dirty="0">
                <a:solidFill>
                  <a:srgbClr val="00B050"/>
                </a:solidFill>
              </a:rPr>
              <a:t>ftp://</a:t>
            </a:r>
            <a:r>
              <a:rPr lang="en-US" altLang="zh-CN" dirty="0" smtClean="0">
                <a:solidFill>
                  <a:srgbClr val="00B050"/>
                </a:solidFill>
              </a:rPr>
              <a:t>172.16.16.10</a:t>
            </a:r>
            <a:endParaRPr lang="en-US" altLang="zh-CN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Oview</a:t>
            </a:r>
            <a:endParaRPr lang="zh-CN" altLang="en-US" dirty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lstStyle/>
          <a:p>
            <a:r>
              <a:rPr lang="en-US" altLang="zh-CN" dirty="0"/>
              <a:t>MyMIPS is a soft-core MIPS32 processor implemented on FPGA.</a:t>
            </a:r>
          </a:p>
          <a:p>
            <a:r>
              <a:rPr lang="en-US" altLang="zh-CN" dirty="0"/>
              <a:t>5-stage pipeline</a:t>
            </a:r>
          </a:p>
          <a:p>
            <a:r>
              <a:rPr lang="en-US" altLang="zh-CN" dirty="0"/>
              <a:t>5MHz</a:t>
            </a:r>
            <a:endParaRPr lang="zh-CN" altLang="en-US" dirty="0"/>
          </a:p>
        </p:txBody>
      </p:sp>
      <p:sp>
        <p:nvSpPr>
          <p:cNvPr id="4100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2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MyMIPS:Physical Memory</a:t>
            </a: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3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5" name="Straight Arrow Connector 2"/>
          <p:cNvCxnSpPr/>
          <p:nvPr/>
        </p:nvCxnSpPr>
        <p:spPr>
          <a:xfrm flipH="1">
            <a:off x="5222875" y="2327275"/>
            <a:ext cx="762000" cy="0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TextBox 5"/>
          <p:cNvSpPr txBox="1"/>
          <p:nvPr/>
        </p:nvSpPr>
        <p:spPr>
          <a:xfrm>
            <a:off x="6099175" y="1671638"/>
            <a:ext cx="2705100" cy="1570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Boot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Code executed at startup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(1 KB)</a:t>
            </a:r>
          </a:p>
        </p:txBody>
      </p:sp>
      <p:cxnSp>
        <p:nvCxnSpPr>
          <p:cNvPr id="7" name="Straight Arrow Connector 4"/>
          <p:cNvCxnSpPr/>
          <p:nvPr/>
        </p:nvCxnSpPr>
        <p:spPr>
          <a:xfrm flipH="1">
            <a:off x="5222875" y="4789488"/>
            <a:ext cx="762000" cy="0"/>
          </a:xfrm>
          <a:prstGeom prst="straightConnector1">
            <a:avLst/>
          </a:prstGeom>
          <a:ln w="38100">
            <a:solidFill>
              <a:srgbClr val="0070C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7" name="TextBox 7"/>
          <p:cNvSpPr txBox="1"/>
          <p:nvPr/>
        </p:nvSpPr>
        <p:spPr>
          <a:xfrm>
            <a:off x="6099175" y="4256088"/>
            <a:ext cx="29337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User Code/Data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(16 KB)</a:t>
            </a:r>
          </a:p>
        </p:txBody>
      </p:sp>
      <p:sp>
        <p:nvSpPr>
          <p:cNvPr id="5128" name="TextBox 10"/>
          <p:cNvSpPr txBox="1"/>
          <p:nvPr/>
        </p:nvSpPr>
        <p:spPr>
          <a:xfrm>
            <a:off x="1881188" y="1768475"/>
            <a:ext cx="3275012" cy="1055688"/>
          </a:xfrm>
          <a:prstGeom prst="rect">
            <a:avLst/>
          </a:prstGeom>
          <a:solidFill>
            <a:srgbClr val="286E24"/>
          </a:solidFill>
          <a:ln w="9525">
            <a:noFill/>
          </a:ln>
        </p:spPr>
        <p:txBody>
          <a:bodyPr anchor="ctr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Reset RAM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sp>
        <p:nvSpPr>
          <p:cNvPr id="5129" name="TextBox 11"/>
          <p:cNvSpPr txBox="1"/>
          <p:nvPr/>
        </p:nvSpPr>
        <p:spPr>
          <a:xfrm>
            <a:off x="1878013" y="2825750"/>
            <a:ext cx="3276600" cy="720725"/>
          </a:xfrm>
          <a:prstGeom prst="rect">
            <a:avLst/>
          </a:prstGeom>
          <a:solidFill>
            <a:srgbClr val="5F5F5F"/>
          </a:solidFill>
          <a:ln w="9525">
            <a:noFill/>
          </a:ln>
        </p:spPr>
        <p:txBody>
          <a:bodyPr anchor="ctr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Unpopulated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sp>
        <p:nvSpPr>
          <p:cNvPr id="5130" name="TextBox 12"/>
          <p:cNvSpPr txBox="1"/>
          <p:nvPr/>
        </p:nvSpPr>
        <p:spPr>
          <a:xfrm>
            <a:off x="1878013" y="3538538"/>
            <a:ext cx="3276600" cy="2479675"/>
          </a:xfrm>
          <a:prstGeom prst="rect">
            <a:avLst/>
          </a:prstGeom>
          <a:solidFill>
            <a:srgbClr val="286E24"/>
          </a:solidFill>
          <a:ln w="9525">
            <a:noFill/>
          </a:ln>
        </p:spPr>
        <p:txBody>
          <a:bodyPr anchor="ctr"/>
          <a:lstStyle/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Code / Data RAM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sp>
        <p:nvSpPr>
          <p:cNvPr id="5131" name="矩形 14"/>
          <p:cNvSpPr/>
          <p:nvPr/>
        </p:nvSpPr>
        <p:spPr>
          <a:xfrm>
            <a:off x="203200" y="2455863"/>
            <a:ext cx="1649413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0x9FC00000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sp>
        <p:nvSpPr>
          <p:cNvPr id="5132" name="矩形 15"/>
          <p:cNvSpPr/>
          <p:nvPr/>
        </p:nvSpPr>
        <p:spPr>
          <a:xfrm>
            <a:off x="257175" y="5626100"/>
            <a:ext cx="1595438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0x80000000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sp>
        <p:nvSpPr>
          <p:cNvPr id="5133" name="矩形 16"/>
          <p:cNvSpPr/>
          <p:nvPr/>
        </p:nvSpPr>
        <p:spPr>
          <a:xfrm>
            <a:off x="203200" y="1768475"/>
            <a:ext cx="1674813" cy="4619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0x9FC003FF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sp>
        <p:nvSpPr>
          <p:cNvPr id="5134" name="矩形 17"/>
          <p:cNvSpPr/>
          <p:nvPr/>
        </p:nvSpPr>
        <p:spPr>
          <a:xfrm>
            <a:off x="203200" y="3487738"/>
            <a:ext cx="1633538" cy="4619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Arial Narrow" panose="020B0606020202030204" pitchFamily="34" charset="0"/>
              </a:rPr>
              <a:t>0x80003FFF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Anvyl FPGA Board</a:t>
            </a:r>
            <a:endParaRPr lang="zh-CN" altLang="en-US" dirty="0"/>
          </a:p>
        </p:txBody>
      </p:sp>
      <p:sp>
        <p:nvSpPr>
          <p:cNvPr id="6147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4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38" y="1066800"/>
            <a:ext cx="7332662" cy="5495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MyMIPS: mfp_io.h</a:t>
            </a:r>
            <a:endParaRPr lang="zh-CN" altLang="en-US" dirty="0"/>
          </a:p>
        </p:txBody>
      </p:sp>
      <p:sp>
        <p:nvSpPr>
          <p:cNvPr id="7171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5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172" name="矩形 18"/>
          <p:cNvSpPr/>
          <p:nvPr/>
        </p:nvSpPr>
        <p:spPr>
          <a:xfrm>
            <a:off x="214313" y="1373188"/>
            <a:ext cx="8467725" cy="42783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#ifndef MFP_MEMORY_MAPPED_REGISTERS_H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MFP_MEMORY_MAPPED_REGISTERS_H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600" dirty="0">
              <a:latin typeface="Arial Narrow" panose="020B0606020202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MFP_LEDS_ADDR                 0xBF800000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MFP_SWITCHES_ADDR        0xBF800004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MFP_BUTTONS_ADDR         0xBF800008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MFP_7SEGEN_ADDR            0xBF80000c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MFP_7SEGDIGITS_ADDR     0xBF800010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600" dirty="0">
              <a:latin typeface="Arial Narrow" panose="020B0606020202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600" dirty="0">
              <a:latin typeface="Arial Narrow" panose="020B0606020202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MFP_LEDS                      (* (volatile unsigned *) MFP_LEDS_ADDR         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MFP_SWITCHES            (* (volatile unsigned *) MFP_SWITCHES_ADDR     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MFP_BUTTONS              (* (volatile unsigned *) MFP_BUTTONS_ADDR      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MFP_7SEGEN                 (* (volatile unsigned *) MFP_7SEGEN_ADDR        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#define MFP_7SEGDIGITS          (* (volatile unsigned *) MFP_7SEGDIGITS_ADDR    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1600" dirty="0">
              <a:latin typeface="Arial Narrow" panose="020B060602020203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dirty="0">
                <a:latin typeface="Arial Narrow" panose="020B0606020202030204" pitchFamily="34" charset="0"/>
              </a:rPr>
              <a:t>#endif</a:t>
            </a:r>
            <a:endParaRPr lang="zh-CN" altLang="en-US" sz="1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Codescape(1/12)</a:t>
            </a:r>
            <a:endParaRPr lang="zh-CN" altLang="en-US" dirty="0"/>
          </a:p>
        </p:txBody>
      </p:sp>
      <p:sp>
        <p:nvSpPr>
          <p:cNvPr id="8195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6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819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3" y="1066800"/>
            <a:ext cx="7291387" cy="5638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Codescape(2/12)</a:t>
            </a:r>
            <a:endParaRPr lang="zh-CN" altLang="en-US" dirty="0"/>
          </a:p>
        </p:txBody>
      </p:sp>
      <p:sp>
        <p:nvSpPr>
          <p:cNvPr id="9219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7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9220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3" y="1371600"/>
            <a:ext cx="6800850" cy="5260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Codescape(3/12)</a:t>
            </a:r>
            <a:endParaRPr lang="zh-CN" altLang="en-US" dirty="0"/>
          </a:p>
        </p:txBody>
      </p:sp>
      <p:sp>
        <p:nvSpPr>
          <p:cNvPr id="10243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8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024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09700"/>
            <a:ext cx="6396038" cy="38465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箭头连接符 5"/>
          <p:cNvCxnSpPr/>
          <p:nvPr/>
        </p:nvCxnSpPr>
        <p:spPr>
          <a:xfrm flipV="1">
            <a:off x="2601913" y="4678363"/>
            <a:ext cx="1028700" cy="1208087"/>
          </a:xfrm>
          <a:prstGeom prst="straightConnector1">
            <a:avLst/>
          </a:prstGeom>
          <a:ln w="50800" cap="flat" cmpd="sng">
            <a:solidFill>
              <a:srgbClr val="99FF33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9" name="TextBox 8"/>
          <p:cNvSpPr txBox="1"/>
          <p:nvPr/>
        </p:nvSpPr>
        <p:spPr>
          <a:xfrm>
            <a:off x="2401888" y="5886450"/>
            <a:ext cx="28606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FF00"/>
                </a:solidFill>
                <a:latin typeface="Arial Narrow" panose="020B0606020202030204" pitchFamily="34" charset="0"/>
              </a:rPr>
              <a:t>Click Yes</a:t>
            </a:r>
            <a:endParaRPr lang="zh-CN" altLang="en-US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Codescape(4/12)</a:t>
            </a:r>
            <a:endParaRPr lang="zh-CN" altLang="en-US" dirty="0"/>
          </a:p>
        </p:txBody>
      </p:sp>
      <p:sp>
        <p:nvSpPr>
          <p:cNvPr id="11267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9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126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5725"/>
            <a:ext cx="7831138" cy="44307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Codescape(5/12)</a:t>
            </a:r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10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229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8" y="1066800"/>
            <a:ext cx="6559550" cy="571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Codescape(6/12)</a:t>
            </a:r>
            <a:endParaRPr lang="zh-CN" altLang="en-US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11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331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1066800"/>
            <a:ext cx="6589713" cy="57419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Codescape(7/12)</a:t>
            </a:r>
            <a:endParaRPr lang="zh-CN" altLang="en-US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12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434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3" y="1066800"/>
            <a:ext cx="6559550" cy="571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Codescape(8/12)</a:t>
            </a: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13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5364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013" y="1066800"/>
            <a:ext cx="6559550" cy="5715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Codescape(9/12)</a:t>
            </a:r>
            <a:endParaRPr lang="zh-CN" altLang="en-US" dirty="0"/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14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638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388" y="1066800"/>
            <a:ext cx="6511925" cy="5673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Codescape(10/12)</a:t>
            </a:r>
            <a:endParaRPr lang="zh-CN" altLang="en-US" dirty="0"/>
          </a:p>
        </p:txBody>
      </p:sp>
      <p:sp>
        <p:nvSpPr>
          <p:cNvPr id="17411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15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741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38" y="957263"/>
            <a:ext cx="6684962" cy="5824537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直接箭头连接符 5"/>
          <p:cNvCxnSpPr/>
          <p:nvPr/>
        </p:nvCxnSpPr>
        <p:spPr>
          <a:xfrm flipV="1">
            <a:off x="246063" y="3673475"/>
            <a:ext cx="1735137" cy="720725"/>
          </a:xfrm>
          <a:prstGeom prst="straightConnector1">
            <a:avLst/>
          </a:prstGeom>
          <a:ln w="50800" cap="flat" cmpd="sng">
            <a:solidFill>
              <a:srgbClr val="99FF33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7" name="TextBox 6"/>
          <p:cNvSpPr txBox="1"/>
          <p:nvPr/>
        </p:nvSpPr>
        <p:spPr>
          <a:xfrm>
            <a:off x="76200" y="4503738"/>
            <a:ext cx="14827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FFFF00"/>
                </a:solidFill>
                <a:latin typeface="Arial Narrow" panose="020B0606020202030204" pitchFamily="34" charset="0"/>
              </a:rPr>
              <a:t>Check on</a:t>
            </a:r>
            <a:endParaRPr lang="zh-CN" altLang="en-US" dirty="0">
              <a:solidFill>
                <a:srgbClr val="FFFF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Codescape(11/12)</a:t>
            </a:r>
            <a:endParaRPr lang="zh-CN" altLang="en-US" dirty="0"/>
          </a:p>
        </p:txBody>
      </p:sp>
      <p:sp>
        <p:nvSpPr>
          <p:cNvPr id="18435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16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843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138" y="1295400"/>
            <a:ext cx="6296025" cy="5486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Installing  Codescape(12/12)</a:t>
            </a:r>
            <a:endParaRPr lang="zh-CN" altLang="en-US" dirty="0"/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 idx="11"/>
          </p:nvPr>
        </p:nvSpPr>
        <p:spPr>
          <a:ln/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17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19460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50" y="1066800"/>
            <a:ext cx="7032625" cy="5438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dirty="0"/>
              <a:t>C programming</a:t>
            </a:r>
            <a:endParaRPr lang="zh-CN" altLang="en-US" dirty="0"/>
          </a:p>
        </p:txBody>
      </p:sp>
      <p:sp>
        <p:nvSpPr>
          <p:cNvPr id="3075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/>
              <a:t>Create new directory</a:t>
            </a:r>
          </a:p>
          <a:p>
            <a:r>
              <a:rPr lang="en-US" altLang="zh-CN" dirty="0"/>
              <a:t>Copy files exist in \mymips_c_template\</a:t>
            </a:r>
          </a:p>
          <a:p>
            <a:r>
              <a:rPr lang="en-US" altLang="zh-CN" dirty="0"/>
              <a:t>Create main.c</a:t>
            </a:r>
          </a:p>
          <a:p>
            <a:r>
              <a:rPr lang="en-US" altLang="zh-CN" dirty="0"/>
              <a:t>Compile project </a:t>
            </a:r>
          </a:p>
          <a:p>
            <a:pPr>
              <a:buNone/>
            </a:pPr>
            <a:r>
              <a:rPr lang="en-US" altLang="zh-CN" dirty="0">
                <a:solidFill>
                  <a:srgbClr val="92D050"/>
                </a:solidFill>
              </a:rPr>
              <a:t>       make clean</a:t>
            </a:r>
          </a:p>
          <a:p>
            <a:pPr>
              <a:buNone/>
            </a:pPr>
            <a:r>
              <a:rPr lang="en-US" altLang="zh-CN" dirty="0">
                <a:solidFill>
                  <a:srgbClr val="92D050"/>
                </a:solidFill>
              </a:rPr>
              <a:t>       make</a:t>
            </a:r>
            <a:endParaRPr lang="zh-CN" altLang="en-US" dirty="0">
              <a:solidFill>
                <a:srgbClr val="92D050"/>
              </a:solidFill>
            </a:endParaRPr>
          </a:p>
        </p:txBody>
      </p:sp>
      <p:sp>
        <p:nvSpPr>
          <p:cNvPr id="3076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18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dirty="0"/>
              <a:t>ReadSwitches:main.c</a:t>
            </a:r>
            <a:endParaRPr lang="zh-CN" altLang="en-US" dirty="0"/>
          </a:p>
        </p:txBody>
      </p:sp>
      <p:sp>
        <p:nvSpPr>
          <p:cNvPr id="4099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19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410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1162050"/>
            <a:ext cx="6838950" cy="5619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685800" y="49213"/>
            <a:ext cx="7772400" cy="7620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dirty="0"/>
              <a:t>Loading MyMIPS system</a:t>
            </a:r>
            <a:endParaRPr lang="zh-CN" altLang="en-US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457200" y="963613"/>
            <a:ext cx="8229600" cy="855662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dirty="0"/>
              <a:t>Double click Adept</a:t>
            </a:r>
            <a:r>
              <a:rPr lang="zh-CN" altLang="en-US" dirty="0"/>
              <a:t> </a:t>
            </a:r>
            <a:r>
              <a:rPr lang="en-US" altLang="zh-CN" dirty="0"/>
              <a:t>icon, click Browse button , then click Program button.</a:t>
            </a:r>
          </a:p>
        </p:txBody>
      </p:sp>
      <p:sp>
        <p:nvSpPr>
          <p:cNvPr id="5124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20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12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50" y="2062163"/>
            <a:ext cx="1295400" cy="1249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6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213" y="2062163"/>
            <a:ext cx="5060950" cy="4719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endParaRPr lang="zh-CN" altLang="en-US" dirty="0"/>
          </a:p>
        </p:txBody>
      </p:sp>
      <p:sp>
        <p:nvSpPr>
          <p:cNvPr id="6147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21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614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26987"/>
            <a:ext cx="9067800" cy="6804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sz="3200" dirty="0"/>
              <a:t>Loading the code using the UART</a:t>
            </a:r>
            <a:endParaRPr lang="zh-CN" altLang="en-US" sz="3200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/>
              <a:t>Run 6.bat</a:t>
            </a:r>
          </a:p>
          <a:p>
            <a:r>
              <a:rPr lang="en-US" altLang="zh-CN" dirty="0"/>
              <a:t>Reset the code by </a:t>
            </a:r>
          </a:p>
          <a:p>
            <a:pPr>
              <a:buNone/>
            </a:pPr>
            <a:r>
              <a:rPr lang="en-US" altLang="zh-CN" dirty="0">
                <a:solidFill>
                  <a:srgbClr val="92D050"/>
                </a:solidFill>
              </a:rPr>
              <a:t>       Press button 3 or</a:t>
            </a:r>
          </a:p>
          <a:p>
            <a:pPr>
              <a:buNone/>
            </a:pPr>
            <a:r>
              <a:rPr lang="en-US" altLang="zh-CN" dirty="0">
                <a:solidFill>
                  <a:srgbClr val="92D050"/>
                </a:solidFill>
              </a:rPr>
              <a:t>       </a:t>
            </a:r>
          </a:p>
          <a:p>
            <a:pPr>
              <a:buNone/>
            </a:pPr>
            <a:r>
              <a:rPr lang="en-US" altLang="zh-CN" dirty="0">
                <a:solidFill>
                  <a:srgbClr val="92D050"/>
                </a:solidFill>
              </a:rPr>
              <a:t>       Reloading the MyMIPS system and  </a:t>
            </a:r>
          </a:p>
          <a:p>
            <a:pPr>
              <a:buNone/>
            </a:pPr>
            <a:r>
              <a:rPr lang="en-US" altLang="zh-CN" dirty="0">
                <a:solidFill>
                  <a:srgbClr val="92D050"/>
                </a:solidFill>
              </a:rPr>
              <a:t>       Reloading the code</a:t>
            </a:r>
          </a:p>
          <a:p>
            <a:pPr>
              <a:buNone/>
            </a:pPr>
            <a:r>
              <a:rPr lang="en-US" altLang="zh-CN" dirty="0"/>
              <a:t>       </a:t>
            </a:r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22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dirty="0"/>
              <a:t>Programming practice </a:t>
            </a:r>
            <a:endParaRPr lang="zh-CN" altLang="en-US" dirty="0"/>
          </a:p>
        </p:txBody>
      </p:sp>
      <p:sp>
        <p:nvSpPr>
          <p:cNvPr id="3075" name="灯片编号占位符 3"/>
          <p:cNvSpPr txBox="1">
            <a:spLocks noGrp="1"/>
          </p:cNvSpPr>
          <p:nvPr>
            <p:ph type="sldNum" sz="quarter" idx="11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Arial Narrow" panose="020B0606020202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600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pPr lvl="0" algn="r" eaLnBrk="1" hangingPunct="1"/>
              <a:t>23</a:t>
            </a:fld>
            <a:endParaRPr lang="zh-CN" altLang="en-US" sz="1600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>
          <a:xfrm>
            <a:off x="79375" y="1219200"/>
            <a:ext cx="9112250" cy="4876800"/>
          </a:xfrm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rPr lang="en-US" altLang="zh-CN" sz="2400" dirty="0"/>
              <a:t>Student project</a:t>
            </a:r>
          </a:p>
          <a:p>
            <a:r>
              <a:rPr lang="en-US" altLang="zh-CN" sz="2400" dirty="0"/>
              <a:t>Write your own C program, compile it, and run it on MIPS. Create a program that will calculate and display the first 11 Fibonacci numbers on the LEDs. Each number in the Fibonacci series is the sum of the previous two numbers.  Table 1 lists the first few numbers in the series.</a:t>
            </a:r>
          </a:p>
          <a:p>
            <a:endParaRPr lang="en-US" altLang="zh-CN" sz="2400" dirty="0"/>
          </a:p>
        </p:txBody>
      </p:sp>
      <p:graphicFrame>
        <p:nvGraphicFramePr>
          <p:cNvPr id="26629" name="表格 26628"/>
          <p:cNvGraphicFramePr>
            <a:graphicFrameLocks noGrp="1"/>
          </p:cNvGraphicFramePr>
          <p:nvPr/>
        </p:nvGraphicFramePr>
        <p:xfrm>
          <a:off x="530225" y="3657600"/>
          <a:ext cx="7927975" cy="683514"/>
        </p:xfrm>
        <a:graphic>
          <a:graphicData uri="http://schemas.openxmlformats.org/drawingml/2006/table">
            <a:tbl>
              <a:tblPr/>
              <a:tblGrid>
                <a:gridCol w="935038"/>
                <a:gridCol w="582612"/>
                <a:gridCol w="584200"/>
                <a:gridCol w="582613"/>
                <a:gridCol w="582612"/>
                <a:gridCol w="582613"/>
                <a:gridCol w="582612"/>
                <a:gridCol w="582613"/>
                <a:gridCol w="582612"/>
                <a:gridCol w="582613"/>
                <a:gridCol w="582612"/>
                <a:gridCol w="582613"/>
                <a:gridCol w="582612"/>
              </a:tblGrid>
              <a:tr h="2095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n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4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6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7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9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10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11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…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fib(n)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13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21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34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55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89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…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E2CE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EAEAEA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fib(n)</a:t>
                      </a:r>
                      <a:endParaRPr kumimoji="0" lang="zh-CN" altLang="zh-CN" sz="13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0x1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0x1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0x2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0x3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0x5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0x8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0xd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0x15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0x22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0x37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0x59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3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54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</a:rPr>
                        <a:t> </a:t>
                      </a:r>
                      <a:endParaRPr kumimoji="0" lang="zh-CN" altLang="zh-CN" sz="13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1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华文新魏"/>
        <a:ea typeface="华文新魏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anose="020B0606020202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8">
        <a:dk1>
          <a:srgbClr val="000000"/>
        </a:dk1>
        <a:lt1>
          <a:srgbClr val="FFFFFF"/>
        </a:lt1>
        <a:dk2>
          <a:srgbClr val="A50021"/>
        </a:dk2>
        <a:lt2>
          <a:srgbClr val="DDDDDD"/>
        </a:lt2>
        <a:accent1>
          <a:srgbClr val="FFCC99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70000"/>
        </a:accent6>
        <a:hlink>
          <a:srgbClr val="0000FF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382</Words>
  <Application>Microsoft Office PowerPoint</Application>
  <PresentationFormat>全屏显示(4:3)</PresentationFormat>
  <Paragraphs>138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华文新魏</vt:lpstr>
      <vt:lpstr>楷体_GB2312</vt:lpstr>
      <vt:lpstr>宋体</vt:lpstr>
      <vt:lpstr>Arial</vt:lpstr>
      <vt:lpstr>Arial Narrow</vt:lpstr>
      <vt:lpstr>Times New Roman</vt:lpstr>
      <vt:lpstr>Wingdings</vt:lpstr>
      <vt:lpstr>Factory</vt:lpstr>
      <vt:lpstr>Lab  1 MIPS  Programming</vt:lpstr>
      <vt:lpstr>Oview</vt:lpstr>
      <vt:lpstr>MyMIPS:Physical Memory</vt:lpstr>
      <vt:lpstr>Anvyl FPGA Board</vt:lpstr>
      <vt:lpstr>MyMIPS: mfp_io.h</vt:lpstr>
      <vt:lpstr>Installing  Codescape(1/12)</vt:lpstr>
      <vt:lpstr>Installing  Codescape(2/12)</vt:lpstr>
      <vt:lpstr>Installing  Codescape(3/12)</vt:lpstr>
      <vt:lpstr>Installing  Codescape(4/12)</vt:lpstr>
      <vt:lpstr>Installing  Codescape(5/12)</vt:lpstr>
      <vt:lpstr>Installing  Codescape(6/12)</vt:lpstr>
      <vt:lpstr>Installing  Codescape(7/12)</vt:lpstr>
      <vt:lpstr>Installing  Codescape(8/12)</vt:lpstr>
      <vt:lpstr>Installing  Codescape(9/12)</vt:lpstr>
      <vt:lpstr>Installing  Codescape(10/12)</vt:lpstr>
      <vt:lpstr>Installing  Codescape(11/12)</vt:lpstr>
      <vt:lpstr>Installing  Codescape(12/12)</vt:lpstr>
      <vt:lpstr>C programming</vt:lpstr>
      <vt:lpstr>ReadSwitches:main.c</vt:lpstr>
      <vt:lpstr>Loading MyMIPS system</vt:lpstr>
      <vt:lpstr>PowerPoint 演示文稿</vt:lpstr>
      <vt:lpstr>Loading the code using the UART</vt:lpstr>
      <vt:lpstr>Programming practice </vt:lpstr>
    </vt:vector>
  </TitlesOfParts>
  <Company>-Microsoft-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数字逻辑设计及应用</dc:title>
  <dc:creator>billgates</dc:creator>
  <cp:lastModifiedBy>ROG</cp:lastModifiedBy>
  <cp:revision>262</cp:revision>
  <dcterms:created xsi:type="dcterms:W3CDTF">2004-09-01T09:10:15Z</dcterms:created>
  <dcterms:modified xsi:type="dcterms:W3CDTF">2025-02-24T05:38:09Z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2052-10.1.0.6875</vt:lpwstr>
  </property>
</Properties>
</file>